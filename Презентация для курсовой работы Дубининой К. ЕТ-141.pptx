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88" r:id="rId2"/>
    <p:sldId id="292" r:id="rId3"/>
    <p:sldId id="291" r:id="rId4"/>
    <p:sldId id="297" r:id="rId5"/>
    <p:sldId id="298" r:id="rId6"/>
    <p:sldId id="311" r:id="rId7"/>
    <p:sldId id="315" r:id="rId8"/>
    <p:sldId id="316" r:id="rId9"/>
    <p:sldId id="332" r:id="rId10"/>
    <p:sldId id="330" r:id="rId11"/>
    <p:sldId id="335" r:id="rId12"/>
    <p:sldId id="329" r:id="rId13"/>
    <p:sldId id="339" r:id="rId14"/>
    <p:sldId id="340" r:id="rId15"/>
    <p:sldId id="341" r:id="rId16"/>
    <p:sldId id="342" r:id="rId17"/>
    <p:sldId id="343" r:id="rId18"/>
    <p:sldId id="344" r:id="rId19"/>
    <p:sldId id="345" r:id="rId20"/>
    <p:sldId id="346" r:id="rId21"/>
    <p:sldId id="290" r:id="rId22"/>
    <p:sldId id="319" r:id="rId23"/>
    <p:sldId id="320" r:id="rId24"/>
    <p:sldId id="321" r:id="rId25"/>
    <p:sldId id="322" r:id="rId26"/>
    <p:sldId id="347" r:id="rId27"/>
    <p:sldId id="324" r:id="rId28"/>
    <p:sldId id="331" r:id="rId29"/>
    <p:sldId id="327" r:id="rId30"/>
    <p:sldId id="333" r:id="rId31"/>
    <p:sldId id="328" r:id="rId32"/>
    <p:sldId id="336" r:id="rId33"/>
    <p:sldId id="338" r:id="rId34"/>
    <p:sldId id="348" r:id="rId35"/>
    <p:sldId id="349" r:id="rId36"/>
    <p:sldId id="350" r:id="rId37"/>
    <p:sldId id="351" r:id="rId38"/>
    <p:sldId id="352" r:id="rId39"/>
    <p:sldId id="353" r:id="rId40"/>
    <p:sldId id="354" r:id="rId41"/>
  </p:sldIdLst>
  <p:sldSz cx="12192000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C28A6DE-7017-454E-A084-68DC268F6869}">
          <p14:sldIdLst>
            <p14:sldId id="288"/>
            <p14:sldId id="292"/>
          </p14:sldIdLst>
        </p14:section>
        <p14:section name="Табличные данные" id="{25D1F10B-6325-41AD-904C-A2CA9A92E4E8}">
          <p14:sldIdLst>
            <p14:sldId id="291"/>
            <p14:sldId id="297"/>
            <p14:sldId id="298"/>
            <p14:sldId id="311"/>
            <p14:sldId id="315"/>
          </p14:sldIdLst>
        </p14:section>
        <p14:section name="Временые ряды" id="{3AE7C1E3-1928-4BDB-8B2C-A89BE33DCA8B}">
          <p14:sldIdLst>
            <p14:sldId id="316"/>
            <p14:sldId id="332"/>
            <p14:sldId id="330"/>
            <p14:sldId id="335"/>
            <p14:sldId id="329"/>
          </p14:sldIdLst>
        </p14:section>
        <p14:section name="Изображения" id="{F70EAD4F-24AE-4D48-B4F8-C4EB82138450}">
          <p14:sldIdLst>
            <p14:sldId id="339"/>
            <p14:sldId id="340"/>
            <p14:sldId id="341"/>
            <p14:sldId id="342"/>
          </p14:sldIdLst>
        </p14:section>
        <p14:section name="Текстовые данные" id="{951D7D86-9207-4143-B5DB-BD16E74A48A4}">
          <p14:sldIdLst>
            <p14:sldId id="343"/>
            <p14:sldId id="344"/>
            <p14:sldId id="345"/>
            <p14:sldId id="346"/>
          </p14:sldIdLst>
        </p14:section>
        <p14:section name="Заключение" id="{272700DB-0FD2-4669-BCE7-CC408827A34D}">
          <p14:sldIdLst>
            <p14:sldId id="290"/>
          </p14:sldIdLst>
        </p14:section>
        <p14:section name="Доп. слайды (табличные данные)" id="{72A6853E-2CE2-4393-A1B4-BC229A55D177}">
          <p14:sldIdLst>
            <p14:sldId id="319"/>
            <p14:sldId id="320"/>
            <p14:sldId id="321"/>
            <p14:sldId id="322"/>
            <p14:sldId id="347"/>
            <p14:sldId id="324"/>
          </p14:sldIdLst>
        </p14:section>
        <p14:section name="Доп. слайды (временные ряды)" id="{DADB5037-6CFB-418F-978F-7353CA81D87F}">
          <p14:sldIdLst>
            <p14:sldId id="331"/>
            <p14:sldId id="327"/>
            <p14:sldId id="333"/>
            <p14:sldId id="328"/>
            <p14:sldId id="336"/>
            <p14:sldId id="338"/>
          </p14:sldIdLst>
        </p14:section>
        <p14:section name="Доп. слайды (изображения)" id="{E80E7BE8-0CC5-494E-B3A9-C4E7FFE52FF6}">
          <p14:sldIdLst>
            <p14:sldId id="348"/>
            <p14:sldId id="349"/>
          </p14:sldIdLst>
        </p14:section>
        <p14:section name="Доп. слайды (текстовые данные)" id="{001BB10E-BC25-44CF-B61A-BAD1BBE32810}">
          <p14:sldIdLst>
            <p14:sldId id="350"/>
            <p14:sldId id="351"/>
            <p14:sldId id="352"/>
            <p14:sldId id="353"/>
            <p14:sldId id="35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7F7"/>
    <a:srgbClr val="FFEFEF"/>
    <a:srgbClr val="FFE1E1"/>
    <a:srgbClr val="EFD6C3"/>
    <a:srgbClr val="8D99A7"/>
    <a:srgbClr val="DCDCDC"/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30" autoAdjust="0"/>
    <p:restoredTop sz="92912" autoAdjust="0"/>
  </p:normalViewPr>
  <p:slideViewPr>
    <p:cSldViewPr snapToGrid="0">
      <p:cViewPr varScale="1">
        <p:scale>
          <a:sx n="65" d="100"/>
          <a:sy n="65" d="100"/>
        </p:scale>
        <p:origin x="1044" y="1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2784" y="72"/>
      </p:cViewPr>
      <p:guideLst/>
    </p:cSldViewPr>
  </p:notesViewPr>
  <p:gridSpacing cx="72006" cy="72006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79315C84-EE52-4AD5-8C54-DDD3E354D8A4}" type="datetimeFigureOut">
              <a:rPr lang="ru-RU"/>
              <a:pPr>
                <a:defRPr/>
              </a:pPr>
              <a:t>07.06.2026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EC040E5F-2643-45B4-A9BD-CFE6291A48B1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688645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9D2B60AF-714F-4A51-9ED9-26D63D5F6FA8}" type="datetimeFigureOut">
              <a:rPr lang="ru-RU"/>
              <a:pPr>
                <a:defRPr/>
              </a:pPr>
              <a:t>07.06.2026</a:t>
            </a:fld>
            <a:endParaRPr lang="ru-RU"/>
          </a:p>
        </p:txBody>
      </p:sp>
      <p:sp>
        <p:nvSpPr>
          <p:cNvPr id="3076" name="Образ слайда 3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Заметки 4"/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 noProof="0"/>
              <a:t>Образец текста</a:t>
            </a:r>
          </a:p>
          <a:p>
            <a:pPr lvl="1"/>
            <a:r>
              <a:rPr lang="ru-RU" altLang="zh-CN" noProof="0"/>
              <a:t>Второй уровень</a:t>
            </a:r>
          </a:p>
          <a:p>
            <a:pPr lvl="2"/>
            <a:r>
              <a:rPr lang="ru-RU" altLang="zh-CN" noProof="0"/>
              <a:t>Третий уровень</a:t>
            </a:r>
          </a:p>
          <a:p>
            <a:pPr lvl="3"/>
            <a:r>
              <a:rPr lang="ru-RU" altLang="zh-CN" noProof="0"/>
              <a:t>Четвертый уровень</a:t>
            </a:r>
          </a:p>
          <a:p>
            <a:pPr lvl="4"/>
            <a:r>
              <a:rPr lang="ru-RU" altLang="zh-CN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7AE935F4-122E-4717-A0F2-34B38B06B6CB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5407445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879790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525660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4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53775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277028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6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746744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7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75872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7940369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1EADA-2DF6-3136-F820-CF3F96A45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6D151F7-8BC7-9987-1EB4-C15169D98C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6340DF1-E156-5526-7873-2289361AC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51B6403-48A1-7118-A135-82E0417689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3025616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F6DE6-60A3-4FC1-CAA1-8CFA0ED9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04CEB01-C9AC-EA43-E816-F610E7330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EE97B14-800A-3987-EA65-11B5C51A4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E94353-5932-7068-0CDC-2292E804F7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16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41073330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844DF-A6FE-831B-7B3D-106BB2BFA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DA56A3F-194C-FD42-BC9D-F0948C668F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CD76966-FBE6-6487-4514-59BCBAD5D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33BDFD-81CC-025B-D2B5-09D15231F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19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658681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EDAF-4F1F-2264-FCFF-EB09B7199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489C6FF-C8CF-2D50-1DAA-07DE9460C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EC7B2AE-32A8-77DE-5A34-1738FC963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CCCCFC-4A32-ED3D-5119-3E82AE89F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20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49641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0" y="2001888"/>
            <a:ext cx="12192000" cy="1699260"/>
          </a:xfrm>
        </p:spPr>
        <p:txBody>
          <a:bodyPr anchor="ctr"/>
          <a:lstStyle>
            <a:lvl1pPr algn="ctr">
              <a:defRPr sz="4000" b="1">
                <a:latin typeface="+mn-lt"/>
              </a:defRPr>
            </a:lvl1pPr>
          </a:lstStyle>
          <a:p>
            <a:r>
              <a:rPr lang="ru-RU" noProof="1"/>
              <a:t>Название работы</a:t>
            </a:r>
            <a:endParaRPr lang="en-US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80212"/>
            <a:ext cx="12192000" cy="365125"/>
          </a:xfrm>
        </p:spPr>
        <p:txBody>
          <a:bodyPr/>
          <a:lstStyle>
            <a:lvl1pPr algn="ctr"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 altLang="zh-CN">
                <a:cs typeface="等线"/>
              </a:rPr>
              <a:t>Челябинск, 2026 г.</a:t>
            </a:r>
            <a:endParaRPr lang="ru-RU" altLang="zh-CN" dirty="0">
              <a:cs typeface="等线"/>
            </a:endParaRPr>
          </a:p>
        </p:txBody>
      </p:sp>
      <p:sp>
        <p:nvSpPr>
          <p:cNvPr id="8" name="Date Placeholder 3"/>
          <p:cNvSpPr txBox="1">
            <a:spLocks/>
          </p:cNvSpPr>
          <p:nvPr userDrawn="1"/>
        </p:nvSpPr>
        <p:spPr>
          <a:xfrm>
            <a:off x="0" y="34832"/>
            <a:ext cx="12192000" cy="16535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defTabSz="457200" rtl="0" eaLnBrk="1" fontAlgn="auto" hangingPunct="1">
              <a:spcBef>
                <a:spcPct val="0"/>
              </a:spcBef>
              <a:spcAft>
                <a:spcPct val="0"/>
              </a:spcAft>
              <a:defRPr sz="1200" kern="1200" noProof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Институт естественных и точных наук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Центр «ВиртУм»</a:t>
            </a: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3713711"/>
            <a:ext cx="12192000" cy="565921"/>
          </a:xfrm>
        </p:spPr>
        <p:txBody>
          <a:bodyPr anchor="ctr"/>
          <a:lstStyle>
            <a:lvl1pPr marL="0" indent="0" algn="ctr">
              <a:buNone/>
              <a:defRPr sz="2400" baseline="0"/>
            </a:lvl1pPr>
          </a:lstStyle>
          <a:p>
            <a:pPr lvl="0"/>
            <a:r>
              <a:rPr lang="ru-RU" dirty="0"/>
              <a:t>Направление подготовки</a:t>
            </a:r>
          </a:p>
        </p:txBody>
      </p:sp>
      <p:sp>
        <p:nvSpPr>
          <p:cNvPr id="13" name="Текст 11"/>
          <p:cNvSpPr>
            <a:spLocks noGrp="1"/>
          </p:cNvSpPr>
          <p:nvPr>
            <p:ph type="body" sz="quarter" idx="12" hasCustomPrompt="1"/>
          </p:nvPr>
        </p:nvSpPr>
        <p:spPr>
          <a:xfrm>
            <a:off x="613317" y="4581220"/>
            <a:ext cx="4716964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Научный руководитель</a:t>
            </a:r>
          </a:p>
        </p:txBody>
      </p:sp>
      <p:sp>
        <p:nvSpPr>
          <p:cNvPr id="16" name="Текст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05963" y="4581220"/>
            <a:ext cx="4813607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Автор</a:t>
            </a:r>
          </a:p>
        </p:txBody>
      </p:sp>
    </p:spTree>
    <p:extLst>
      <p:ext uri="{BB962C8B-B14F-4D97-AF65-F5344CB8AC3E}">
        <p14:creationId xmlns:p14="http://schemas.microsoft.com/office/powerpoint/2010/main" val="94428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>
            <a:lvl1pPr algn="ctr">
              <a:defRPr sz="3600" b="1">
                <a:latin typeface="+mn-lt"/>
              </a:defRPr>
            </a:lvl1pPr>
          </a:lstStyle>
          <a:p>
            <a:r>
              <a:rPr lang="ru-RU" noProof="1"/>
              <a:t>Образец заголовка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  <a:endParaRPr lang="en-US" noProof="1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  <a:cs typeface="Times New Roman" panose="02020603050405020304" pitchFamily="18" charset="0"/>
              </a:defRPr>
            </a:lvl1pPr>
          </a:lstStyle>
          <a:p>
            <a:fld id="{D063FBCF-7873-4A49-B36C-1F912BB77786}" type="slidenum">
              <a:rPr lang="ru-RU" altLang="ru-RU" smtClean="0">
                <a:cs typeface="Calibri" panose="020F0502020204030204" pitchFamily="34" charset="0"/>
              </a:rPr>
              <a:pPr/>
              <a:t>‹#›</a:t>
            </a:fld>
            <a:r>
              <a:rPr lang="ru-RU" altLang="ru-RU" dirty="0">
                <a:cs typeface="Calibri" panose="020F0502020204030204" pitchFamily="34" charset="0"/>
              </a:rPr>
              <a:t>/13</a:t>
            </a:r>
          </a:p>
        </p:txBody>
      </p:sp>
      <p:cxnSp>
        <p:nvCxnSpPr>
          <p:cNvPr id="8" name="Прямая соединительная линия 7"/>
          <p:cNvCxnSpPr/>
          <p:nvPr userDrawn="1"/>
        </p:nvCxnSpPr>
        <p:spPr>
          <a:xfrm>
            <a:off x="0" y="880948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 userDrawn="1"/>
        </p:nvCxnSpPr>
        <p:spPr>
          <a:xfrm>
            <a:off x="-3717" y="6274415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Нижний колонтитул 4"/>
          <p:cNvSpPr txBox="1">
            <a:spLocks/>
          </p:cNvSpPr>
          <p:nvPr userDrawn="1"/>
        </p:nvSpPr>
        <p:spPr>
          <a:xfrm>
            <a:off x="-11723" y="6274413"/>
            <a:ext cx="9686977" cy="5835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200" dirty="0">
                <a:solidFill>
                  <a:schemeClr val="tx1"/>
                </a:solidFill>
              </a:rPr>
              <a:t>Курсовой проект «Поиск и первичный анализ наборов данных»</a:t>
            </a:r>
          </a:p>
        </p:txBody>
      </p:sp>
    </p:spTree>
    <p:extLst>
      <p:ext uri="{BB962C8B-B14F-4D97-AF65-F5344CB8AC3E}">
        <p14:creationId xmlns:p14="http://schemas.microsoft.com/office/powerpoint/2010/main" val="1106533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заголовка</a:t>
            </a:r>
            <a:endParaRPr lang="en-US" altLang="ru-RU"/>
          </a:p>
        </p:txBody>
      </p:sp>
      <p:sp>
        <p:nvSpPr>
          <p:cNvPr id="1027" name="Text Placeholder 2"/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текста</a:t>
            </a:r>
          </a:p>
          <a:p>
            <a:pPr lvl="1"/>
            <a:r>
              <a:rPr lang="ru-RU" altLang="zh-CN"/>
              <a:t>Второй уровень</a:t>
            </a:r>
          </a:p>
          <a:p>
            <a:pPr lvl="2"/>
            <a:r>
              <a:rPr lang="ru-RU" altLang="zh-CN"/>
              <a:t>Третий уровень</a:t>
            </a:r>
          </a:p>
          <a:p>
            <a:pPr lvl="3"/>
            <a:r>
              <a:rPr lang="ru-RU" altLang="zh-CN"/>
              <a:t>Четвертый уровень</a:t>
            </a:r>
          </a:p>
          <a:p>
            <a:pPr lvl="4"/>
            <a:r>
              <a:rPr lang="ru-RU" altLang="zh-CN"/>
              <a:t>Пятый уровень</a:t>
            </a:r>
            <a:endParaRPr lang="en-US" alt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Челябинск, 2026 г.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>
                <a:solidFill>
                  <a:srgbClr val="898989"/>
                </a:solidFill>
              </a:defRPr>
            </a:lvl1pPr>
          </a:lstStyle>
          <a:p>
            <a:fld id="{908C97DF-05ED-458B-8CB7-B5CAFE458C29}" type="slidenum">
              <a:rPr altLang="ru-RU"/>
              <a:pPr/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hf hdr="0" ft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yasserh/titanic-datase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microsoft.com/office/2007/relationships/hdphoto" Target="../media/hdphoto3.wdp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ibrahimshahrukh/nvidia-daily-stock-prices-20162026-datase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tongpython/cat-and-do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smetanin/rureview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573ABE0-E848-1845-473A-1F3B6DD105FA}"/>
              </a:ext>
            </a:extLst>
          </p:cNvPr>
          <p:cNvSpPr/>
          <p:nvPr/>
        </p:nvSpPr>
        <p:spPr>
          <a:xfrm>
            <a:off x="331076" y="12663"/>
            <a:ext cx="11430000" cy="168763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Поиск и первичный анализ наборов данных </a:t>
            </a:r>
            <a:b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 различным областям применения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ru-RU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Челябинск, 2026 г.</a:t>
            </a:r>
          </a:p>
        </p:txBody>
      </p:sp>
      <p:sp>
        <p:nvSpPr>
          <p:cNvPr id="6" name="Подзаголовок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defRPr/>
            </a:pPr>
            <a:r>
              <a:rPr lang="ru-RU" altLang="zh-CN" dirty="0">
                <a:latin typeface="Calibri" panose="020F0502020204030204" pitchFamily="34" charset="0"/>
                <a:cs typeface="Calibri" panose="020F0502020204030204" pitchFamily="34" charset="0"/>
              </a:rPr>
              <a:t>09.03.04 «Программная инженерия»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ru-RU" b="1" dirty="0">
                <a:cs typeface="Calibri" panose="020F0502020204030204" pitchFamily="34" charset="0"/>
              </a:rPr>
              <a:t>Научный руководитель:</a:t>
            </a:r>
          </a:p>
          <a:p>
            <a:r>
              <a:rPr lang="ru-RU" dirty="0"/>
              <a:t>к.ф.-м.н., доцент центра «</a:t>
            </a:r>
            <a:r>
              <a:rPr lang="ru-RU" dirty="0" err="1"/>
              <a:t>ВиртУм</a:t>
            </a:r>
            <a:r>
              <a:rPr lang="ru-RU" dirty="0"/>
              <a:t>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cs typeface="Calibri" panose="020F0502020204030204" pitchFamily="34" charset="0"/>
              </a:rPr>
              <a:t>Я.А. Краева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/>
          </p:nvPr>
        </p:nvSpPr>
        <p:spPr>
          <a:xfrm>
            <a:off x="7378393" y="4581220"/>
            <a:ext cx="4813607" cy="165231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Авторы: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dirty="0">
                <a:latin typeface="Calibri" panose="020F0502020204030204" pitchFamily="34" charset="0"/>
                <a:cs typeface="Calibri" panose="020F0502020204030204" pitchFamily="34" charset="0"/>
              </a:rPr>
              <a:t>студент группы ЕТ-141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latin typeface="Calibri" panose="020F0502020204030204" pitchFamily="34" charset="0"/>
                <a:cs typeface="Calibri" panose="020F0502020204030204" pitchFamily="34" charset="0"/>
              </a:rPr>
              <a:t>К.А. Дубинина</a:t>
            </a:r>
          </a:p>
          <a:p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9B0AE-05A8-2B6A-3FEC-615394B57ABB}"/>
              </a:ext>
            </a:extLst>
          </p:cNvPr>
          <p:cNvSpPr txBox="1"/>
          <p:nvPr/>
        </p:nvSpPr>
        <p:spPr>
          <a:xfrm>
            <a:off x="518736" y="315764"/>
            <a:ext cx="1115452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cs typeface="Calibri" panose="020F0502020204030204" pitchFamily="34" charset="0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Институт естественных и точных наук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Центр «</a:t>
            </a:r>
            <a:r>
              <a:rPr lang="ru-RU" sz="2000" dirty="0" err="1">
                <a:cs typeface="Calibri" panose="020F0502020204030204" pitchFamily="34" charset="0"/>
              </a:rPr>
              <a:t>ВиртУм</a:t>
            </a:r>
            <a:r>
              <a:rPr lang="ru-RU" sz="2000" dirty="0">
                <a:cs typeface="Calibri" panose="020F0502020204030204" pitchFamily="34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2054833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Актуальность: необходимость первичного анализа</a:t>
            </a:r>
            <a:endParaRPr lang="ru-RU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24" y="1022738"/>
            <a:ext cx="12062159" cy="5099281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Качество данных определяет эффективность ИИ-моделей.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Исследования показывают, что применение специализированных методов предобработки     позволяет существенно повысить качество данных и точность анализа. Выбор метода  очистки может оказывать большее влияние на результат, чем выбор самого алгоритма машинного обучения.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Игнорирование первичного анализа ведет к снижению качества прогнозов и ошибочным решениям.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Разнообразие типов данных (таблицы, временные ряды, изображения, тексты) требует специфических методов анализа каждого типа.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Умение проводить первичный анализ данных разных типов является необходимым навыком для специалиста в области искусственного интеллекта.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65183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Calibri" panose="020F0502020204030204" pitchFamily="34" charset="0"/>
                <a:cs typeface="Calibri" panose="020F0502020204030204" pitchFamily="34" charset="0"/>
              </a:rPr>
              <a:t>Табличные данные: задача и описание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880947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бинарную классификацию выживаемости пассажиров «Титаника» на основе демографических и социально-экономических характеристик.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 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Titanic Dataset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Kaggle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https://www.kaggle.com/datasets/yasserh/titanic-dataset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информация о пассажирах RMS </a:t>
            </a:r>
            <a:r>
              <a:rPr lang="ru-RU" sz="2600" dirty="0" err="1">
                <a:latin typeface="Calibri" panose="020F0502020204030204" pitchFamily="34" charset="0"/>
                <a:cs typeface="Calibri" panose="020F0502020204030204" pitchFamily="34" charset="0"/>
              </a:rPr>
              <a:t>Titanic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, включая класс билета, пол, возраст, порт посадки, количество родителей и детей на борту.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Размерность: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891 объектов, 8 признаков.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Практическая значимость: 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с</a:t>
            </a:r>
            <a:r>
              <a:rPr lang="ru-RU" sz="2600" dirty="0"/>
              <a:t>овершенствование эвакуации и морской безопасности на основе анализа исторических данных.</a:t>
            </a:r>
            <a:endParaRPr lang="ru-RU" sz="2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940101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Calibri" panose="020F0502020204030204" pitchFamily="34" charset="0"/>
                <a:cs typeface="Calibri" panose="020F0502020204030204" pitchFamily="34" charset="0"/>
              </a:rPr>
              <a:t>Табличные данные: атрибуты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4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593407"/>
              </p:ext>
            </p:extLst>
          </p:nvPr>
        </p:nvGraphicFramePr>
        <p:xfrm>
          <a:off x="0" y="880947"/>
          <a:ext cx="12192001" cy="53301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1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2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3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73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53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Признак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-146685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Семантика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-100965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Тип данных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1905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Диапазон / примеры значений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1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PassengerId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Уникальный идентификатор пассажира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 … 891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53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Survived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Целевая переменная (выживание)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бинарный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 (погиб), 1 (выжил)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1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Pclass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Класс билета (социально-экономический статус)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 (первый), 2 (второй), 3 (третий)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5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Name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Полное имя пассажира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текстовый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"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Braund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, Mr. 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Owen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 Harris"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5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Sex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Пол пассажира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male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female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05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Age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Возраст пассажира в годах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 … 80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05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Parch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Количество родителей/детей на борту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 … 9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45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Embarked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Порт посадки</a:t>
                      </a:r>
                      <a:endParaRPr lang="ru-RU" sz="1800" kern="10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категориальный</a:t>
                      </a:r>
                      <a:endParaRPr lang="ru-RU" sz="1800" kern="10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C (Cherbourg), </a:t>
                      </a:r>
                      <a:b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</a:br>
                      <a: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Q (Queenstown), </a:t>
                      </a:r>
                      <a:b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</a:br>
                      <a: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S (Southampton)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857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9339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Calibri" panose="020F0502020204030204" pitchFamily="34" charset="0"/>
                <a:cs typeface="Calibri" panose="020F0502020204030204" pitchFamily="34" charset="0"/>
              </a:rPr>
              <a:t>Табличные данные: пример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5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127319"/>
              </p:ext>
            </p:extLst>
          </p:nvPr>
        </p:nvGraphicFramePr>
        <p:xfrm>
          <a:off x="0" y="880947"/>
          <a:ext cx="12191999" cy="5348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3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833">
                  <a:extLst>
                    <a:ext uri="{9D8B030D-6E8A-4147-A177-3AD203B41FA5}">
                      <a16:colId xmlns:a16="http://schemas.microsoft.com/office/drawing/2014/main" val="3854071973"/>
                    </a:ext>
                  </a:extLst>
                </a:gridCol>
                <a:gridCol w="129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7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6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2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374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167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PassengerId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Survived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Sex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Parch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Embarked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Braund, Mr. Owen Harris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26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Cumings, Mrs. John Bradley (Florence Briggs Thayer)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Heikkinen, Miss. Laina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7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Futrelle, Mrs. Jacques Heath (Lily May Peel)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Allen, Mr. William Henry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64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000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6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3" name="Пятиугольник 2"/>
          <p:cNvSpPr/>
          <p:nvPr/>
        </p:nvSpPr>
        <p:spPr>
          <a:xfrm>
            <a:off x="1702676" y="963140"/>
            <a:ext cx="3412473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Качество данных.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4769860" y="963140"/>
            <a:ext cx="3975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Корреляционный анализ.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8418786" y="963140"/>
            <a:ext cx="377258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Проверка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 диапазоны значений.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768499"/>
              </p:ext>
            </p:extLst>
          </p:nvPr>
        </p:nvGraphicFramePr>
        <p:xfrm>
          <a:off x="0" y="1975036"/>
          <a:ext cx="12192000" cy="430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2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2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4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3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8924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Пропуски: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(19,9%),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(0,2%).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Дубликаты отсутствуют.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Выбросы: 21 запись (возраст &gt; 65 лет).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Отрицательная корреляция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Survived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(-0,34).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Слабая корреляция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Survived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(-0,07).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Мультиколлинеарность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отсутствует.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Различные масштабы признаков: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≤ 80,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≤ 3,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≤ 9.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0139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Заполнение пропусков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медианой по группам (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 Sex).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Заполнение пропусков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модальным значением.</a:t>
                      </a:r>
                      <a:endParaRPr lang="ru-RU" sz="2000" noProof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Учет классов билета и пола как ключевых факторов выживаемости.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Выполнение нормализации числовых признаков.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259" y="1173803"/>
            <a:ext cx="540000" cy="5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327" y="1173803"/>
            <a:ext cx="540000" cy="54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312" y="1045018"/>
            <a:ext cx="612000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50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7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5297214" y="1122643"/>
            <a:ext cx="402020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73050" algn="ctr"/>
            <a:r>
              <a:rPr lang="ru-RU" sz="2200" b="1" dirty="0">
                <a:solidFill>
                  <a:schemeClr val="tx1"/>
                </a:solidFill>
              </a:rPr>
              <a:t>        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   </a:t>
            </a:r>
          </a:p>
          <a:p>
            <a:pPr marL="27305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Распределения </a:t>
            </a:r>
            <a:r>
              <a:rPr lang="ru-RU" sz="2200" b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категор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атрибутов. 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7370687"/>
              </p:ext>
            </p:extLst>
          </p:nvPr>
        </p:nvGraphicFramePr>
        <p:xfrm>
          <a:off x="1" y="2236670"/>
          <a:ext cx="12191998" cy="403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6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7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27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6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362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близкое к нормальному, правосторонняя асимметрия.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перекос в сторону малых значений (&gt;75% нулей).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распределение: 1 класс (24%), 2 класс (21%), 3 класс (55%).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дисбаланс (мужчины ~65%, женщины ~35%).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перекос в сторону порта S (~72%).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2 категории.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3 категории.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12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сохранение выбросов (пожилые пассажиры).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группировка в категорию «с семьей/один».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учет гендерного фактора при эвакуации.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Label Encoding (male→0, female→1)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Embarked: One-Hot Encoding (C, Q, S)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Нашивка 9"/>
          <p:cNvSpPr/>
          <p:nvPr/>
        </p:nvSpPr>
        <p:spPr>
          <a:xfrm>
            <a:off x="1893061" y="1122643"/>
            <a:ext cx="3719464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</a:rPr>
              <a:t>             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        </a:t>
            </a:r>
          </a:p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 Распределения числовых атрибутов. 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9016678" y="1122643"/>
            <a:ext cx="3071242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486000" y="486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6. Кодирование </a:t>
            </a:r>
            <a:r>
              <a:rPr lang="ru-RU" sz="2200" b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категор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атрибутов. 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488" y="1173127"/>
            <a:ext cx="616569" cy="612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78" b="100000" l="2667" r="9866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952" y="1264669"/>
            <a:ext cx="432000" cy="432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3512" y="1267754"/>
            <a:ext cx="324000" cy="42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476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Временные ряды: задача и описание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/>
          <a:p>
            <a:r>
              <a:rPr lang="ru-RU" altLang="ru-RU" sz="2800" dirty="0">
                <a:cs typeface="Calibri" panose="020F0502020204030204" pitchFamily="34" charset="0"/>
              </a:rPr>
              <a:t>8/21</a:t>
            </a:r>
          </a:p>
        </p:txBody>
      </p:sp>
      <p:sp>
        <p:nvSpPr>
          <p:cNvPr id="6" name="Объект 2"/>
          <p:cNvSpPr>
            <a:spLocks noGrp="1"/>
          </p:cNvSpPr>
          <p:nvPr>
            <p:ph idx="1"/>
          </p:nvPr>
        </p:nvSpPr>
        <p:spPr>
          <a:xfrm>
            <a:off x="0" y="847494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прогноз цен финансовых активов (акции NVIDIA) с использованием исторических данных о котировках для принятия инвестиционных решений и разработки торговых стратегий.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NVIDIA Stock Price History (NVDA_yfinance_clean.csv),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Kaggle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https://www.kaggle.com/datasets/ibrahimshahrukh/nvidia-daily-stock-prices-20162026-dataset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ежедневные котировки акций NVIDIA Corporation (тикер: NVDA). Данные включают цену открытия, максимальную цену, минимальную цену, цену закрытия и объем торгов за период с января 2016 по декабрь 2025 года.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Практическая значимость: 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п</a:t>
            </a:r>
            <a:r>
              <a:rPr lang="ru-RU" sz="2500" dirty="0"/>
              <a:t>ринятие инвестиционных решений, управление рисками и разработка торговых стратегий.</a:t>
            </a:r>
            <a:endParaRPr lang="ru-RU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57187" lvl="1" indent="0">
              <a:lnSpc>
                <a:spcPct val="100000"/>
              </a:lnSpc>
              <a:spcBef>
                <a:spcPts val="1200"/>
              </a:spcBef>
              <a:buNone/>
            </a:pPr>
            <a:endParaRPr lang="ru-RU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91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Временные ряды: визуализация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9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6432332" y="965392"/>
                <a:ext cx="5870028" cy="56477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900" b="1" dirty="0">
                    <a:cs typeface="Calibri" panose="020F0502020204030204" pitchFamily="34" charset="0"/>
                  </a:rPr>
                  <a:t>Ряд </a:t>
                </a:r>
                <a:r>
                  <a:rPr lang="en-US" sz="1900" b="1" dirty="0">
                    <a:cs typeface="Calibri" panose="020F0502020204030204" pitchFamily="34" charset="0"/>
                  </a:rPr>
                  <a:t>Close (</a:t>
                </a:r>
                <a:r>
                  <a:rPr lang="ru-RU" sz="1900" b="1" dirty="0">
                    <a:cs typeface="Calibri" panose="020F0502020204030204" pitchFamily="34" charset="0"/>
                  </a:rPr>
                  <a:t>Цена закрытия):</a:t>
                </a:r>
                <a:endParaRPr lang="ru-RU" sz="1900" dirty="0">
                  <a:cs typeface="Calibri" panose="020F050202020403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устойчивый долгосрочный восходящий тренд: рост с ~0,8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9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900">
                            <a:latin typeface="Cambria Math" panose="02040503050406030204" pitchFamily="18" charset="0"/>
                          </a:rPr>
                          <m:t>2016</m:t>
                        </m:r>
                      </m:e>
                    </m:d>
                    <m:r>
                      <m:rPr>
                        <m:nor/>
                      </m:rPr>
                      <a:rPr lang="ru-RU" sz="1900" b="0" smtClean="0">
                        <a:cs typeface="Calibri" panose="020F0502020204030204" pitchFamily="34" charset="0"/>
                      </a:rPr>
                      <m:t> до</m:t>
                    </m:r>
                    <m:r>
                      <m:rPr>
                        <m:nor/>
                      </m:rPr>
                      <a:rPr lang="ru-RU" sz="1900">
                        <a:cs typeface="Calibri" panose="020F0502020204030204" pitchFamily="34" charset="0"/>
                      </a:rPr>
                      <m:t> </m:t>
                    </m:r>
                    <m:r>
                      <a:rPr lang="ru-RU" sz="1900">
                        <a:latin typeface="Cambria Math" panose="02040503050406030204" pitchFamily="18" charset="0"/>
                      </a:rPr>
                      <m:t>190</m:t>
                    </m:r>
                  </m:oMath>
                </a14:m>
                <a:r>
                  <a:rPr lang="ru-RU" sz="1900" dirty="0">
                    <a:cs typeface="Calibri" panose="020F0502020204030204" pitchFamily="34" charset="0"/>
                  </a:rPr>
                  <a:t> (2025);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увеличение волатильности с ростом цены;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отсутствие явно выраженной сезонности.</a:t>
                </a:r>
              </a:p>
              <a:p>
                <a:endParaRPr lang="ru-RU" sz="1900" dirty="0">
                  <a:cs typeface="Calibri" panose="020F0502020204030204" pitchFamily="34" charset="0"/>
                </a:endParaRPr>
              </a:p>
              <a:p>
                <a:r>
                  <a:rPr lang="ru-RU" sz="1900" b="1" dirty="0">
                    <a:cs typeface="Calibri" panose="020F0502020204030204" pitchFamily="34" charset="0"/>
                  </a:rPr>
                  <a:t>Ряды Open, High, </a:t>
                </a:r>
                <a:r>
                  <a:rPr lang="ru-RU" sz="1900" b="1" dirty="0" err="1">
                    <a:cs typeface="Calibri" panose="020F0502020204030204" pitchFamily="34" charset="0"/>
                  </a:rPr>
                  <a:t>Low</a:t>
                </a:r>
                <a:r>
                  <a:rPr lang="ru-RU" sz="1900" b="1" dirty="0">
                    <a:cs typeface="Calibri" panose="020F0502020204030204" pitchFamily="34" charset="0"/>
                  </a:rPr>
                  <a:t>:</a:t>
                </a:r>
                <a:endParaRPr lang="ru-RU" sz="1900" dirty="0">
                  <a:cs typeface="Calibri" panose="020F050202020403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поведение, схожее с </a:t>
                </a:r>
                <a:r>
                  <a:rPr lang="ru-RU" sz="1900" dirty="0" err="1">
                    <a:cs typeface="Calibri" panose="020F0502020204030204" pitchFamily="34" charset="0"/>
                  </a:rPr>
                  <a:t>Close</a:t>
                </a:r>
                <a:r>
                  <a:rPr lang="ru-RU" sz="1900" dirty="0">
                    <a:cs typeface="Calibri" panose="020F0502020204030204" pitchFamily="34" charset="0"/>
                  </a:rPr>
                  <a:t> (сильная корреляция ~1);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дублирование информации о ценах одного актива;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рекомендуется использовать только один признак для прогнозирования.</a:t>
                </a:r>
              </a:p>
              <a:p>
                <a:endParaRPr lang="ru-RU" sz="1900" dirty="0">
                  <a:cs typeface="Calibri" panose="020F0502020204030204" pitchFamily="34" charset="0"/>
                </a:endParaRPr>
              </a:p>
              <a:p>
                <a:r>
                  <a:rPr lang="ru-RU" sz="1900" b="1" dirty="0">
                    <a:cs typeface="Calibri" panose="020F0502020204030204" pitchFamily="34" charset="0"/>
                  </a:rPr>
                  <a:t>Ряд </a:t>
                </a:r>
                <a:r>
                  <a:rPr lang="ru-RU" sz="1900" b="1" dirty="0" err="1">
                    <a:cs typeface="Calibri" panose="020F0502020204030204" pitchFamily="34" charset="0"/>
                  </a:rPr>
                  <a:t>Volume</a:t>
                </a:r>
                <a:r>
                  <a:rPr lang="ru-RU" sz="1900" b="1" dirty="0">
                    <a:cs typeface="Calibri" panose="020F0502020204030204" pitchFamily="34" charset="0"/>
                  </a:rPr>
                  <a:t> (Объем торгов):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рост объемов, коррелирующий с ростом цены;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всплески в периоды значительных движений цены;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ru-RU" sz="1900" dirty="0">
                    <a:cs typeface="Calibri" panose="020F0502020204030204" pitchFamily="34" charset="0"/>
                  </a:rPr>
                  <a:t>умеренная отрицательная корреляция с </a:t>
                </a:r>
                <a:r>
                  <a:rPr lang="ru-RU" sz="1900" dirty="0" err="1">
                    <a:cs typeface="Calibri" panose="020F0502020204030204" pitchFamily="34" charset="0"/>
                  </a:rPr>
                  <a:t>Close</a:t>
                </a:r>
                <a:r>
                  <a:rPr lang="ru-RU" sz="1900" dirty="0">
                    <a:cs typeface="Calibri" panose="020F0502020204030204" pitchFamily="34" charset="0"/>
                  </a:rPr>
                  <a:t> (-0,364).</a:t>
                </a:r>
              </a:p>
              <a:p>
                <a:br>
                  <a:rPr lang="ru-RU" sz="1900" dirty="0">
                    <a:cs typeface="Calibri" panose="020F0502020204030204" pitchFamily="34" charset="0"/>
                  </a:rPr>
                </a:br>
                <a:endParaRPr lang="ru-RU" sz="19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332" y="965392"/>
                <a:ext cx="5870028" cy="5647700"/>
              </a:xfrm>
              <a:prstGeom prst="rect">
                <a:avLst/>
              </a:prstGeom>
              <a:blipFill>
                <a:blip r:embed="rId2"/>
                <a:stretch>
                  <a:fillRect l="-935" t="-539" r="-4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40A370A-187E-3493-56F5-B4ADC986DC5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13753"/>
            <a:ext cx="6432332" cy="403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291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10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6" name="Пятиугольник 5"/>
          <p:cNvSpPr/>
          <p:nvPr/>
        </p:nvSpPr>
        <p:spPr>
          <a:xfrm>
            <a:off x="1740664" y="1044381"/>
            <a:ext cx="5706638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Качество данных.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7280031" y="1044379"/>
            <a:ext cx="4679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Корреляционный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анализ.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7182939"/>
              </p:ext>
            </p:extLst>
          </p:nvPr>
        </p:nvGraphicFramePr>
        <p:xfrm>
          <a:off x="0" y="2132811"/>
          <a:ext cx="12191999" cy="414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1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59866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 отсутствуют во всех измерениях (0%).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Выбросы: Open (0,7%), High (0,6%),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(0,8%),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(0,6%),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(1,4%).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Сильная положительная корреляция между Open, High,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(~1,00).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Умеренная отрицательная корреляция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(-0,364).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1737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Заполнение пропусков не требуется.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Выбросы не удалять (содержат важную рыночную информацию).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 чувствительности модели к выбросам - использовать 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RobustScaler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Из-за 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мультиколлинеарности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использовать только один ценовой признак (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учитывать как дополнительный признак.</a:t>
                      </a:r>
                      <a:endParaRPr lang="ru-RU" sz="2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497" y="1109648"/>
            <a:ext cx="648000" cy="648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40" y="1236879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992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11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818500" y="1044380"/>
            <a:ext cx="5168454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Проверка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 диапазоны значений.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6814698" y="1044379"/>
            <a:ext cx="532178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Распределения измерений.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542440"/>
              </p:ext>
            </p:extLst>
          </p:nvPr>
        </p:nvGraphicFramePr>
        <p:xfrm>
          <a:off x="1" y="2105916"/>
          <a:ext cx="12136480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6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05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600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Значительное различие в масштабах измерений: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∈ [0,62; 207,03],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∈ [65,5млн.; 3,7млрд.].</a:t>
                      </a:r>
                      <a:br>
                        <a:rPr lang="ru-RU" sz="2000" b="0" i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правосторонняя асимметрия (среднее &gt; медианы).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асимметричное распределение с выбросами.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Применение нормализации (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StandardScaler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или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MinMaxScaler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 перед подачей данных в прогнозную модель.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Логарифмическое преобразование для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Использование более устойчивой к выбросам метрики качества модели (например, MAE).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Применение логарифмирования для борьбы с асимметрией.</a:t>
                      </a:r>
                      <a:endParaRPr lang="ru-RU" sz="2000" baseline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1359" y="1187431"/>
            <a:ext cx="612000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914" y="1187431"/>
            <a:ext cx="616569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368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12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45149"/>
              </p:ext>
            </p:extLst>
          </p:nvPr>
        </p:nvGraphicFramePr>
        <p:xfrm>
          <a:off x="0" y="2166567"/>
          <a:ext cx="12191999" cy="4024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3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51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30495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Явно выраженной сезонности не обнаружено (характерно для финансовых данных).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Устойчивый восходящий тренд (особенно усиливается в последние годы).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Нестационарный ряд (есть тренд).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Показатель SNR = 15,6 дБ (удовлетворительный уровень).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Сигнал и шум сравнимы по мощности.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185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Дифференцирование (взятие разностей) для приведения к стационарности.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Для нейросетевых моделей тренд можно не удалять.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Данные пригодны для анализа, но требуется фильтрация для повышения точности моделей.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Применить скользящее среднее, медианный фильтр или экспоненциальное сглаживание.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/>
          <p:cNvSpPr/>
          <p:nvPr/>
        </p:nvSpPr>
        <p:spPr>
          <a:xfrm>
            <a:off x="6826469" y="1037757"/>
            <a:ext cx="4934607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6. </a:t>
            </a:r>
          </a:p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Поиск и анализ шумов.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835279" y="1037757"/>
            <a:ext cx="5196142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Разложение на компоненты </a:t>
            </a:r>
          </a:p>
          <a:p>
            <a:pPr marL="3556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(декомпозиция).  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675" y="1255750"/>
            <a:ext cx="504000" cy="504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7608" y="1176253"/>
            <a:ext cx="656825" cy="65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572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EE87-4C66-81DA-07E7-896E0125E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8564F8-718E-AA23-A92F-6ACCCC2CA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Изображения: задача и описание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BFF030-4E28-AD34-CC76-7CBFCDDD8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AFFD191-87DD-DCDC-CD8B-73A528A2E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бинарную классификацию изображений для автоматического определения наличия кошки или собаки на фотографии.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Cat and Dog, Kaggle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https://www.kaggle.com/datasets/tongpython/cat-and-dog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изображения кошек и собак из открытых источников. Для работы используется </a:t>
            </a:r>
            <a:r>
              <a:rPr lang="ru-RU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подвыборка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из 400 изображений (200 кошек + 200 собак). Формат файлов: JPG/PNG, цветовой режим: RGB.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Практическая значимость: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</a:t>
            </a:r>
            <a:r>
              <a:rPr lang="ru-RU" dirty="0"/>
              <a:t>втоматическая категоризация изображений в фотоархивах, соцсетях и ветеринарных сервисах.</a:t>
            </a:r>
            <a:endParaRPr lang="ru-RU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00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2D6DE-7B64-8732-641C-A4C45687B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571F10-8CD1-C152-1102-FB22E856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Изображения: визуализация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659260-82F0-FFE6-C2A3-B27542845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14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4A7AF-DF05-2D72-0092-722EA8624F74}"/>
              </a:ext>
            </a:extLst>
          </p:cNvPr>
          <p:cNvSpPr txBox="1"/>
          <p:nvPr/>
        </p:nvSpPr>
        <p:spPr>
          <a:xfrm>
            <a:off x="6558456" y="948690"/>
            <a:ext cx="5633544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100" b="1" dirty="0">
                <a:cs typeface="Calibri" panose="020F0502020204030204" pitchFamily="34" charset="0"/>
              </a:rPr>
              <a:t>Класс </a:t>
            </a:r>
            <a:r>
              <a:rPr lang="ru-RU" sz="2100" b="1" dirty="0" err="1">
                <a:cs typeface="Calibri" panose="020F0502020204030204" pitchFamily="34" charset="0"/>
              </a:rPr>
              <a:t>Cat</a:t>
            </a:r>
            <a:r>
              <a:rPr lang="ru-RU" sz="2100" b="1" dirty="0">
                <a:cs typeface="Calibri" panose="020F0502020204030204" pitchFamily="34" charset="0"/>
              </a:rPr>
              <a:t> (Кошка):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200 изображений;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разнообразие ракурсов, освещения и фонов;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разные породы и окрасы.</a:t>
            </a:r>
          </a:p>
          <a:p>
            <a:endParaRPr lang="ru-RU" sz="2100" dirty="0">
              <a:cs typeface="Calibri" panose="020F0502020204030204" pitchFamily="34" charset="0"/>
            </a:endParaRPr>
          </a:p>
          <a:p>
            <a:r>
              <a:rPr lang="ru-RU" sz="2100" b="1" dirty="0">
                <a:cs typeface="Calibri" panose="020F0502020204030204" pitchFamily="34" charset="0"/>
              </a:rPr>
              <a:t>Класс </a:t>
            </a:r>
            <a:r>
              <a:rPr lang="ru-RU" sz="2100" b="1" dirty="0" err="1">
                <a:cs typeface="Calibri" panose="020F0502020204030204" pitchFamily="34" charset="0"/>
              </a:rPr>
              <a:t>Dog</a:t>
            </a:r>
            <a:r>
              <a:rPr lang="ru-RU" sz="2100" b="1" dirty="0">
                <a:cs typeface="Calibri" panose="020F0502020204030204" pitchFamily="34" charset="0"/>
              </a:rPr>
              <a:t> (Собака):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200 изображений;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разнообразие ракурсов, освещения и фонов;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разные породы и окрасы.</a:t>
            </a:r>
          </a:p>
          <a:p>
            <a:endParaRPr lang="ru-RU" sz="2100" dirty="0">
              <a:cs typeface="Calibri" panose="020F0502020204030204" pitchFamily="34" charset="0"/>
            </a:endParaRPr>
          </a:p>
          <a:p>
            <a:r>
              <a:rPr lang="ru-RU" sz="2100" b="1" dirty="0">
                <a:cs typeface="Calibri" panose="020F0502020204030204" pitchFamily="34" charset="0"/>
              </a:rPr>
              <a:t>Распределение размеров: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минимум: 95×75 </a:t>
            </a:r>
            <a:r>
              <a:rPr lang="ru-RU" sz="2100" dirty="0" err="1">
                <a:cs typeface="Calibri" panose="020F0502020204030204" pitchFamily="34" charset="0"/>
              </a:rPr>
              <a:t>px</a:t>
            </a:r>
            <a:r>
              <a:rPr lang="ru-RU" sz="2100" dirty="0">
                <a:cs typeface="Calibri" panose="020F05020202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максимум: 500×500 </a:t>
            </a:r>
            <a:r>
              <a:rPr lang="ru-RU" sz="2100" dirty="0" err="1">
                <a:cs typeface="Calibri" panose="020F0502020204030204" pitchFamily="34" charset="0"/>
              </a:rPr>
              <a:t>px</a:t>
            </a:r>
            <a:r>
              <a:rPr lang="ru-RU" sz="2100" dirty="0">
                <a:cs typeface="Calibri" panose="020F05020202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среднее: 405×364 </a:t>
            </a:r>
            <a:r>
              <a:rPr lang="ru-RU" sz="2100" dirty="0" err="1">
                <a:cs typeface="Calibri" panose="020F0502020204030204" pitchFamily="34" charset="0"/>
              </a:rPr>
              <a:t>px</a:t>
            </a:r>
            <a:r>
              <a:rPr lang="ru-RU" sz="2100" dirty="0">
                <a:cs typeface="Calibri" panose="020F0502020204030204" pitchFamily="34" charset="0"/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100" dirty="0">
                <a:cs typeface="Calibri" panose="020F0502020204030204" pitchFamily="34" charset="0"/>
              </a:rPr>
              <a:t>23 изображения (5,8%) имеют ширину &lt; 200 </a:t>
            </a:r>
            <a:r>
              <a:rPr lang="ru-RU" sz="2100" dirty="0" err="1">
                <a:cs typeface="Calibri" panose="020F0502020204030204" pitchFamily="34" charset="0"/>
              </a:rPr>
              <a:t>px</a:t>
            </a:r>
            <a:r>
              <a:rPr lang="ru-RU" sz="2100" dirty="0">
                <a:cs typeface="Calibri" panose="020F0502020204030204" pitchFamily="34" charset="0"/>
              </a:rPr>
              <a:t>.</a:t>
            </a:r>
          </a:p>
          <a:p>
            <a:br>
              <a:rPr lang="ru-RU" sz="2100" dirty="0">
                <a:cs typeface="Calibri" panose="020F0502020204030204" pitchFamily="34" charset="0"/>
              </a:rPr>
            </a:br>
            <a:endParaRPr lang="ru-RU" sz="2100" dirty="0"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349FD2-605F-F96A-159F-BC96F450CD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0" r="4062"/>
          <a:stretch>
            <a:fillRect/>
          </a:stretch>
        </p:blipFill>
        <p:spPr>
          <a:xfrm>
            <a:off x="0" y="1180647"/>
            <a:ext cx="6558455" cy="427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941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2A7BE-E11D-322A-0F3C-219973B0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98A582-E14A-210A-4E5D-C4C8B07F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0C6F27-D725-7583-D707-B6EC1A208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15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3" name="Пятиугольник 2">
            <a:extLst>
              <a:ext uri="{FF2B5EF4-FFF2-40B4-BE49-F238E27FC236}">
                <a16:creationId xmlns:a16="http://schemas.microsoft.com/office/drawing/2014/main" id="{C97342FB-5921-94C7-BD6B-EF45CEAC3588}"/>
              </a:ext>
            </a:extLst>
          </p:cNvPr>
          <p:cNvSpPr/>
          <p:nvPr/>
        </p:nvSpPr>
        <p:spPr>
          <a:xfrm>
            <a:off x="1777037" y="963140"/>
            <a:ext cx="3338112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Качество данных.</a:t>
            </a: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8106E410-9F5F-9FFD-5859-2BBE0A81FD86}"/>
              </a:ext>
            </a:extLst>
          </p:cNvPr>
          <p:cNvSpPr/>
          <p:nvPr/>
        </p:nvSpPr>
        <p:spPr>
          <a:xfrm>
            <a:off x="4769860" y="963140"/>
            <a:ext cx="3975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Баланс классов.</a:t>
            </a:r>
          </a:p>
        </p:txBody>
      </p:sp>
      <p:sp>
        <p:nvSpPr>
          <p:cNvPr id="8" name="Нашивка 7">
            <a:extLst>
              <a:ext uri="{FF2B5EF4-FFF2-40B4-BE49-F238E27FC236}">
                <a16:creationId xmlns:a16="http://schemas.microsoft.com/office/drawing/2014/main" id="{A07B25E3-D4BE-AB8D-F9D3-98539053ABE5}"/>
              </a:ext>
            </a:extLst>
          </p:cNvPr>
          <p:cNvSpPr/>
          <p:nvPr/>
        </p:nvSpPr>
        <p:spPr>
          <a:xfrm>
            <a:off x="8454820" y="963140"/>
            <a:ext cx="373655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Размеры изображений.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DFE5ACE2-E173-10A4-5EE3-4E570D41A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584007"/>
              </p:ext>
            </p:extLst>
          </p:nvPr>
        </p:nvGraphicFramePr>
        <p:xfrm>
          <a:off x="0" y="1975036"/>
          <a:ext cx="12087920" cy="4299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5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447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1874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 отсутствуют.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Формат: RGB (100%).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Все изображения читаются корректно.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Идеальный баланс классов: 200 кошек + 200 собак (50/50).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Диапазон размеров: от 95×75 до 500×500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Средний размер: 405×364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23 изображения с шириной &lt; 200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(5,8%).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750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Дополнительная унификация цветовых режимов не требуется.</a:t>
                      </a:r>
                      <a:endParaRPr lang="ru-RU" sz="2000" noProof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Дисбаланс отсутствует, методы борьбы не требуются.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Удалить 23 маленьких изображения.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Привести к единому размеру 224×224 с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паддингом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77B9AF7-A3AA-2FB5-2A33-3EE5843959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327" y="1216529"/>
            <a:ext cx="540000" cy="54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CDC7715-4ED9-8612-B41F-3A6FCE2D11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903" y="1073840"/>
            <a:ext cx="612000" cy="612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7D5A959-EEEE-0E18-7A48-EA5D5E6361E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925" y="1144529"/>
            <a:ext cx="616569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238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C5AEA-A6BC-42F3-F6B4-67684202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74AA8-565D-3809-79DA-EB7D4AA2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BF4B30A-F01B-667D-6D3F-B84EA2D5F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16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5333FAB1-629F-04DC-D209-7947913501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35375"/>
              </p:ext>
            </p:extLst>
          </p:nvPr>
        </p:nvGraphicFramePr>
        <p:xfrm>
          <a:off x="86949" y="2166567"/>
          <a:ext cx="11964007" cy="4107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49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9165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Разнообразие ракурсов (анфас, профиль, сверху).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Разные условия освещения.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Различные фоны (дом, улица, трава).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Объем выборки (200 на класс) - минимально достаточный.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Высокий риск переобучения.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8683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Разметка выполнена на уровне директорий, ручная проверка подтвердила корректность.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Обязательное применение аугментации: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случайные повороты (±15°);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горизонтальное отражение (50%);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изменение яркости и контраста (±20%);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масштабирование (0,9-1,1).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>
            <a:extLst>
              <a:ext uri="{FF2B5EF4-FFF2-40B4-BE49-F238E27FC236}">
                <a16:creationId xmlns:a16="http://schemas.microsoft.com/office/drawing/2014/main" id="{B83F7D5C-4510-A969-2A5A-2B11CEBC5C29}"/>
              </a:ext>
            </a:extLst>
          </p:cNvPr>
          <p:cNvSpPr/>
          <p:nvPr/>
        </p:nvSpPr>
        <p:spPr>
          <a:xfrm>
            <a:off x="6764215" y="1037757"/>
            <a:ext cx="4900247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</a:t>
            </a:r>
          </a:p>
          <a:p>
            <a:pPr marL="622300" algn="ctr"/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Аугментация.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C1D4C3D4-6132-8B7A-50B7-1019E844FAD2}"/>
              </a:ext>
            </a:extLst>
          </p:cNvPr>
          <p:cNvSpPr/>
          <p:nvPr/>
        </p:nvSpPr>
        <p:spPr>
          <a:xfrm>
            <a:off x="1835279" y="1037757"/>
            <a:ext cx="5188608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Примеры изображений.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0562C8D-D6AB-78A9-420C-0136F091F9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776" y="1195344"/>
            <a:ext cx="656825" cy="656825"/>
          </a:xfrm>
          <a:prstGeom prst="rect">
            <a:avLst/>
          </a:prstGeom>
        </p:spPr>
      </p:pic>
      <p:pic>
        <p:nvPicPr>
          <p:cNvPr id="10" name="Рисунок 9" descr="Изображение со сплошной заливкой">
            <a:extLst>
              <a:ext uri="{FF2B5EF4-FFF2-40B4-BE49-F238E27FC236}">
                <a16:creationId xmlns:a16="http://schemas.microsoft.com/office/drawing/2014/main" id="{3DA285B7-2862-F280-858C-3BAA16793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9079" y="1112815"/>
            <a:ext cx="749342" cy="74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407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75CE-43CE-1307-9C1B-17B33C21E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A7DC90-847C-EFCD-7F00-CA04648AA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Текстовые данные: задача и описание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3DF8F1-F204-106E-E63C-325A8B6DC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17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6EF5742-15A1-F9F6-1AD8-79E605052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анализ тональности русскоязычных отзывов о товарах (</a:t>
            </a:r>
            <a:r>
              <a:rPr lang="ru-RU" dirty="0" err="1">
                <a:latin typeface="Calibri" panose="020F0502020204030204" pitchFamily="34" charset="0"/>
                <a:cs typeface="Calibri" panose="020F0502020204030204" pitchFamily="34" charset="0"/>
              </a:rPr>
              <a:t>многоклассовая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классификация: позитивный, нейтральный, негативный).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RuReviews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GitHub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https://github.com/sismetanin/rureviews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русскоязычные отзывы с маркетплейса. Для работы используется версия с 1016 отзывами (338 негативных, 339 нейтральных, 339 позитивных).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Практическая значимость: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</a:t>
            </a:r>
            <a:r>
              <a:rPr lang="ru-RU" dirty="0"/>
              <a:t>втоматическая модерация отзывов, выявление негатива и оценка удовлетворённости клиентов.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35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7570-3FBB-3853-2243-0BDDA8AFD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C93A8-0DBA-1E6C-B52D-A81B3BAF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Текстовые данные: визуализация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1FC0D4-AC63-9EC9-5C4D-5E62AA80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18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45D01D-6429-797F-699F-FB48CF779415}"/>
              </a:ext>
            </a:extLst>
          </p:cNvPr>
          <p:cNvSpPr txBox="1"/>
          <p:nvPr/>
        </p:nvSpPr>
        <p:spPr>
          <a:xfrm>
            <a:off x="6558456" y="948690"/>
            <a:ext cx="5633544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cs typeface="Calibri" panose="020F0502020204030204" pitchFamily="34" charset="0"/>
              </a:rPr>
              <a:t>Класс </a:t>
            </a:r>
            <a:r>
              <a:rPr lang="ru-RU" sz="2000" b="1" dirty="0" err="1">
                <a:cs typeface="Calibri" panose="020F0502020204030204" pitchFamily="34" charset="0"/>
              </a:rPr>
              <a:t>Negative</a:t>
            </a:r>
            <a:r>
              <a:rPr lang="ru-RU" sz="2000" b="1" dirty="0">
                <a:cs typeface="Calibri" panose="020F0502020204030204" pitchFamily="34" charset="0"/>
              </a:rPr>
              <a:t> (Негативный):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338 отзывов (~33,3%);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ключевые слова: «не», «продавец», «деньги», «вернуть», «спор».</a:t>
            </a:r>
          </a:p>
          <a:p>
            <a:pPr lvl="1"/>
            <a:endParaRPr lang="ru-RU" sz="2000" dirty="0">
              <a:cs typeface="Calibri" panose="020F0502020204030204" pitchFamily="34" charset="0"/>
            </a:endParaRPr>
          </a:p>
          <a:p>
            <a:r>
              <a:rPr lang="ru-RU" sz="2000" b="1" dirty="0">
                <a:cs typeface="Calibri" panose="020F0502020204030204" pitchFamily="34" charset="0"/>
              </a:rPr>
              <a:t>Класс </a:t>
            </a:r>
            <a:r>
              <a:rPr lang="ru-RU" sz="2000" b="1" dirty="0" err="1">
                <a:cs typeface="Calibri" panose="020F0502020204030204" pitchFamily="34" charset="0"/>
              </a:rPr>
              <a:t>Neutral</a:t>
            </a:r>
            <a:r>
              <a:rPr lang="ru-RU" sz="2000" b="1" dirty="0">
                <a:cs typeface="Calibri" panose="020F0502020204030204" pitchFamily="34" charset="0"/>
              </a:rPr>
              <a:t> (Нейтральный):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339 отзывов (~33,4%);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ключевые слова: «размер», «качество», «носить», «доставка».</a:t>
            </a:r>
          </a:p>
          <a:p>
            <a:pPr lvl="1"/>
            <a:endParaRPr lang="ru-RU" sz="2000" dirty="0">
              <a:cs typeface="Calibri" panose="020F0502020204030204" pitchFamily="34" charset="0"/>
            </a:endParaRPr>
          </a:p>
          <a:p>
            <a:r>
              <a:rPr lang="ru-RU" sz="2000" b="1" dirty="0">
                <a:cs typeface="Calibri" panose="020F0502020204030204" pitchFamily="34" charset="0"/>
              </a:rPr>
              <a:t>Класс </a:t>
            </a:r>
            <a:r>
              <a:rPr lang="ru-RU" sz="2000" b="1" dirty="0" err="1">
                <a:cs typeface="Calibri" panose="020F0502020204030204" pitchFamily="34" charset="0"/>
              </a:rPr>
              <a:t>Positive</a:t>
            </a:r>
            <a:r>
              <a:rPr lang="ru-RU" sz="2000" b="1" dirty="0">
                <a:cs typeface="Calibri" panose="020F0502020204030204" pitchFamily="34" charset="0"/>
              </a:rPr>
              <a:t> (Позитивный):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339 отзывов (~33,4%);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ключевые слова: «спасибо», «хороший», «отличный», «рекомендую».</a:t>
            </a:r>
          </a:p>
          <a:p>
            <a:pPr lvl="1"/>
            <a:endParaRPr lang="ru-RU" sz="2000" dirty="0">
              <a:cs typeface="Calibri" panose="020F0502020204030204" pitchFamily="34" charset="0"/>
            </a:endParaRPr>
          </a:p>
          <a:p>
            <a:r>
              <a:rPr lang="ru-RU" sz="2000" b="1" dirty="0">
                <a:cs typeface="Calibri" panose="020F0502020204030204" pitchFamily="34" charset="0"/>
              </a:rPr>
              <a:t>Распределение классов</a:t>
            </a:r>
            <a:r>
              <a:rPr lang="ru-RU" sz="2000" dirty="0">
                <a:cs typeface="Calibri" panose="020F0502020204030204" pitchFamily="34" charset="0"/>
              </a:rPr>
              <a:t>: идеально сбалансировано (≈33,3% на класс).</a:t>
            </a:r>
          </a:p>
          <a:p>
            <a:br>
              <a:rPr lang="ru-RU" sz="2000" dirty="0">
                <a:cs typeface="Calibri" panose="020F0502020204030204" pitchFamily="34" charset="0"/>
              </a:rPr>
            </a:br>
            <a:endParaRPr lang="ru-RU" sz="2000" dirty="0">
              <a:cs typeface="Calibri" panose="020F05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BBF8AD-66E0-21C3-D0C8-6926FC83CF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49" r="33885" b="17767"/>
          <a:stretch>
            <a:fillRect/>
          </a:stretch>
        </p:blipFill>
        <p:spPr bwMode="auto">
          <a:xfrm>
            <a:off x="298100" y="1090842"/>
            <a:ext cx="5956263" cy="269288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277AA2-A049-48E2-E86B-ED0E80CAAD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483" t="20649" b="22782"/>
          <a:stretch>
            <a:fillRect/>
          </a:stretch>
        </p:blipFill>
        <p:spPr bwMode="auto">
          <a:xfrm>
            <a:off x="1813036" y="3570890"/>
            <a:ext cx="3181032" cy="25303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00060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68CB-D9E5-7807-D287-EF107338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445503-AB6A-804A-09D7-E2E02BAC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D7F6715-608D-BF85-6591-61B2B359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19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3" name="Пятиугольник 2">
            <a:extLst>
              <a:ext uri="{FF2B5EF4-FFF2-40B4-BE49-F238E27FC236}">
                <a16:creationId xmlns:a16="http://schemas.microsoft.com/office/drawing/2014/main" id="{512E5FFF-CC8B-6620-E55C-6BE19685102C}"/>
              </a:ext>
            </a:extLst>
          </p:cNvPr>
          <p:cNvSpPr/>
          <p:nvPr/>
        </p:nvSpPr>
        <p:spPr>
          <a:xfrm>
            <a:off x="1777037" y="963140"/>
            <a:ext cx="3338112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Качество данных.</a:t>
            </a: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A7B17F2D-1743-78AF-57F7-C7691D711F00}"/>
              </a:ext>
            </a:extLst>
          </p:cNvPr>
          <p:cNvSpPr/>
          <p:nvPr/>
        </p:nvSpPr>
        <p:spPr>
          <a:xfrm>
            <a:off x="4745422" y="963140"/>
            <a:ext cx="4035972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</a:t>
            </a: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Очистка и </a:t>
            </a:r>
            <a:r>
              <a:rPr lang="ru-RU" sz="2400" b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лемматизация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Нашивка 7">
            <a:extLst>
              <a:ext uri="{FF2B5EF4-FFF2-40B4-BE49-F238E27FC236}">
                <a16:creationId xmlns:a16="http://schemas.microsoft.com/office/drawing/2014/main" id="{60F1D318-DF41-F321-D3C3-39FEC077A84C}"/>
              </a:ext>
            </a:extLst>
          </p:cNvPr>
          <p:cNvSpPr/>
          <p:nvPr/>
        </p:nvSpPr>
        <p:spPr>
          <a:xfrm>
            <a:off x="8418786" y="963140"/>
            <a:ext cx="377258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Удаление стоп-слов.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DECBD14-7492-A539-D403-51AF88ADE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1638438"/>
              </p:ext>
            </p:extLst>
          </p:nvPr>
        </p:nvGraphicFramePr>
        <p:xfrm>
          <a:off x="0" y="1975036"/>
          <a:ext cx="11918731" cy="4322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4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6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21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55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1874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 отсутствуют (1016 записей).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Идеальный баланс классов (33,3/33,4/33,3%).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Язык: русский.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Приведение к нижнему регистру.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Удаление пунктуации и цифр.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Лемматизация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(pymorphy3).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Частица «не» - 950 упоминаний (самое частое).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Служебные слова не несут смысловой нагрузки.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750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Данные пригодны для прототипирования.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Для промышленного использования - полная версия (90 000 отзывов).</a:t>
                      </a:r>
                      <a:endParaRPr lang="ru-RU" sz="2000" noProof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Лемматизация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обязательна для русского языка.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Пример: «понравилось» → «понравиться».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Удаление предлогов, союзов, частиц, местоимений.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После удаления топ-слов: «размер», «продавец», «качество».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B1D117D-DD07-2BEE-3EE0-95A27B95A7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903" y="1073840"/>
            <a:ext cx="612000" cy="612000"/>
          </a:xfrm>
          <a:prstGeom prst="rect">
            <a:avLst/>
          </a:prstGeom>
        </p:spPr>
      </p:pic>
      <p:pic>
        <p:nvPicPr>
          <p:cNvPr id="10" name="Рисунок 9" descr="Закрыть со сплошной заливкой">
            <a:extLst>
              <a:ext uri="{FF2B5EF4-FFF2-40B4-BE49-F238E27FC236}">
                <a16:creationId xmlns:a16="http://schemas.microsoft.com/office/drawing/2014/main" id="{D0B7CC16-6DAF-53C3-CA12-DCAB42C3B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81394" y="1163642"/>
            <a:ext cx="570995" cy="570995"/>
          </a:xfrm>
          <a:prstGeom prst="rect">
            <a:avLst/>
          </a:prstGeom>
        </p:spPr>
      </p:pic>
      <p:pic>
        <p:nvPicPr>
          <p:cNvPr id="12" name="Рисунок 11" descr="Знак одобрения со сплошной заливкой">
            <a:extLst>
              <a:ext uri="{FF2B5EF4-FFF2-40B4-BE49-F238E27FC236}">
                <a16:creationId xmlns:a16="http://schemas.microsoft.com/office/drawing/2014/main" id="{FD98A39E-49DB-D101-37FE-80455D55E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97258" y="1089485"/>
            <a:ext cx="645152" cy="64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033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4152-EC42-9D87-5B44-7B06F79CC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86B60-106D-A994-8A8B-D7BDBF4EF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943355-9C10-04CD-1ADE-3CEBB490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20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0A16680-0ED2-5EDC-3BB2-819C20713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6278910"/>
              </p:ext>
            </p:extLst>
          </p:nvPr>
        </p:nvGraphicFramePr>
        <p:xfrm>
          <a:off x="86949" y="2166568"/>
          <a:ext cx="12105051" cy="41078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8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7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79626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Размер словаря: 100 наиболее значимых слов.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Каждый текст представлен вектором размерностью 100.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TF-IDF выделяет важные слова для конкретного документа.</a:t>
                      </a:r>
                      <a:endParaRPr lang="ru-RU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Косинусная мера (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cosine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8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similarity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 для оценки сходства.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Поисковый запрос: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   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«хорошее качество товара» → похожесть 0,81;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    — 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«плохая доставка долго ждать» → похожесть 0,60;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    —</a:t>
                      </a:r>
                      <a:r>
                        <a:rPr lang="ru-RU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«не подошел размер вернуть деньги» → похожесть 0,62.</a:t>
                      </a:r>
                      <a:endParaRPr lang="ru-RU" sz="18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221"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Слова, часто встречающиеся во всех документах, получают меньший вес.</a:t>
                      </a:r>
                      <a:endParaRPr lang="ru-RU" sz="18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Косинусное сходство эффективно находит семантически близкие тексты.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Рекомендуется для прототипирования поисковых систем.</a:t>
                      </a:r>
                      <a:endParaRPr lang="ru-RU" sz="18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>
            <a:extLst>
              <a:ext uri="{FF2B5EF4-FFF2-40B4-BE49-F238E27FC236}">
                <a16:creationId xmlns:a16="http://schemas.microsoft.com/office/drawing/2014/main" id="{607B85C4-29AA-2DA6-EEC4-49B45DDB070C}"/>
              </a:ext>
            </a:extLst>
          </p:cNvPr>
          <p:cNvSpPr/>
          <p:nvPr/>
        </p:nvSpPr>
        <p:spPr>
          <a:xfrm>
            <a:off x="6463863" y="1037757"/>
            <a:ext cx="5200600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</a:t>
            </a:r>
          </a:p>
          <a:p>
            <a:pPr marL="622300" algn="ctr"/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Информационный поиск.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8C557B23-ECD8-4DD5-A27D-196ACA2E23FB}"/>
              </a:ext>
            </a:extLst>
          </p:cNvPr>
          <p:cNvSpPr/>
          <p:nvPr/>
        </p:nvSpPr>
        <p:spPr>
          <a:xfrm>
            <a:off x="1835279" y="1037757"/>
            <a:ext cx="497988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</a:t>
            </a: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TF-IDF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Рисунок 9" descr="Изображение со сплошной заливкой">
            <a:extLst>
              <a:ext uri="{FF2B5EF4-FFF2-40B4-BE49-F238E27FC236}">
                <a16:creationId xmlns:a16="http://schemas.microsoft.com/office/drawing/2014/main" id="{9A70842E-CF5B-C98F-F5B2-0B10B0D6F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64300" y="1066557"/>
            <a:ext cx="914400" cy="914400"/>
          </a:xfrm>
          <a:prstGeom prst="rect">
            <a:avLst/>
          </a:prstGeom>
        </p:spPr>
      </p:pic>
      <p:pic>
        <p:nvPicPr>
          <p:cNvPr id="5" name="Рисунок 4" descr="Лупа со сплошной заливкой">
            <a:extLst>
              <a:ext uri="{FF2B5EF4-FFF2-40B4-BE49-F238E27FC236}">
                <a16:creationId xmlns:a16="http://schemas.microsoft.com/office/drawing/2014/main" id="{39A50852-C5BB-1032-E088-13EF0E6E4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249591">
            <a:off x="7029748" y="1209322"/>
            <a:ext cx="628869" cy="62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Основные результаты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0359" y="1022738"/>
            <a:ext cx="12077924" cy="5099281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Подготовлено краткое описание выбранной задачи ИИ для каждого типа данных (таблицы, временные ряды, изображения, тексты).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Подобраны и обоснован выбор наборов данных из открытых источников.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Реализован комплекс программ на языке Python для первичного анализа.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Сформулированы рекомендации по предобработке данных.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Размещен исходный код в </a:t>
            </a:r>
            <a:r>
              <a:rPr lang="ru-RU" sz="3000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-репозитории: </a:t>
            </a:r>
            <a:r>
              <a:rPr lang="en-US" sz="3000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https://github.com/Shefer55/Coursework</a:t>
            </a: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21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572760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пропуски, выбросы и дубликаты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22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00725"/>
              </p:ext>
            </p:extLst>
          </p:nvPr>
        </p:nvGraphicFramePr>
        <p:xfrm>
          <a:off x="305734" y="1690158"/>
          <a:ext cx="4837648" cy="3728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0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96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48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Признак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Количество пропусков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Доля пропусков, %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PassengerId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Survived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Pclass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Name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Sex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Age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177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19,9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Parch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3726" y="5676882"/>
            <a:ext cx="505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Дубликаты в данных </a:t>
            </a:r>
            <a:r>
              <a:rPr lang="ru-RU" sz="2400" b="1" dirty="0">
                <a:cs typeface="Calibri" panose="020F0502020204030204" pitchFamily="34" charset="0"/>
              </a:rPr>
              <a:t>отсутствуют.</a:t>
            </a: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6756445"/>
              </p:ext>
            </p:extLst>
          </p:nvPr>
        </p:nvGraphicFramePr>
        <p:xfrm>
          <a:off x="5841379" y="5386121"/>
          <a:ext cx="5888165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5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4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Признак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Кол-во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Доля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0.024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" y="986522"/>
            <a:ext cx="5586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Пропуски в данных </a:t>
            </a:r>
            <a:r>
              <a:rPr lang="ru-RU" sz="2400" b="1" dirty="0">
                <a:cs typeface="Calibri" panose="020F0502020204030204" pitchFamily="34" charset="0"/>
              </a:rPr>
              <a:t>присутствуют.</a:t>
            </a:r>
            <a:endParaRPr lang="ru-RU" sz="2400" dirty="0">
              <a:cs typeface="Calibri" panose="020F050202020403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01762" y="922820"/>
            <a:ext cx="68902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Выбросы, найденные методом </a:t>
            </a:r>
            <a:r>
              <a:rPr lang="ru-RU" sz="2400" dirty="0" err="1">
                <a:cs typeface="Calibri" panose="020F0502020204030204" pitchFamily="34" charset="0"/>
              </a:rPr>
              <a:t>межквартильного</a:t>
            </a:r>
            <a:r>
              <a:rPr lang="ru-RU" sz="2400" dirty="0">
                <a:cs typeface="Calibri" panose="020F0502020204030204" pitchFamily="34" charset="0"/>
              </a:rPr>
              <a:t> размаха, </a:t>
            </a:r>
            <a:r>
              <a:rPr lang="ru-RU" sz="2400" b="1" dirty="0">
                <a:cs typeface="Calibri" panose="020F0502020204030204" pitchFamily="34" charset="0"/>
              </a:rPr>
              <a:t>присутствуют</a:t>
            </a:r>
            <a:r>
              <a:rPr lang="ru-RU" sz="2400" dirty="0">
                <a:cs typeface="Calibri" panose="020F0502020204030204" pitchFamily="34" charset="0"/>
              </a:rPr>
              <a:t> в признаке </a:t>
            </a:r>
            <a:r>
              <a:rPr lang="ru-RU" sz="2400" b="1" dirty="0" err="1">
                <a:cs typeface="Calibri" panose="020F0502020204030204" pitchFamily="34" charset="0"/>
              </a:rPr>
              <a:t>Age</a:t>
            </a:r>
            <a:r>
              <a:rPr lang="ru-RU" sz="2400" b="1" dirty="0">
                <a:cs typeface="Calibri" panose="020F0502020204030204" pitchFamily="34" charset="0"/>
              </a:rPr>
              <a:t>.</a:t>
            </a:r>
            <a:endParaRPr lang="ru-RU" sz="2400" dirty="0">
              <a:cs typeface="Calibri" panose="020F0502020204030204" pitchFamily="34" charset="0"/>
            </a:endParaRPr>
          </a:p>
          <a:p>
            <a:endParaRPr lang="en-US" sz="2400" b="1" dirty="0"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12BF0BB-3123-5A55-40AD-C98ECC80D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4" t="4984" r="7100"/>
          <a:stretch>
            <a:fillRect/>
          </a:stretch>
        </p:blipFill>
        <p:spPr>
          <a:xfrm>
            <a:off x="5301761" y="1795287"/>
            <a:ext cx="6703076" cy="352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403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корреляция, диапазоны значений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2967" y="949649"/>
            <a:ext cx="54553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Масштабы признаков различаются незначительно (кроме </a:t>
            </a:r>
            <a:r>
              <a:rPr lang="ru-RU" sz="2400" dirty="0" err="1">
                <a:cs typeface="Calibri" panose="020F0502020204030204" pitchFamily="34" charset="0"/>
              </a:rPr>
              <a:t>Age</a:t>
            </a:r>
            <a:r>
              <a:rPr lang="ru-RU" sz="2400" dirty="0">
                <a:cs typeface="Calibri" panose="020F0502020204030204" pitchFamily="34" charset="0"/>
              </a:rPr>
              <a:t>), нормализация не обязательна, но рекомендуется.</a:t>
            </a:r>
            <a:br>
              <a:rPr lang="ru-RU" sz="2400" dirty="0">
                <a:cs typeface="Calibri" panose="020F0502020204030204" pitchFamily="34" charset="0"/>
              </a:rPr>
            </a:br>
            <a:endParaRPr lang="ru-RU" sz="2400" b="1" dirty="0">
              <a:cs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3725" y="926038"/>
            <a:ext cx="58732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cs typeface="Calibri" panose="020F0502020204030204" pitchFamily="34" charset="0"/>
              </a:rPr>
              <a:t>Pclass</a:t>
            </a:r>
            <a:r>
              <a:rPr lang="ru-RU" sz="2400" dirty="0">
                <a:cs typeface="Calibri" panose="020F0502020204030204" pitchFamily="34" charset="0"/>
              </a:rPr>
              <a:t> и </a:t>
            </a:r>
            <a:r>
              <a:rPr lang="en-US" sz="2400" b="1" dirty="0">
                <a:cs typeface="Calibri" panose="020F0502020204030204" pitchFamily="34" charset="0"/>
              </a:rPr>
              <a:t>Age</a:t>
            </a:r>
            <a:r>
              <a:rPr lang="ru-RU" sz="2400" dirty="0">
                <a:cs typeface="Calibri" panose="020F0502020204030204" pitchFamily="34" charset="0"/>
              </a:rPr>
              <a:t> имеют отрицательную корреляцию с </a:t>
            </a:r>
            <a:r>
              <a:rPr lang="ru-RU" sz="2400" b="1" dirty="0" err="1">
                <a:cs typeface="Calibri" panose="020F0502020204030204" pitchFamily="34" charset="0"/>
              </a:rPr>
              <a:t>Survived</a:t>
            </a:r>
            <a:r>
              <a:rPr lang="ru-RU" sz="2400" b="1" dirty="0">
                <a:cs typeface="Calibri" panose="020F0502020204030204" pitchFamily="34" charset="0"/>
              </a:rPr>
              <a:t>.</a:t>
            </a:r>
            <a:endParaRPr lang="ru-RU" sz="2400" dirty="0"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cs typeface="Calibri" panose="020F0502020204030204" pitchFamily="34" charset="0"/>
              </a:rPr>
              <a:t>Мультиколлинеарность</a:t>
            </a:r>
            <a:r>
              <a:rPr lang="ru-RU" sz="2400" dirty="0">
                <a:cs typeface="Calibri" panose="020F0502020204030204" pitchFamily="34" charset="0"/>
              </a:rPr>
              <a:t> </a:t>
            </a:r>
            <a:r>
              <a:rPr lang="ru-RU" sz="2400" b="1" dirty="0">
                <a:cs typeface="Calibri" panose="020F0502020204030204" pitchFamily="34" charset="0"/>
              </a:rPr>
              <a:t>отсутствует.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3CFCDD9-A576-DD92-C164-678A94C1F7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05" t="3910" r="15828" b="6744"/>
          <a:stretch>
            <a:fillRect/>
          </a:stretch>
        </p:blipFill>
        <p:spPr>
          <a:xfrm>
            <a:off x="23725" y="2171458"/>
            <a:ext cx="6928868" cy="3992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596977-B6EA-D484-C7B2-CC041DCC0E8C}"/>
              </a:ext>
            </a:extLst>
          </p:cNvPr>
          <p:cNvSpPr txBox="1"/>
          <p:nvPr/>
        </p:nvSpPr>
        <p:spPr>
          <a:xfrm>
            <a:off x="7992298" y="3020148"/>
            <a:ext cx="2545514" cy="2223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0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Age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80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1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Pclass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3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0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Parch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9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0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Survived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1</a:t>
            </a:r>
          </a:p>
        </p:txBody>
      </p:sp>
    </p:spTree>
    <p:extLst>
      <p:ext uri="{BB962C8B-B14F-4D97-AF65-F5344CB8AC3E}">
        <p14:creationId xmlns:p14="http://schemas.microsoft.com/office/powerpoint/2010/main" val="106351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распределения числовых атрибутов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24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E67261-871B-FC66-57D6-1AC8065CF6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89" y="1032737"/>
            <a:ext cx="10364222" cy="503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85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выживаемость в зависимости от разных признаков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25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A7CB081-0DE5-132A-A4B7-42DD5EA8BA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37"/>
          <a:stretch>
            <a:fillRect/>
          </a:stretch>
        </p:blipFill>
        <p:spPr>
          <a:xfrm>
            <a:off x="637228" y="976300"/>
            <a:ext cx="10917543" cy="514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1004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C82AC-2924-FCA6-90BD-933337EE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0032-7A91-A010-C926-5E0D572A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выживаемость в зависимости от разных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2E5084-0206-C592-8132-717BDD9C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26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00999F-F7BA-F7FD-F2C3-C1FC81823F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159" y="1025188"/>
            <a:ext cx="6976760" cy="49814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EE82CF5-DB12-A94D-3D22-A309F60147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4" r="7160"/>
          <a:stretch>
            <a:fillRect/>
          </a:stretch>
        </p:blipFill>
        <p:spPr>
          <a:xfrm>
            <a:off x="23726" y="1025188"/>
            <a:ext cx="5087433" cy="457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381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кодирование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27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67353" y="1199210"/>
                <a:ext cx="3711593" cy="9694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cs typeface="Calibri" panose="020F0502020204030204" pitchFamily="34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sex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∈{′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male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female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53" y="1199210"/>
                <a:ext cx="3711593" cy="969496"/>
              </a:xfrm>
              <a:prstGeom prst="rect">
                <a:avLst/>
              </a:prstGeom>
              <a:blipFill>
                <a:blip r:embed="rId2"/>
                <a:stretch>
                  <a:fillRect l="-2956" t="-56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/>
              <p:cNvSpPr/>
              <p:nvPr/>
            </p:nvSpPr>
            <p:spPr>
              <a:xfrm>
                <a:off x="267353" y="3656284"/>
                <a:ext cx="4824109" cy="92634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b="1" dirty="0">
                    <a:cs typeface="Calibri" panose="020F0502020204030204" pitchFamily="34" charset="0"/>
                  </a:rPr>
                  <a:t>Категориальный признак: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  <a:tabLst>
                    <a:tab pos="1795463" algn="l"/>
                  </a:tabLs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region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ru-RU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0" dirty="0" smtClean="0">
                            <a:latin typeface="Cambria Math" panose="02040503050406030204" pitchFamily="18" charset="0"/>
                          </a:rPr>
                          <m:t>{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ru-RU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 b="0" i="0" dirty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sSup>
                      <m:sSupPr>
                        <m:ctrlPr>
                          <a:rPr lang="ru-RU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53" y="3656284"/>
                <a:ext cx="4824109" cy="926344"/>
              </a:xfrm>
              <a:prstGeom prst="rect">
                <a:avLst/>
              </a:prstGeom>
              <a:blipFill>
                <a:blip r:embed="rId3"/>
                <a:stretch>
                  <a:fillRect l="-2276" t="-52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Стрелка вправо 8"/>
          <p:cNvSpPr/>
          <p:nvPr/>
        </p:nvSpPr>
        <p:spPr>
          <a:xfrm>
            <a:off x="5119340" y="2096237"/>
            <a:ext cx="1507271" cy="385379"/>
          </a:xfrm>
          <a:prstGeom prst="rightArrow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5118072" y="4709682"/>
            <a:ext cx="1507271" cy="385379"/>
          </a:xfrm>
          <a:prstGeom prst="rightArrow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4658953" y="1517483"/>
            <a:ext cx="224933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dirty="0" err="1">
                <a:cs typeface="Calibri" panose="020F0502020204030204" pitchFamily="34" charset="0"/>
              </a:rPr>
              <a:t>Label</a:t>
            </a:r>
            <a:r>
              <a:rPr lang="ru-RU" sz="2600" dirty="0">
                <a:cs typeface="Calibri" panose="020F0502020204030204" pitchFamily="34" charset="0"/>
              </a:rPr>
              <a:t> </a:t>
            </a:r>
            <a:r>
              <a:rPr lang="ru-RU" sz="2600" dirty="0" err="1">
                <a:cs typeface="Calibri" panose="020F0502020204030204" pitchFamily="34" charset="0"/>
              </a:rPr>
              <a:t>encoding</a:t>
            </a:r>
            <a:endParaRPr lang="ru-RU" sz="2600" dirty="0">
              <a:cs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1963" y="4103904"/>
            <a:ext cx="262488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dirty="0" err="1">
                <a:cs typeface="Calibri" panose="020F0502020204030204" pitchFamily="34" charset="0"/>
              </a:rPr>
              <a:t>One-hot</a:t>
            </a:r>
            <a:r>
              <a:rPr lang="ru-RU" sz="2600" dirty="0">
                <a:cs typeface="Calibri" panose="020F0502020204030204" pitchFamily="34" charset="0"/>
              </a:rPr>
              <a:t> </a:t>
            </a:r>
            <a:r>
              <a:rPr lang="ru-RU" sz="2600" dirty="0" err="1">
                <a:cs typeface="Calibri" panose="020F0502020204030204" pitchFamily="34" charset="0"/>
              </a:rPr>
              <a:t>encoding</a:t>
            </a:r>
            <a:endParaRPr lang="ru-RU" sz="2600" dirty="0"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Прямоугольник 12"/>
              <p:cNvSpPr/>
              <p:nvPr/>
            </p:nvSpPr>
            <p:spPr>
              <a:xfrm>
                <a:off x="7623790" y="1194317"/>
                <a:ext cx="3219151" cy="9694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cs typeface="Calibri" panose="020F0502020204030204" pitchFamily="34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dirty="0">
                        <a:latin typeface="Cambria Math" panose="02040503050406030204" pitchFamily="18" charset="0"/>
                      </a:rPr>
                      <m:t>se</m:t>
                    </m:r>
                    <m:r>
                      <m:rPr>
                        <m:sty m:val="p"/>
                      </m:rPr>
                      <a:rPr lang="en-US" sz="260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num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790" y="1194317"/>
                <a:ext cx="3219151" cy="969496"/>
              </a:xfrm>
              <a:prstGeom prst="rect">
                <a:avLst/>
              </a:prstGeom>
              <a:blipFill>
                <a:blip r:embed="rId4"/>
                <a:stretch>
                  <a:fillRect l="-3409" t="-5031" r="-22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/>
              <p:cNvSpPr/>
              <p:nvPr/>
            </p:nvSpPr>
            <p:spPr>
              <a:xfrm>
                <a:off x="7623790" y="3656284"/>
                <a:ext cx="4568210" cy="1923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cs typeface="Calibri" panose="020F0502020204030204" pitchFamily="34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1</m:t>
                        </m:r>
                      </m:e>
                    </m:d>
                  </m:oMath>
                </a14:m>
                <a:endParaRPr lang="ru-RU" sz="2600" b="0" i="1" dirty="0"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орт_С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i="1" dirty="0"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i="1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Прямоугольник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790" y="3656284"/>
                <a:ext cx="4568210" cy="1923604"/>
              </a:xfrm>
              <a:prstGeom prst="rect">
                <a:avLst/>
              </a:prstGeom>
              <a:blipFill>
                <a:blip r:embed="rId5"/>
                <a:stretch>
                  <a:fillRect l="-2403" t="-25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4792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статистика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28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667893"/>
              </p:ext>
            </p:extLst>
          </p:nvPr>
        </p:nvGraphicFramePr>
        <p:xfrm>
          <a:off x="23726" y="880947"/>
          <a:ext cx="12168276" cy="5393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567425625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Признак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Close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High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Low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Open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Volume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count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2.514000e+03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mean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36.05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36.66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35.37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36.05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4.588549e+08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std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51.20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52.00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50.32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51.24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2.574472e+08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min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6.552850e+07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25%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4.47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4.51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4.39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4.47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2.925870e+08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50%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13.11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13.34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12.91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13.10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4.102030e+08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75%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41.71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42.32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40.78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41.55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5.596668e+08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max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207.03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212.18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205.55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208.07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3.692928e+09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4357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распределения измерений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29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F765681-1AA1-8EE0-40FB-FD53EE3598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263" y="974181"/>
            <a:ext cx="10727473" cy="520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12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500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пропуски и выбросы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30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98926"/>
              </p:ext>
            </p:extLst>
          </p:nvPr>
        </p:nvGraphicFramePr>
        <p:xfrm>
          <a:off x="106534" y="3505404"/>
          <a:ext cx="4248729" cy="25024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4802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Измерение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Кол-во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Доля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Open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0.7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High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0.6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Low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0.8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Close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0.6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" y="986522"/>
            <a:ext cx="4248729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cs typeface="Calibri" panose="020F0502020204030204" pitchFamily="34" charset="0"/>
              </a:rPr>
              <a:t>Пропуски в данных </a:t>
            </a:r>
            <a:r>
              <a:rPr lang="ru-RU" sz="2200" b="1" dirty="0">
                <a:cs typeface="Calibri" panose="020F0502020204030204" pitchFamily="34" charset="0"/>
              </a:rPr>
              <a:t>отсутствуют.</a:t>
            </a:r>
          </a:p>
          <a:p>
            <a:pPr marL="285750" indent="-28575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cs typeface="Calibri" panose="020F0502020204030204" pitchFamily="34" charset="0"/>
              </a:rPr>
              <a:t>Выбросы, найденные методом межквартильного размаха, </a:t>
            </a:r>
            <a:r>
              <a:rPr lang="ru-RU" sz="2200" b="1" dirty="0">
                <a:cs typeface="Calibri" panose="020F0502020204030204" pitchFamily="34" charset="0"/>
              </a:rPr>
              <a:t>присутствуют</a:t>
            </a:r>
            <a:r>
              <a:rPr lang="ru-RU" sz="2200" dirty="0">
                <a:cs typeface="Calibri" panose="020F0502020204030204" pitchFamily="34" charset="0"/>
              </a:rPr>
              <a:t> </a:t>
            </a:r>
            <a:r>
              <a:rPr lang="ru-RU" sz="2200" b="1" dirty="0">
                <a:cs typeface="Calibri" panose="020F0502020204030204" pitchFamily="34" charset="0"/>
              </a:rPr>
              <a:t>во всех </a:t>
            </a:r>
            <a:r>
              <a:rPr lang="ru-RU" sz="2200" dirty="0">
                <a:cs typeface="Calibri" panose="020F0502020204030204" pitchFamily="34" charset="0"/>
              </a:rPr>
              <a:t>в измерениях.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EFE4CBD-BACB-FBB6-9237-03DE5EF1FD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613" y="1246491"/>
            <a:ext cx="7576386" cy="451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244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корреляция, диапазоны значений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31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7046" y="1093305"/>
            <a:ext cx="6025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Масштабы измерений многомерного  ряда </a:t>
            </a:r>
            <a:r>
              <a:rPr lang="ru-RU" sz="2400" b="1" dirty="0">
                <a:cs typeface="Calibri" panose="020F0502020204030204" pitchFamily="34" charset="0"/>
              </a:rPr>
              <a:t>значительно различаются.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995555"/>
            <a:ext cx="587326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Ценовые признаки имеют </a:t>
            </a:r>
            <a:r>
              <a:rPr lang="ru-RU" sz="2000" b="1" dirty="0">
                <a:cs typeface="Calibri" panose="020F0502020204030204" pitchFamily="34" charset="0"/>
              </a:rPr>
              <a:t>сильную положительную корреляцию</a:t>
            </a:r>
            <a:r>
              <a:rPr lang="ru-RU" sz="2000" dirty="0">
                <a:cs typeface="Calibri" panose="020F0502020204030204" pitchFamily="34" charset="0"/>
              </a:rPr>
              <a:t> между собой (≈1,00).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err="1">
                <a:cs typeface="Calibri" panose="020F0502020204030204" pitchFamily="34" charset="0"/>
              </a:rPr>
              <a:t>Volume</a:t>
            </a:r>
            <a:r>
              <a:rPr lang="ru-RU" sz="2000" dirty="0">
                <a:cs typeface="Calibri" panose="020F0502020204030204" pitchFamily="34" charset="0"/>
              </a:rPr>
              <a:t> имеет </a:t>
            </a:r>
            <a:r>
              <a:rPr lang="ru-RU" sz="2000" b="1" dirty="0">
                <a:cs typeface="Calibri" panose="020F0502020204030204" pitchFamily="34" charset="0"/>
              </a:rPr>
              <a:t>умеренную отрицательную корреляцию</a:t>
            </a:r>
            <a:r>
              <a:rPr lang="ru-RU" sz="2000" dirty="0">
                <a:cs typeface="Calibri" panose="020F0502020204030204" pitchFamily="34" charset="0"/>
              </a:rPr>
              <a:t> с </a:t>
            </a:r>
            <a:r>
              <a:rPr lang="ru-RU" sz="2000" dirty="0" err="1">
                <a:cs typeface="Calibri" panose="020F0502020204030204" pitchFamily="34" charset="0"/>
              </a:rPr>
              <a:t>Close</a:t>
            </a:r>
            <a:r>
              <a:rPr lang="ru-RU" sz="2000" dirty="0">
                <a:cs typeface="Calibri" panose="020F0502020204030204" pitchFamily="34" charset="0"/>
              </a:rPr>
              <a:t> (-0,364).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/>
              <p:cNvSpPr/>
              <p:nvPr/>
            </p:nvSpPr>
            <p:spPr>
              <a:xfrm>
                <a:off x="6772189" y="1993666"/>
                <a:ext cx="4415376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i="0" dirty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pen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High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Low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Close</m:t>
                      </m:r>
                      <m:r>
                        <a:rPr lang="ru-RU" sz="2200" i="0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0" dirty="0" smtClean="0">
                              <a:latin typeface="Cambria Math" panose="02040503050406030204" pitchFamily="18" charset="0"/>
                            </a:rPr>
                            <m:t>0.8</m:t>
                          </m:r>
                          <m:r>
                            <a:rPr lang="ru-RU" sz="2200" i="0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200" b="0" i="0" dirty="0" smtClean="0">
                              <a:latin typeface="Cambria Math" panose="02040503050406030204" pitchFamily="18" charset="0"/>
                            </a:rPr>
                            <m:t>212</m:t>
                          </m:r>
                        </m:e>
                      </m:d>
                    </m:oMath>
                  </m:oMathPara>
                </a14:m>
                <a:endParaRPr lang="ru-RU" sz="2200" dirty="0"/>
              </a:p>
            </p:txBody>
          </p:sp>
        </mc:Choice>
        <mc:Fallback xmlns="">
          <p:sp>
            <p:nvSpPr>
              <p:cNvPr id="14" name="Прямоугольник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189" y="1993666"/>
                <a:ext cx="4415376" cy="430887"/>
              </a:xfrm>
              <a:prstGeom prst="rect">
                <a:avLst/>
              </a:prstGeom>
              <a:blipFill>
                <a:blip r:embed="rId2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6974424" y="2491615"/>
                <a:ext cx="4010906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Volume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65 млн.</m:t>
                          </m:r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3.7 млрд.</m:t>
                          </m:r>
                        </m:e>
                      </m:d>
                    </m:oMath>
                  </m:oMathPara>
                </a14:m>
                <a:endParaRPr lang="ru-RU" sz="2200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24" y="2491615"/>
                <a:ext cx="4010906" cy="430887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8AC3BC0-682F-64B4-7B51-D426E578A80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01"/>
          <a:stretch>
            <a:fillRect/>
          </a:stretch>
        </p:blipFill>
        <p:spPr>
          <a:xfrm>
            <a:off x="110535" y="2580731"/>
            <a:ext cx="5067010" cy="354842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A278DC2-988D-6559-DB54-5498884E89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2255" y="2927514"/>
            <a:ext cx="6489090" cy="324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172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декомпозиция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32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4371BF2-E3F6-D136-1EBF-F606097965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35" y="988998"/>
            <a:ext cx="10545929" cy="51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45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интерпретация значения SNR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F5B6B0F-48E3-D3AE-27D1-7B0E141FA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658983"/>
              </p:ext>
            </p:extLst>
          </p:nvPr>
        </p:nvGraphicFramePr>
        <p:xfrm>
          <a:off x="958412" y="3138655"/>
          <a:ext cx="10275175" cy="252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594">
                  <a:extLst>
                    <a:ext uri="{9D8B030D-6E8A-4147-A177-3AD203B41FA5}">
                      <a16:colId xmlns:a16="http://schemas.microsoft.com/office/drawing/2014/main" val="3380238203"/>
                    </a:ext>
                  </a:extLst>
                </a:gridCol>
                <a:gridCol w="3715767">
                  <a:extLst>
                    <a:ext uri="{9D8B030D-6E8A-4147-A177-3AD203B41FA5}">
                      <a16:colId xmlns:a16="http://schemas.microsoft.com/office/drawing/2014/main" val="1455591697"/>
                    </a:ext>
                  </a:extLst>
                </a:gridCol>
                <a:gridCol w="3955814">
                  <a:extLst>
                    <a:ext uri="{9D8B030D-6E8A-4147-A177-3AD203B41FA5}">
                      <a16:colId xmlns:a16="http://schemas.microsoft.com/office/drawing/2014/main" val="565658576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SNR</a:t>
                      </a:r>
                      <a:endParaRPr lang="ru-RU" sz="20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Качественная оценка</a:t>
                      </a:r>
                      <a:endParaRPr lang="ru-RU" sz="20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Что это означает</a:t>
                      </a:r>
                      <a:endParaRPr lang="ru-RU" sz="20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909659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15.6 дБ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Удовлетворительный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Сигнал и шум сравнимы по мощности. Данные пригодны для анализа, но требуется фильтрация для повышения точности моделей.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70106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C1EB6F-728E-949E-37A1-5DDB2E74EBCC}"/>
              </a:ext>
            </a:extLst>
          </p:cNvPr>
          <p:cNvSpPr txBox="1"/>
          <p:nvPr/>
        </p:nvSpPr>
        <p:spPr>
          <a:xfrm>
            <a:off x="533362" y="1252489"/>
            <a:ext cx="114011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kern="0" dirty="0">
                <a:solidFill>
                  <a:srgbClr val="000000"/>
                </a:solidFill>
                <a:ea typeface="Times New Roman" panose="02020603050405020304" pitchFamily="18" charset="0"/>
                <a:cs typeface="Calibri" panose="020F0502020204030204" pitchFamily="34" charset="0"/>
              </a:rPr>
              <a:t>Ш</a:t>
            </a:r>
            <a:r>
              <a:rPr lang="ru-RU" sz="2800" kern="0" dirty="0">
                <a:solidFill>
                  <a:srgbClr val="000000"/>
                </a:solidFill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ум и сигнал сравнимы по мощности. Данные пригодны для анализа, но для повышения точности прогнозных моделей рекомендуется применять методы фильтрации.</a:t>
            </a:r>
            <a:endParaRPr lang="ru-RU" sz="2800" dirty="0"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5646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610E4-2C0C-F95A-C60C-31E77638A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371895-E072-0362-0C19-A1F270B1B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изображений: баланс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B80912-FE29-C943-D158-606CB329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34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1035FFC-6961-9D7B-947A-A339B6DD9B2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" r="1377"/>
          <a:stretch>
            <a:fillRect/>
          </a:stretch>
        </p:blipFill>
        <p:spPr>
          <a:xfrm>
            <a:off x="4355263" y="1149593"/>
            <a:ext cx="7662040" cy="5000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3AB4AB-B7EA-887A-AC58-CE99DB618BFB}"/>
              </a:ext>
            </a:extLst>
          </p:cNvPr>
          <p:cNvSpPr txBox="1"/>
          <p:nvPr/>
        </p:nvSpPr>
        <p:spPr>
          <a:xfrm>
            <a:off x="174697" y="2165833"/>
            <a:ext cx="4180566" cy="2526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Классы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идеально сбалансированы </a:t>
            </a:r>
            <a:r>
              <a:rPr lang="ru-RU" sz="2400" i="0" dirty="0">
                <a:effectLst/>
                <a:cs typeface="Calibri" panose="020F0502020204030204" pitchFamily="34" charset="0"/>
              </a:rPr>
              <a:t>(50/50)</a:t>
            </a:r>
            <a:r>
              <a:rPr lang="ru-RU" sz="2400" dirty="0">
                <a:cs typeface="Calibri" panose="020F0502020204030204" pitchFamily="34" charset="0"/>
              </a:rPr>
              <a:t>.</a:t>
            </a:r>
            <a:endParaRPr lang="ru-RU" sz="2400" i="0" dirty="0">
              <a:effectLst/>
              <a:cs typeface="Calibri" panose="020F0502020204030204" pitchFamily="34" charset="0"/>
            </a:endParaRPr>
          </a:p>
          <a:p>
            <a:pPr marL="457200" indent="-4572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Объём выборки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минимально достаточный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для обучения (200 на класс).</a:t>
            </a:r>
          </a:p>
        </p:txBody>
      </p:sp>
    </p:spTree>
    <p:extLst>
      <p:ext uri="{BB962C8B-B14F-4D97-AF65-F5344CB8AC3E}">
        <p14:creationId xmlns:p14="http://schemas.microsoft.com/office/powerpoint/2010/main" val="1359703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6282-6C3F-2C59-5ED8-F266EDD3F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615336-A4FF-61C8-F7BD-EB1D65EA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изображений: статистика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533E88-EFAC-9005-399E-C6A581EA4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35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791AAA8C-8235-CCBE-2081-398F201C5A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406384"/>
              </p:ext>
            </p:extLst>
          </p:nvPr>
        </p:nvGraphicFramePr>
        <p:xfrm>
          <a:off x="1604141" y="4406801"/>
          <a:ext cx="8983717" cy="1749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9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0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9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4329">
                  <a:extLst>
                    <a:ext uri="{9D8B030D-6E8A-4147-A177-3AD203B41FA5}">
                      <a16:colId xmlns:a16="http://schemas.microsoft.com/office/drawing/2014/main" val="567425625"/>
                    </a:ext>
                  </a:extLst>
                </a:gridCol>
              </a:tblGrid>
              <a:tr h="3736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Показатель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Ширина, </a:t>
                      </a:r>
                      <a:r>
                        <a:rPr lang="ru-RU" sz="1800" b="1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px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Высота, </a:t>
                      </a:r>
                      <a:r>
                        <a:rPr lang="ru-RU" sz="1800" b="1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px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Соотношение сторон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66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Минимум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95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75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0,45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9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Максимум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2,06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8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Среднее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405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364,2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1,15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E358B0-6E00-887F-8AD2-FE5576243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20" y="1023400"/>
            <a:ext cx="10801459" cy="326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4383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2FCFE-BB35-CE06-0C85-A63B8491F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BB43FC-6A80-236C-620A-799C2BBB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пример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E9A7D4-5431-8658-BD64-062D92AC9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36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78C690B-03CA-C6EC-6B3C-305F0A0D5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14393"/>
              </p:ext>
            </p:extLst>
          </p:nvPr>
        </p:nvGraphicFramePr>
        <p:xfrm>
          <a:off x="1563742" y="1631178"/>
          <a:ext cx="9064516" cy="359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1316">
                  <a:extLst>
                    <a:ext uri="{9D8B030D-6E8A-4147-A177-3AD203B41FA5}">
                      <a16:colId xmlns:a16="http://schemas.microsoft.com/office/drawing/2014/main" val="35784618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84224469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review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sentiment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23441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качество плохое пошив ужасный (горловина напер...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826667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Товар отдали другому человеку, я не получила п...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0703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Ужасная синтетика! Тонкая, ничего общего с пре...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75450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товар не пришел, продавец продлил защиту без м...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091458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Кофточка голая синтетика, носить не возможно.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653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4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E2762-C1E1-9824-5B5F-82F3E6313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1B0E1-5A10-6A06-E019-4A9DF24D6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пропуски и баланс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CCBB57-A8B8-6A74-746E-3587390E2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37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2B9426-4879-7491-F403-EDFEE36F9989}"/>
              </a:ext>
            </a:extLst>
          </p:cNvPr>
          <p:cNvSpPr txBox="1"/>
          <p:nvPr/>
        </p:nvSpPr>
        <p:spPr>
          <a:xfrm>
            <a:off x="174697" y="1758046"/>
            <a:ext cx="4180566" cy="4439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Классы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идеально сбалансированы</a:t>
            </a:r>
            <a:r>
              <a:rPr lang="ru-RU" sz="2400" dirty="0">
                <a:cs typeface="Calibri" panose="020F0502020204030204" pitchFamily="34" charset="0"/>
              </a:rPr>
              <a:t>.</a:t>
            </a:r>
            <a:endParaRPr lang="ru-RU" sz="2400" i="0" dirty="0">
              <a:effectLst/>
              <a:cs typeface="Calibri" panose="020F0502020204030204" pitchFamily="34" charset="0"/>
            </a:endParaRP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Пропуски 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отсутствуют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.</a:t>
            </a: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Для прототипирования объём данных </a:t>
            </a:r>
            <a:r>
              <a:rPr lang="ru-RU" sz="2400" b="1" dirty="0">
                <a:cs typeface="Calibri" panose="020F0502020204030204" pitchFamily="34" charset="0"/>
              </a:rPr>
              <a:t>достаточен.</a:t>
            </a:r>
            <a:endParaRPr lang="ru-RU" sz="2400" dirty="0"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Для промышленной модели использовать </a:t>
            </a:r>
            <a:r>
              <a:rPr lang="ru-RU" sz="2400" b="1" dirty="0">
                <a:cs typeface="Calibri" panose="020F0502020204030204" pitchFamily="34" charset="0"/>
              </a:rPr>
              <a:t>полную версию</a:t>
            </a:r>
            <a:r>
              <a:rPr lang="ru-RU" sz="2400" dirty="0">
                <a:cs typeface="Calibri" panose="020F0502020204030204" pitchFamily="34" charset="0"/>
              </a:rPr>
              <a:t> (90 000 отзывов).</a:t>
            </a:r>
          </a:p>
          <a:p>
            <a:pPr marL="457200" indent="-4572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ru-RU" sz="2400" b="0" i="0" dirty="0">
              <a:effectLst/>
              <a:cs typeface="Calibri" panose="020F050202020403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50C261-A964-9F2F-EA20-2B9B37E8825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71" b="7197"/>
          <a:stretch>
            <a:fillRect/>
          </a:stretch>
        </p:blipFill>
        <p:spPr bwMode="auto">
          <a:xfrm>
            <a:off x="4091612" y="1234243"/>
            <a:ext cx="7996307" cy="47454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177180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C2B54-A404-044D-1298-3254A492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DBE748-DBB2-E662-3296-A517A590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очистка, </a:t>
            </a:r>
            <a:r>
              <a:rPr lang="ru-RU" sz="3400" dirty="0" err="1">
                <a:latin typeface="Calibri" panose="020F0502020204030204" pitchFamily="34" charset="0"/>
                <a:cs typeface="Calibri" panose="020F0502020204030204" pitchFamily="34" charset="0"/>
              </a:rPr>
              <a:t>лемматизация</a:t>
            </a:r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 и удаление стоп-слов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5E0FFD-60BC-B406-0B77-97F9FA10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38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921DD36-584F-3AE1-822A-9230A5EB9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56791"/>
              </p:ext>
            </p:extLst>
          </p:nvPr>
        </p:nvGraphicFramePr>
        <p:xfrm>
          <a:off x="3783724" y="1189046"/>
          <a:ext cx="8304195" cy="4479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429">
                  <a:extLst>
                    <a:ext uri="{9D8B030D-6E8A-4147-A177-3AD203B41FA5}">
                      <a16:colId xmlns:a16="http://schemas.microsoft.com/office/drawing/2014/main" val="1833608049"/>
                    </a:ext>
                  </a:extLst>
                </a:gridCol>
                <a:gridCol w="3398701">
                  <a:extLst>
                    <a:ext uri="{9D8B030D-6E8A-4147-A177-3AD203B41FA5}">
                      <a16:colId xmlns:a16="http://schemas.microsoft.com/office/drawing/2014/main" val="2783322529"/>
                    </a:ext>
                  </a:extLst>
                </a:gridCol>
                <a:gridCol w="2768065">
                  <a:extLst>
                    <a:ext uri="{9D8B030D-6E8A-4147-A177-3AD203B41FA5}">
                      <a16:colId xmlns:a16="http://schemas.microsoft.com/office/drawing/2014/main" val="4248173760"/>
                    </a:ext>
                  </a:extLst>
                </a:gridCol>
              </a:tblGrid>
              <a:tr h="630672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Этап обработки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264125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Исходный текст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—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голая синтетика, носить не возможно.»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20409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Очистка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нижний регистр, удаление пунктуации, цифр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голая синтетика носить не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1622211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Лемматизация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приведение к начальной форме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голый синтетика носить не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242081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Удаление стоп-слов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удаление предлогов, союзов, частиц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голый синтетика носить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1945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CB5BCA4-92DA-EF09-2D9B-36FF5B580D38}"/>
              </a:ext>
            </a:extLst>
          </p:cNvPr>
          <p:cNvSpPr txBox="1"/>
          <p:nvPr/>
        </p:nvSpPr>
        <p:spPr>
          <a:xfrm>
            <a:off x="224659" y="2165833"/>
            <a:ext cx="3212224" cy="2526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Тексты требуют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многоступенчатой очистки.</a:t>
            </a:r>
            <a:endParaRPr lang="ru-RU" sz="2400" b="0" i="0" dirty="0">
              <a:effectLst/>
              <a:cs typeface="Calibri" panose="020F0502020204030204" pitchFamily="34" charset="0"/>
            </a:endParaRP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cs typeface="Calibri" panose="020F0502020204030204" pitchFamily="34" charset="0"/>
              </a:rPr>
              <a:t>Лемматизация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обязательна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для русского языка.</a:t>
            </a:r>
          </a:p>
        </p:txBody>
      </p:sp>
    </p:spTree>
    <p:extLst>
      <p:ext uri="{BB962C8B-B14F-4D97-AF65-F5344CB8AC3E}">
        <p14:creationId xmlns:p14="http://schemas.microsoft.com/office/powerpoint/2010/main" val="35051218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E6B22-B414-8006-B928-8C6CAF586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FBFB3-0BF2-07D5-A367-FBBA0DA19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очистка, </a:t>
            </a:r>
            <a:r>
              <a:rPr lang="ru-RU" sz="3400" dirty="0" err="1">
                <a:latin typeface="Calibri" panose="020F0502020204030204" pitchFamily="34" charset="0"/>
                <a:cs typeface="Calibri" panose="020F0502020204030204" pitchFamily="34" charset="0"/>
              </a:rPr>
              <a:t>лемматизация</a:t>
            </a:r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 и удаление стоп-слов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B1FB89-E821-A18C-DA6A-1770C0439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39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47B7334-9C0E-A07C-EE34-F04C9BF617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318260"/>
              </p:ext>
            </p:extLst>
          </p:nvPr>
        </p:nvGraphicFramePr>
        <p:xfrm>
          <a:off x="7167864" y="2103685"/>
          <a:ext cx="405609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1088200749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50218985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Слово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Частота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876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размер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300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654862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продавец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266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00407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прийти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225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49364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качество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196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42772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товар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179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95217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5BD50A0-80E8-5CEF-D366-0186CC4E52AC}"/>
              </a:ext>
            </a:extLst>
          </p:cNvPr>
          <p:cNvSpPr txBox="1"/>
          <p:nvPr/>
        </p:nvSpPr>
        <p:spPr>
          <a:xfrm>
            <a:off x="6684578" y="896035"/>
            <a:ext cx="4650905" cy="11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Топ-5 самых частых слов </a:t>
            </a:r>
          </a:p>
          <a:p>
            <a:pPr marL="457200" algn="ctr">
              <a:lnSpc>
                <a:spcPct val="150000"/>
              </a:lnSpc>
              <a:buNone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после удаления стоп-слов</a:t>
            </a:r>
            <a:r>
              <a:rPr lang="ru-RU" sz="2400" b="1" dirty="0">
                <a:ea typeface="Times New Roman" panose="02020603050405020304" pitchFamily="18" charset="0"/>
              </a:rPr>
              <a:t>:</a:t>
            </a:r>
            <a:endParaRPr lang="ru-RU" sz="2400" b="1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AD0F5C-00C6-5EC0-97BA-1D480AD96170}"/>
              </a:ext>
            </a:extLst>
          </p:cNvPr>
          <p:cNvSpPr txBox="1"/>
          <p:nvPr/>
        </p:nvSpPr>
        <p:spPr>
          <a:xfrm>
            <a:off x="425668" y="896035"/>
            <a:ext cx="4650905" cy="11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Топ-5 самых частых слов </a:t>
            </a:r>
          </a:p>
          <a:p>
            <a:pPr marL="457200" algn="ctr">
              <a:lnSpc>
                <a:spcPct val="150000"/>
              </a:lnSpc>
              <a:buNone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до удаления стоп-слов</a:t>
            </a:r>
            <a:r>
              <a:rPr lang="ru-RU" sz="2400" b="1" dirty="0">
                <a:ea typeface="Times New Roman" panose="02020603050405020304" pitchFamily="18" charset="0"/>
              </a:rPr>
              <a:t>:</a:t>
            </a:r>
            <a:endParaRPr lang="ru-RU" sz="2400" b="1" dirty="0">
              <a:effectLst/>
              <a:ea typeface="Times New Roman" panose="02020603050405020304" pitchFamily="18" charset="0"/>
            </a:endParaRP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FD15AADA-ED96-5A1B-5561-F13D56534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477798"/>
              </p:ext>
            </p:extLst>
          </p:nvPr>
        </p:nvGraphicFramePr>
        <p:xfrm>
          <a:off x="833433" y="2103685"/>
          <a:ext cx="405609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2317275457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388005907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Слово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Частота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4631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не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950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9883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на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565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11369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и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497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33469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в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394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416855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очень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336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0551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22587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C187A-5690-8AD8-AF66-4B6D33CC2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7CA592-AF5E-BF0F-C98B-83789AA32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2837"/>
            <a:ext cx="12192000" cy="588110"/>
          </a:xfrm>
        </p:spPr>
        <p:txBody>
          <a:bodyPr/>
          <a:lstStyle/>
          <a:p>
            <a:r>
              <a:rPr lang="ru-RU" sz="32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TF-IDF и информационный поиск</a:t>
            </a:r>
            <a:br>
              <a:rPr lang="ru-RU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ru-RU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8335D4-3C2F-1AFB-0225-B414EAB4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40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0787116B-4AB9-E4D8-0E86-5CE63A4A7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54111"/>
              </p:ext>
            </p:extLst>
          </p:nvPr>
        </p:nvGraphicFramePr>
        <p:xfrm>
          <a:off x="7483174" y="2528887"/>
          <a:ext cx="4056092" cy="3434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1088200749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50218985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Слово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TF-IDF вес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876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рекомендовать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0,5087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654862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спасибо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0,4882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00407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продавец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0,3404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49364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огромный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0,3307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42772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отличный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0,2734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952174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1DDB0FE0-2E9F-673F-61D9-228D43FAB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24000"/>
              </p:ext>
            </p:extLst>
          </p:nvPr>
        </p:nvGraphicFramePr>
        <p:xfrm>
          <a:off x="328937" y="3023357"/>
          <a:ext cx="6056097" cy="296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594">
                  <a:extLst>
                    <a:ext uri="{9D8B030D-6E8A-4147-A177-3AD203B41FA5}">
                      <a16:colId xmlns:a16="http://schemas.microsoft.com/office/drawing/2014/main" val="2317275457"/>
                    </a:ext>
                  </a:extLst>
                </a:gridCol>
                <a:gridCol w="2284681">
                  <a:extLst>
                    <a:ext uri="{9D8B030D-6E8A-4147-A177-3AD203B41FA5}">
                      <a16:colId xmlns:a16="http://schemas.microsoft.com/office/drawing/2014/main" val="3880059071"/>
                    </a:ext>
                  </a:extLst>
                </a:gridCol>
                <a:gridCol w="1583822">
                  <a:extLst>
                    <a:ext uri="{9D8B030D-6E8A-4147-A177-3AD203B41FA5}">
                      <a16:colId xmlns:a16="http://schemas.microsoft.com/office/drawing/2014/main" val="353183720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Поисковый запрос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Найденный класс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Косинусное сходство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4631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«хорошее качество товара»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ositive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/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neutral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0,81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9883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«плохая доставка долго ждать»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negative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0,60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11369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«не подошел размер вернуть деньги»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negative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0,62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334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EEBE396-B8F2-F2BF-ECA0-82E0E33A2782}"/>
              </a:ext>
            </a:extLst>
          </p:cNvPr>
          <p:cNvSpPr txBox="1"/>
          <p:nvPr/>
        </p:nvSpPr>
        <p:spPr>
          <a:xfrm>
            <a:off x="0" y="1256902"/>
            <a:ext cx="296391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cs typeface="Calibri" panose="020F0502020204030204" pitchFamily="34" charset="0"/>
              </a:rPr>
              <a:t>TF-IDF позволяет выделить </a:t>
            </a:r>
            <a:r>
              <a:rPr lang="ru-RU" sz="2200" b="1" i="0" dirty="0">
                <a:effectLst/>
                <a:cs typeface="Calibri" panose="020F0502020204030204" pitchFamily="34" charset="0"/>
              </a:rPr>
              <a:t>значимые слова</a:t>
            </a:r>
            <a:r>
              <a:rPr lang="ru-RU" sz="2200" b="0" i="0" dirty="0">
                <a:effectLst/>
                <a:cs typeface="Calibri" panose="020F0502020204030204" pitchFamily="34" charset="0"/>
              </a:rPr>
              <a:t> в каждом документе.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17C568-5880-6250-A5A7-825533968AF0}"/>
              </a:ext>
            </a:extLst>
          </p:cNvPr>
          <p:cNvSpPr txBox="1"/>
          <p:nvPr/>
        </p:nvSpPr>
        <p:spPr>
          <a:xfrm>
            <a:off x="2963918" y="1259575"/>
            <a:ext cx="342111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cs typeface="Calibri" panose="020F0502020204030204" pitchFamily="34" charset="0"/>
              </a:rPr>
              <a:t>Косинусное сходство эффективно для </a:t>
            </a:r>
            <a:r>
              <a:rPr lang="ru-RU" sz="2200" b="1" i="0" dirty="0">
                <a:effectLst/>
                <a:cs typeface="Calibri" panose="020F0502020204030204" pitchFamily="34" charset="0"/>
              </a:rPr>
              <a:t>поиска семантически близких текстов.</a:t>
            </a:r>
            <a:endParaRPr lang="ru-RU" sz="2200" b="0" i="0" dirty="0">
              <a:effectLst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019F5-09E1-6E9E-507A-4226EF475E63}"/>
              </a:ext>
            </a:extLst>
          </p:cNvPr>
          <p:cNvSpPr txBox="1"/>
          <p:nvPr/>
        </p:nvSpPr>
        <p:spPr>
          <a:xfrm>
            <a:off x="7351604" y="1321935"/>
            <a:ext cx="40560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ru-RU" sz="2400" b="1" i="0" dirty="0">
                <a:effectLst/>
                <a:cs typeface="Calibri" panose="020F0502020204030204" pitchFamily="34" charset="0"/>
              </a:rPr>
              <a:t>Пример TF-IDF вектора для позитивного отзыва:</a:t>
            </a:r>
            <a:endParaRPr lang="ru-RU" sz="2400" b="1" dirty="0"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73387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10140</TotalTime>
  <Words>3076</Words>
  <Application>Microsoft Office PowerPoint</Application>
  <PresentationFormat>Широкоэкранный</PresentationFormat>
  <Paragraphs>679</Paragraphs>
  <Slides>40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8" baseType="lpstr">
      <vt:lpstr>等线</vt:lpstr>
      <vt:lpstr>Arial</vt:lpstr>
      <vt:lpstr>Calibri</vt:lpstr>
      <vt:lpstr>Calibri Light</vt:lpstr>
      <vt:lpstr>Cambria Math</vt:lpstr>
      <vt:lpstr>Times New Roman</vt:lpstr>
      <vt:lpstr>Wingdings</vt:lpstr>
      <vt:lpstr>Тема Office</vt:lpstr>
      <vt:lpstr>Поиск и первичный анализ наборов данных  по различным областям применения</vt:lpstr>
      <vt:lpstr>Актуальность: необходимость первичного анализа</vt:lpstr>
      <vt:lpstr>Табличные данные: задача и описание данных</vt:lpstr>
      <vt:lpstr>Табличные данные: атрибуты</vt:lpstr>
      <vt:lpstr>Табличные данные: пример</vt:lpstr>
      <vt:lpstr>Анализ табличных данных</vt:lpstr>
      <vt:lpstr>Анализ табличных данных</vt:lpstr>
      <vt:lpstr>Временные ряды: задача и описание данных</vt:lpstr>
      <vt:lpstr>Временные ряды: визуализация</vt:lpstr>
      <vt:lpstr>Анализ временных рядов</vt:lpstr>
      <vt:lpstr>Анализ временных рядов</vt:lpstr>
      <vt:lpstr>Анализ временных рядов</vt:lpstr>
      <vt:lpstr>Изображения: задача и описание данных</vt:lpstr>
      <vt:lpstr>Изображения: визуализация</vt:lpstr>
      <vt:lpstr>Анализ изображений</vt:lpstr>
      <vt:lpstr>Анализ изображений</vt:lpstr>
      <vt:lpstr>Текстовые данные: задача и описание данных</vt:lpstr>
      <vt:lpstr>Текстовые данные: визуализация</vt:lpstr>
      <vt:lpstr>Анализ текстовых данных</vt:lpstr>
      <vt:lpstr>Анализ текстовых данных</vt:lpstr>
      <vt:lpstr>Основные результаты</vt:lpstr>
      <vt:lpstr>Анализ табличных данных: пропуски, выбросы и дубликаты </vt:lpstr>
      <vt:lpstr>Анализ табличных данных: корреляция, диапазоны значений </vt:lpstr>
      <vt:lpstr>Анализ табличных данных: распределения числовых атрибутов </vt:lpstr>
      <vt:lpstr>Анализ табличных данных: выживаемость в зависимости от разных признаков</vt:lpstr>
      <vt:lpstr>Анализ табличных данных: выживаемость в зависимости от разных признаков</vt:lpstr>
      <vt:lpstr>Анализ табличных данных: кодирование</vt:lpstr>
      <vt:lpstr>Анализ временных рядов: статистика</vt:lpstr>
      <vt:lpstr>Анализ временных рядов: распределения измерений</vt:lpstr>
      <vt:lpstr>Анализ временных рядов: пропуски и выбросы</vt:lpstr>
      <vt:lpstr>Анализ временных рядов: корреляция, диапазоны значений </vt:lpstr>
      <vt:lpstr>Анализ временных рядов: декомпозиция</vt:lpstr>
      <vt:lpstr>Анализ временных рядов: интерпретация значения SNR</vt:lpstr>
      <vt:lpstr>Анализ изображений: баланс классов</vt:lpstr>
      <vt:lpstr>Анализ изображений: статистика</vt:lpstr>
      <vt:lpstr>Анализ текстовых данных: пример данных</vt:lpstr>
      <vt:lpstr>Анализ текстовых данных: пропуски и баланс классов</vt:lpstr>
      <vt:lpstr>Анализ текстовых данных: очистка, лемматизация и удаление стоп-слов</vt:lpstr>
      <vt:lpstr>Анализ текстовых данных: очистка, лемматизация и удаление стоп-слов</vt:lpstr>
      <vt:lpstr>Анализ текстовых данных: TF-IDF и информационный поиск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Assistant</dc:creator>
  <cp:lastModifiedBy>ksyshadubinina24@gmail.com</cp:lastModifiedBy>
  <cp:revision>718</cp:revision>
  <dcterms:created xsi:type="dcterms:W3CDTF">2020-05-09T18:58:00Z</dcterms:created>
  <dcterms:modified xsi:type="dcterms:W3CDTF">2026-06-07T15:21:17Z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C0E50868B26E49E4B9BCA8205F4B272E_13</vt:lpwstr>
  </property>
  <property fmtid="{D5CDD505-2E9C-101B-9397-08002B2CF9AE}" pid="3" name="KSOProductBuildVer">
    <vt:lpwstr>1049-12.2.0.17119</vt:lpwstr>
  </property>
</Properties>
</file>