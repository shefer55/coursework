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2"/>
  </p:notesMasterIdLst>
  <p:handoutMasterIdLst>
    <p:handoutMasterId r:id="rId43"/>
  </p:handoutMasterIdLst>
  <p:sldIdLst>
    <p:sldId id="288" r:id="rId2"/>
    <p:sldId id="292" r:id="rId3"/>
    <p:sldId id="291" r:id="rId4"/>
    <p:sldId id="297" r:id="rId5"/>
    <p:sldId id="298" r:id="rId6"/>
    <p:sldId id="311" r:id="rId7"/>
    <p:sldId id="315" r:id="rId8"/>
    <p:sldId id="316" r:id="rId9"/>
    <p:sldId id="332" r:id="rId10"/>
    <p:sldId id="330" r:id="rId11"/>
    <p:sldId id="335" r:id="rId12"/>
    <p:sldId id="329" r:id="rId13"/>
    <p:sldId id="339" r:id="rId14"/>
    <p:sldId id="340" r:id="rId15"/>
    <p:sldId id="341" r:id="rId16"/>
    <p:sldId id="342" r:id="rId17"/>
    <p:sldId id="343" r:id="rId18"/>
    <p:sldId id="344" r:id="rId19"/>
    <p:sldId id="345" r:id="rId20"/>
    <p:sldId id="346" r:id="rId21"/>
    <p:sldId id="290" r:id="rId22"/>
    <p:sldId id="319" r:id="rId23"/>
    <p:sldId id="320" r:id="rId24"/>
    <p:sldId id="321" r:id="rId25"/>
    <p:sldId id="322" r:id="rId26"/>
    <p:sldId id="347" r:id="rId27"/>
    <p:sldId id="324" r:id="rId28"/>
    <p:sldId id="331" r:id="rId29"/>
    <p:sldId id="327" r:id="rId30"/>
    <p:sldId id="333" r:id="rId31"/>
    <p:sldId id="328" r:id="rId32"/>
    <p:sldId id="336" r:id="rId33"/>
    <p:sldId id="338" r:id="rId34"/>
    <p:sldId id="348" r:id="rId35"/>
    <p:sldId id="349" r:id="rId36"/>
    <p:sldId id="350" r:id="rId37"/>
    <p:sldId id="351" r:id="rId38"/>
    <p:sldId id="352" r:id="rId39"/>
    <p:sldId id="353" r:id="rId40"/>
    <p:sldId id="354" r:id="rId41"/>
  </p:sldIdLst>
  <p:sldSz cx="12192000" cy="6858000"/>
  <p:notesSz cx="6858000" cy="9144000"/>
  <p:defaultTextStyle>
    <a:defPPr>
      <a:defRPr lang="en-US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ведение" id="{BC28A6DE-7017-454E-A084-68DC268F6869}">
          <p14:sldIdLst>
            <p14:sldId id="288"/>
            <p14:sldId id="292"/>
          </p14:sldIdLst>
        </p14:section>
        <p14:section name="Табличные данные" id="{25D1F10B-6325-41AD-904C-A2CA9A92E4E8}">
          <p14:sldIdLst>
            <p14:sldId id="291"/>
            <p14:sldId id="297"/>
            <p14:sldId id="298"/>
            <p14:sldId id="311"/>
            <p14:sldId id="315"/>
          </p14:sldIdLst>
        </p14:section>
        <p14:section name="Временые ряды" id="{3AE7C1E3-1928-4BDB-8B2C-A89BE33DCA8B}">
          <p14:sldIdLst>
            <p14:sldId id="316"/>
            <p14:sldId id="332"/>
            <p14:sldId id="330"/>
            <p14:sldId id="335"/>
            <p14:sldId id="329"/>
          </p14:sldIdLst>
        </p14:section>
        <p14:section name="Изображения" id="{F70EAD4F-24AE-4D48-B4F8-C4EB82138450}">
          <p14:sldIdLst>
            <p14:sldId id="339"/>
            <p14:sldId id="340"/>
            <p14:sldId id="341"/>
            <p14:sldId id="342"/>
          </p14:sldIdLst>
        </p14:section>
        <p14:section name="Текстовые данные" id="{951D7D86-9207-4143-B5DB-BD16E74A48A4}">
          <p14:sldIdLst>
            <p14:sldId id="343"/>
            <p14:sldId id="344"/>
            <p14:sldId id="345"/>
            <p14:sldId id="346"/>
          </p14:sldIdLst>
        </p14:section>
        <p14:section name="Заключение" id="{272700DB-0FD2-4669-BCE7-CC408827A34D}">
          <p14:sldIdLst>
            <p14:sldId id="290"/>
          </p14:sldIdLst>
        </p14:section>
        <p14:section name="Доп. слайды (табличные данные)" id="{72A6853E-2CE2-4393-A1B4-BC229A55D177}">
          <p14:sldIdLst>
            <p14:sldId id="319"/>
            <p14:sldId id="320"/>
            <p14:sldId id="321"/>
            <p14:sldId id="322"/>
            <p14:sldId id="347"/>
            <p14:sldId id="324"/>
          </p14:sldIdLst>
        </p14:section>
        <p14:section name="Доп. слайды (временные ряды)" id="{DADB5037-6CFB-418F-978F-7353CA81D87F}">
          <p14:sldIdLst>
            <p14:sldId id="331"/>
            <p14:sldId id="327"/>
            <p14:sldId id="333"/>
            <p14:sldId id="328"/>
            <p14:sldId id="336"/>
            <p14:sldId id="338"/>
          </p14:sldIdLst>
        </p14:section>
        <p14:section name="Доп. слайды (изображения)" id="{E80E7BE8-0CC5-494E-B3A9-C4E7FFE52FF6}">
          <p14:sldIdLst>
            <p14:sldId id="348"/>
            <p14:sldId id="349"/>
          </p14:sldIdLst>
        </p14:section>
        <p14:section name="Доп. слайды (текстовые данные)" id="{001BB10E-BC25-44CF-B61A-BAD1BBE32810}">
          <p14:sldIdLst>
            <p14:sldId id="350"/>
            <p14:sldId id="351"/>
            <p14:sldId id="352"/>
            <p14:sldId id="353"/>
            <p14:sldId id="35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FF7F7"/>
    <a:srgbClr val="FFEFEF"/>
    <a:srgbClr val="FFE1E1"/>
    <a:srgbClr val="EFD6C3"/>
    <a:srgbClr val="8D99A7"/>
    <a:srgbClr val="DCDCDC"/>
    <a:srgbClr val="CDCDC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330" autoAdjust="0"/>
    <p:restoredTop sz="87791" autoAdjust="0"/>
  </p:normalViewPr>
  <p:slideViewPr>
    <p:cSldViewPr snapToGrid="0">
      <p:cViewPr varScale="1">
        <p:scale>
          <a:sx n="61" d="100"/>
          <a:sy n="61" d="100"/>
        </p:scale>
        <p:origin x="1206" y="42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5" d="100"/>
          <a:sy n="95" d="100"/>
        </p:scale>
        <p:origin x="2784" y="72"/>
      </p:cViewPr>
      <p:guideLst/>
    </p:cSldViewPr>
  </p:notesViewPr>
  <p:gridSpacing cx="72006" cy="72006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defRPr sz="1200" noProof="1">
                <a:latin typeface="+mn-lt"/>
              </a:defRPr>
            </a:lvl1pPr>
          </a:lstStyle>
          <a:p>
            <a:pPr>
              <a:defRPr/>
            </a:pPr>
            <a:r>
              <a:rPr lang="en-US"/>
              <a:t>https://github.com/MyPowerIsDivine/CourseWork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defRPr sz="1200" noProof="1">
                <a:latin typeface="+mn-lt"/>
              </a:defRPr>
            </a:lvl1pPr>
          </a:lstStyle>
          <a:p>
            <a:pPr>
              <a:defRPr/>
            </a:pPr>
            <a:fld id="{79315C84-EE52-4AD5-8C54-DDD3E354D8A4}" type="datetimeFigureOut">
              <a:rPr lang="ru-RU"/>
              <a:pPr>
                <a:defRPr/>
              </a:pPr>
              <a:t>03.06.2026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defRPr sz="1200" noProof="1">
                <a:latin typeface="+mn-lt"/>
              </a:defRPr>
            </a:lvl1pPr>
          </a:lstStyle>
          <a:p>
            <a:pPr>
              <a:defRPr/>
            </a:pPr>
            <a:r>
              <a:rPr lang="en-US"/>
              <a:t>https://github.com/MyPowerIsDivine/CourseWork</a:t>
            </a:r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noProof="1"/>
            </a:lvl1pPr>
          </a:lstStyle>
          <a:p>
            <a:fld id="{EC040E5F-2643-45B4-A9BD-CFE6291A48B1}" type="slidenum">
              <a:rPr altLang="ru-RU"/>
              <a:pPr/>
              <a:t>‹#›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396886456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defRPr sz="1200" noProof="1">
                <a:latin typeface="+mn-lt"/>
              </a:defRPr>
            </a:lvl1pPr>
          </a:lstStyle>
          <a:p>
            <a:pPr>
              <a:defRPr/>
            </a:pPr>
            <a:r>
              <a:rPr lang="en-US"/>
              <a:t>https://github.com/MyPowerIsDivine/CourseWork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defRPr sz="1200" noProof="1">
                <a:latin typeface="+mn-lt"/>
              </a:defRPr>
            </a:lvl1pPr>
          </a:lstStyle>
          <a:p>
            <a:pPr>
              <a:defRPr/>
            </a:pPr>
            <a:fld id="{9D2B60AF-714F-4A51-9ED9-26D63D5F6FA8}" type="datetimeFigureOut">
              <a:rPr lang="ru-RU"/>
              <a:pPr>
                <a:defRPr/>
              </a:pPr>
              <a:t>03.06.2026</a:t>
            </a:fld>
            <a:endParaRPr lang="ru-RU"/>
          </a:p>
        </p:txBody>
      </p:sp>
      <p:sp>
        <p:nvSpPr>
          <p:cNvPr id="3076" name="Образ слайда 3"/>
          <p:cNvSpPr>
            <a:spLocks noGrp="1" noRot="1" noChangeAspect="1" noChangeArrowheads="1"/>
          </p:cNvSpPr>
          <p:nvPr>
            <p:ph type="sldImg" idx="4294967295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077" name="Заметки 4"/>
          <p:cNvSpPr>
            <a:spLocks noGrp="1" noChangeArrowheads="1"/>
          </p:cNvSpPr>
          <p:nvPr>
            <p:ph type="body" sz="quarter" idx="4294967295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ru-RU" altLang="zh-CN" noProof="0"/>
              <a:t>Образец текста</a:t>
            </a:r>
          </a:p>
          <a:p>
            <a:pPr lvl="1"/>
            <a:r>
              <a:rPr lang="ru-RU" altLang="zh-CN" noProof="0"/>
              <a:t>Второй уровень</a:t>
            </a:r>
          </a:p>
          <a:p>
            <a:pPr lvl="2"/>
            <a:r>
              <a:rPr lang="ru-RU" altLang="zh-CN" noProof="0"/>
              <a:t>Третий уровень</a:t>
            </a:r>
          </a:p>
          <a:p>
            <a:pPr lvl="3"/>
            <a:r>
              <a:rPr lang="ru-RU" altLang="zh-CN" noProof="0"/>
              <a:t>Четвертый уровень</a:t>
            </a:r>
          </a:p>
          <a:p>
            <a:pPr lvl="4"/>
            <a:r>
              <a:rPr lang="ru-RU" altLang="zh-CN" noProof="0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defRPr sz="1200" noProof="1">
                <a:latin typeface="+mn-lt"/>
              </a:defRPr>
            </a:lvl1pPr>
          </a:lstStyle>
          <a:p>
            <a:pPr>
              <a:defRPr/>
            </a:pPr>
            <a:r>
              <a:rPr lang="en-US"/>
              <a:t>https://github.com/MyPowerIsDivine/CourseWork</a:t>
            </a: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noProof="1"/>
            </a:lvl1pPr>
          </a:lstStyle>
          <a:p>
            <a:fld id="{7AE935F4-122E-4717-A0F2-34B38B06B6CB}" type="slidenum">
              <a:rPr altLang="ru-RU"/>
              <a:pPr/>
              <a:t>‹#›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154074456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E935F4-122E-4717-A0F2-34B38B06B6CB}" type="slidenum">
              <a:rPr lang="ru-RU" altLang="ru-RU" smtClean="0"/>
              <a:pPr/>
              <a:t>1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18797909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E935F4-122E-4717-A0F2-34B38B06B6CB}" type="slidenum">
              <a:rPr lang="ru-RU" altLang="ru-RU" smtClean="0"/>
              <a:pPr/>
              <a:t>2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5256609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E935F4-122E-4717-A0F2-34B38B06B6CB}" type="slidenum">
              <a:rPr lang="ru-RU" altLang="ru-RU" smtClean="0"/>
              <a:pPr/>
              <a:t>4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3537753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E935F4-122E-4717-A0F2-34B38B06B6CB}" type="slidenum">
              <a:rPr lang="ru-RU" altLang="ru-RU" smtClean="0"/>
              <a:pPr/>
              <a:t>5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12770285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E935F4-122E-4717-A0F2-34B38B06B6CB}" type="slidenum">
              <a:rPr lang="ru-RU" altLang="ru-RU" smtClean="0"/>
              <a:pPr/>
              <a:t>6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24746744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E935F4-122E-4717-A0F2-34B38B06B6CB}" type="slidenum">
              <a:rPr lang="ru-RU" altLang="ru-RU" smtClean="0"/>
              <a:pPr/>
              <a:t>7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17587248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E935F4-122E-4717-A0F2-34B38B06B6CB}" type="slidenum">
              <a:rPr lang="ru-RU" altLang="ru-RU" smtClean="0"/>
              <a:pPr/>
              <a:t>12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7940369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1EADA-2DF6-3136-F820-CF3F96A45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6D151F7-8BC7-9987-1EB4-C15169D98C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D6340DF1-E156-5526-7873-2289361ACF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51B6403-48A1-7118-A135-82E0417689A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E935F4-122E-4717-A0F2-34B38B06B6CB}" type="slidenum">
              <a:rPr lang="ru-RU" altLang="ru-RU" smtClean="0"/>
              <a:pPr/>
              <a:t>15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23025616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1F6DE6-60A3-4FC1-CAA1-8CFA0ED9D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304CEB01-C9AC-EA43-E816-F610E7330C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EE97B14-800A-3987-EA65-11B5C51A40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6E94353-5932-7068-0CDC-2292E804F7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E935F4-122E-4717-A0F2-34B38B06B6CB}" type="slidenum">
              <a:rPr lang="ru-RU" altLang="ru-RU" smtClean="0"/>
              <a:pPr/>
              <a:t>16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41073330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7844DF-A6FE-831B-7B3D-106BB2BFA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DA56A3F-194C-FD42-BC9D-F0948C668F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ACD76966-FBE6-6487-4514-59BCBAD5D2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233BDFD-81CC-025B-D2B5-09D15231F6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E935F4-122E-4717-A0F2-34B38B06B6CB}" type="slidenum">
              <a:rPr lang="ru-RU" altLang="ru-RU" smtClean="0"/>
              <a:pPr/>
              <a:t>19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24658681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9EDAF-4F1F-2264-FCFF-EB09B7199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4489C6FF-C8CF-2D50-1DAA-07DE9460C6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EC7B2AE-32A8-77DE-5A34-1738FC9634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DCCCCFC-4A32-ED3D-5119-3E82AE89F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E935F4-122E-4717-A0F2-34B38B06B6CB}" type="slidenum">
              <a:rPr lang="ru-RU" altLang="ru-RU" smtClean="0"/>
              <a:pPr/>
              <a:t>20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34964183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0" y="2001888"/>
            <a:ext cx="12192000" cy="1699260"/>
          </a:xfrm>
        </p:spPr>
        <p:txBody>
          <a:bodyPr anchor="ctr"/>
          <a:lstStyle>
            <a:lvl1pPr algn="ctr">
              <a:defRPr sz="4000" b="1">
                <a:latin typeface="+mn-lt"/>
              </a:defRPr>
            </a:lvl1pPr>
          </a:lstStyle>
          <a:p>
            <a:r>
              <a:rPr lang="ru-RU" noProof="1"/>
              <a:t>Название работы</a:t>
            </a:r>
            <a:endParaRPr lang="en-US" noProof="1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0" y="6480212"/>
            <a:ext cx="12192000" cy="365125"/>
          </a:xfrm>
        </p:spPr>
        <p:txBody>
          <a:bodyPr/>
          <a:lstStyle>
            <a:lvl1pPr algn="ctr">
              <a:defRPr sz="22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ru-RU" altLang="zh-CN">
                <a:cs typeface="等线"/>
              </a:rPr>
              <a:t>Челябинск, 2026 г.</a:t>
            </a:r>
            <a:endParaRPr lang="ru-RU" altLang="zh-CN" dirty="0">
              <a:cs typeface="等线"/>
            </a:endParaRPr>
          </a:p>
        </p:txBody>
      </p:sp>
      <p:sp>
        <p:nvSpPr>
          <p:cNvPr id="8" name="Date Placeholder 3"/>
          <p:cNvSpPr txBox="1">
            <a:spLocks/>
          </p:cNvSpPr>
          <p:nvPr userDrawn="1"/>
        </p:nvSpPr>
        <p:spPr>
          <a:xfrm>
            <a:off x="0" y="34832"/>
            <a:ext cx="12192000" cy="16535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l" defTabSz="457200" rtl="0" eaLnBrk="1" fontAlgn="auto" hangingPunct="1">
              <a:spcBef>
                <a:spcPct val="0"/>
              </a:spcBef>
              <a:spcAft>
                <a:spcPct val="0"/>
              </a:spcAft>
              <a:defRPr sz="1200" kern="1200" noProof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  <a:defRPr/>
            </a:pPr>
            <a:r>
              <a:rPr lang="ru-RU" altLang="zh-CN" sz="2000" dirty="0">
                <a:solidFill>
                  <a:schemeClr val="tx1"/>
                </a:solidFill>
                <a:latin typeface="+mn-lt"/>
                <a:cs typeface="等线"/>
              </a:rPr>
              <a:t>МИНИСТЕРСТВО НАУКИ И ВЫСШЕГО ОБРАЗОВАНИЯ РОССИЙСКОЙ ФЕДЕРАЦИИ</a:t>
            </a:r>
          </a:p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  <a:defRPr/>
            </a:pPr>
            <a:r>
              <a:rPr lang="ru-RU" altLang="zh-CN" sz="2000" dirty="0">
                <a:solidFill>
                  <a:schemeClr val="tx1"/>
                </a:solidFill>
                <a:latin typeface="+mn-lt"/>
                <a:cs typeface="等线"/>
              </a:rPr>
              <a:t>Федеральное государственное автономное образовательное учреждение высшего образования</a:t>
            </a:r>
          </a:p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  <a:defRPr/>
            </a:pPr>
            <a:r>
              <a:rPr lang="ru-RU" altLang="zh-CN" sz="2000" dirty="0">
                <a:solidFill>
                  <a:schemeClr val="tx1"/>
                </a:solidFill>
                <a:latin typeface="+mn-lt"/>
                <a:cs typeface="等线"/>
              </a:rPr>
              <a:t>«Южно-Уральский государственный университет (национальный исследовательский университет)»</a:t>
            </a:r>
          </a:p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  <a:defRPr/>
            </a:pPr>
            <a:r>
              <a:rPr lang="ru-RU" altLang="zh-CN" sz="2000" dirty="0">
                <a:solidFill>
                  <a:schemeClr val="tx1"/>
                </a:solidFill>
                <a:latin typeface="+mn-lt"/>
                <a:cs typeface="等线"/>
              </a:rPr>
              <a:t>Институт естественных и точных наук</a:t>
            </a:r>
          </a:p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  <a:defRPr/>
            </a:pPr>
            <a:r>
              <a:rPr lang="ru-RU" altLang="zh-CN" sz="2000" dirty="0">
                <a:solidFill>
                  <a:schemeClr val="tx1"/>
                </a:solidFill>
                <a:latin typeface="+mn-lt"/>
                <a:cs typeface="等线"/>
              </a:rPr>
              <a:t>Центр «ВиртУм»</a:t>
            </a:r>
          </a:p>
        </p:txBody>
      </p:sp>
      <p:sp>
        <p:nvSpPr>
          <p:cNvPr id="12" name="Текст 11"/>
          <p:cNvSpPr>
            <a:spLocks noGrp="1"/>
          </p:cNvSpPr>
          <p:nvPr>
            <p:ph type="body" sz="quarter" idx="11" hasCustomPrompt="1"/>
          </p:nvPr>
        </p:nvSpPr>
        <p:spPr>
          <a:xfrm>
            <a:off x="0" y="3713711"/>
            <a:ext cx="12192000" cy="565921"/>
          </a:xfrm>
        </p:spPr>
        <p:txBody>
          <a:bodyPr anchor="ctr"/>
          <a:lstStyle>
            <a:lvl1pPr marL="0" indent="0" algn="ctr">
              <a:buNone/>
              <a:defRPr sz="2400" baseline="0"/>
            </a:lvl1pPr>
          </a:lstStyle>
          <a:p>
            <a:pPr lvl="0"/>
            <a:r>
              <a:rPr lang="ru-RU" dirty="0"/>
              <a:t>Направление подготовки</a:t>
            </a:r>
          </a:p>
        </p:txBody>
      </p:sp>
      <p:sp>
        <p:nvSpPr>
          <p:cNvPr id="13" name="Текст 11"/>
          <p:cNvSpPr>
            <a:spLocks noGrp="1"/>
          </p:cNvSpPr>
          <p:nvPr>
            <p:ph type="body" sz="quarter" idx="12" hasCustomPrompt="1"/>
          </p:nvPr>
        </p:nvSpPr>
        <p:spPr>
          <a:xfrm>
            <a:off x="613317" y="4581220"/>
            <a:ext cx="4716964" cy="1652312"/>
          </a:xfrm>
        </p:spPr>
        <p:txBody>
          <a:bodyPr anchor="t"/>
          <a:lstStyle>
            <a:lvl1pPr marL="0" indent="0" algn="l">
              <a:buNone/>
              <a:defRPr sz="2400" baseline="0"/>
            </a:lvl1pPr>
          </a:lstStyle>
          <a:p>
            <a:pPr lvl="0"/>
            <a:r>
              <a:rPr lang="ru-RU" dirty="0"/>
              <a:t>Научный руководитель</a:t>
            </a:r>
          </a:p>
        </p:txBody>
      </p:sp>
      <p:sp>
        <p:nvSpPr>
          <p:cNvPr id="16" name="Текст 11"/>
          <p:cNvSpPr>
            <a:spLocks noGrp="1"/>
          </p:cNvSpPr>
          <p:nvPr>
            <p:ph type="body" sz="quarter" idx="13" hasCustomPrompt="1"/>
          </p:nvPr>
        </p:nvSpPr>
        <p:spPr>
          <a:xfrm>
            <a:off x="6805963" y="4581220"/>
            <a:ext cx="4813607" cy="1652312"/>
          </a:xfrm>
        </p:spPr>
        <p:txBody>
          <a:bodyPr anchor="t"/>
          <a:lstStyle>
            <a:lvl1pPr marL="0" indent="0" algn="l">
              <a:buNone/>
              <a:defRPr sz="2400" baseline="0"/>
            </a:lvl1pPr>
          </a:lstStyle>
          <a:p>
            <a:pPr lvl="0"/>
            <a:r>
              <a:rPr lang="ru-RU" dirty="0"/>
              <a:t>Автор</a:t>
            </a:r>
          </a:p>
        </p:txBody>
      </p:sp>
    </p:spTree>
    <p:extLst>
      <p:ext uri="{BB962C8B-B14F-4D97-AF65-F5344CB8AC3E}">
        <p14:creationId xmlns:p14="http://schemas.microsoft.com/office/powerpoint/2010/main" val="9442816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-2862"/>
            <a:ext cx="12192000" cy="883809"/>
          </a:xfrm>
        </p:spPr>
        <p:txBody>
          <a:bodyPr/>
          <a:lstStyle>
            <a:lvl1pPr algn="ctr">
              <a:defRPr sz="3600" b="1">
                <a:latin typeface="+mn-lt"/>
              </a:defRPr>
            </a:lvl1pPr>
          </a:lstStyle>
          <a:p>
            <a:r>
              <a:rPr lang="ru-RU" noProof="1"/>
              <a:t>Образец заголовка</a:t>
            </a:r>
            <a:endParaRPr lang="en-US" noProof="1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022738"/>
            <a:ext cx="12188283" cy="5099281"/>
          </a:xfrm>
        </p:spPr>
        <p:txBody>
          <a:bodyPr/>
          <a:lstStyle/>
          <a:p>
            <a:pPr lvl="0"/>
            <a:r>
              <a:rPr lang="ru-RU" noProof="1"/>
              <a:t>Образец текста</a:t>
            </a:r>
          </a:p>
          <a:p>
            <a:pPr lvl="1"/>
            <a:r>
              <a:rPr lang="ru-RU" noProof="1"/>
              <a:t>Второй уровень</a:t>
            </a:r>
          </a:p>
          <a:p>
            <a:pPr lvl="2"/>
            <a:r>
              <a:rPr lang="ru-RU" noProof="1"/>
              <a:t>Третий уровень</a:t>
            </a:r>
          </a:p>
          <a:p>
            <a:pPr lvl="3"/>
            <a:r>
              <a:rPr lang="ru-RU" noProof="1"/>
              <a:t>Четвертый уровень</a:t>
            </a:r>
          </a:p>
          <a:p>
            <a:pPr lvl="4"/>
            <a:r>
              <a:rPr lang="ru-RU" noProof="1"/>
              <a:t>Пятый уровень</a:t>
            </a:r>
            <a:endParaRPr lang="en-US" noProof="1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7473" y="6274415"/>
            <a:ext cx="1360446" cy="588110"/>
          </a:xfrm>
        </p:spPr>
        <p:txBody>
          <a:bodyPr/>
          <a:lstStyle>
            <a:lvl1pPr>
              <a:defRPr sz="2200">
                <a:solidFill>
                  <a:schemeClr val="tx1"/>
                </a:solidFill>
                <a:cs typeface="Times New Roman" panose="02020603050405020304" pitchFamily="18" charset="0"/>
              </a:defRPr>
            </a:lvl1pPr>
          </a:lstStyle>
          <a:p>
            <a:fld id="{D063FBCF-7873-4A49-B36C-1F912BB77786}" type="slidenum">
              <a:rPr lang="ru-RU" altLang="ru-RU" smtClean="0"/>
              <a:pPr/>
              <a:t>‹#›</a:t>
            </a:fld>
            <a:r>
              <a:rPr lang="ru-RU" altLang="ru-RU" dirty="0"/>
              <a:t>/13</a:t>
            </a:r>
          </a:p>
        </p:txBody>
      </p:sp>
      <p:cxnSp>
        <p:nvCxnSpPr>
          <p:cNvPr id="8" name="Прямая соединительная линия 7"/>
          <p:cNvCxnSpPr/>
          <p:nvPr userDrawn="1"/>
        </p:nvCxnSpPr>
        <p:spPr>
          <a:xfrm>
            <a:off x="0" y="880948"/>
            <a:ext cx="121920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Прямая соединительная линия 8"/>
          <p:cNvCxnSpPr/>
          <p:nvPr userDrawn="1"/>
        </p:nvCxnSpPr>
        <p:spPr>
          <a:xfrm>
            <a:off x="-3717" y="6274415"/>
            <a:ext cx="121920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Нижний колонтитул 4"/>
          <p:cNvSpPr txBox="1">
            <a:spLocks/>
          </p:cNvSpPr>
          <p:nvPr userDrawn="1"/>
        </p:nvSpPr>
        <p:spPr>
          <a:xfrm>
            <a:off x="-11723" y="6274413"/>
            <a:ext cx="9686977" cy="5835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ctr" defTabSz="9144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200" dirty="0">
                <a:solidFill>
                  <a:schemeClr val="tx1"/>
                </a:solidFill>
              </a:rPr>
              <a:t>Курсовой проект «Поиск и первичный анализ наборов данных»</a:t>
            </a:r>
          </a:p>
        </p:txBody>
      </p:sp>
    </p:spTree>
    <p:extLst>
      <p:ext uri="{BB962C8B-B14F-4D97-AF65-F5344CB8AC3E}">
        <p14:creationId xmlns:p14="http://schemas.microsoft.com/office/powerpoint/2010/main" val="11065334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 noChangeArrowheads="1"/>
          </p:cNvSpPr>
          <p:nvPr>
            <p:ph type="title" idx="4294967295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ru-RU" altLang="zh-CN"/>
              <a:t>Образец заголовка</a:t>
            </a:r>
            <a:endParaRPr lang="en-US" altLang="ru-RU"/>
          </a:p>
        </p:txBody>
      </p:sp>
      <p:sp>
        <p:nvSpPr>
          <p:cNvPr id="1027" name="Text Placeholder 2"/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ru-RU" altLang="zh-CN"/>
              <a:t>Образец текста</a:t>
            </a:r>
          </a:p>
          <a:p>
            <a:pPr lvl="1"/>
            <a:r>
              <a:rPr lang="ru-RU" altLang="zh-CN"/>
              <a:t>Второй уровень</a:t>
            </a:r>
          </a:p>
          <a:p>
            <a:pPr lvl="2"/>
            <a:r>
              <a:rPr lang="ru-RU" altLang="zh-CN"/>
              <a:t>Третий уровень</a:t>
            </a:r>
          </a:p>
          <a:p>
            <a:pPr lvl="3"/>
            <a:r>
              <a:rPr lang="ru-RU" altLang="zh-CN"/>
              <a:t>Четвертый уровень</a:t>
            </a:r>
          </a:p>
          <a:p>
            <a:pPr lvl="4"/>
            <a:r>
              <a:rPr lang="ru-RU" altLang="zh-CN"/>
              <a:t>Пятый уровень</a:t>
            </a:r>
            <a:endParaRPr lang="en-US" alt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defRPr sz="1200" noProof="1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ru-RU"/>
              <a:t>Челябинск, 2026 г.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defRPr sz="1200" noProof="1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 noProof="1">
                <a:solidFill>
                  <a:srgbClr val="898989"/>
                </a:solidFill>
              </a:defRPr>
            </a:lvl1pPr>
          </a:lstStyle>
          <a:p>
            <a:fld id="{908C97DF-05ED-458B-8CB7-B5CAFE458C29}" type="slidenum">
              <a:rPr altLang="ru-RU"/>
              <a:pPr/>
              <a:t>‹#›</a:t>
            </a:fld>
            <a:endParaRPr lang="ru-RU" alt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</p:sldLayoutIdLst>
  <p:hf hdr="0" ftr="0"/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datasets/yasserh/titanic-dataset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microsoft.com/office/2007/relationships/hdphoto" Target="../media/hdphoto2.wdp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microsoft.com/office/2007/relationships/hdphoto" Target="../media/hdphoto3.wdp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datasets/ibrahimshahrukh/nvidia-daily-stock-prices-20162026-dataset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datasets/tongpython/cat-and-dog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sv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ismetanin/rureviews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svg"/><Relationship Id="rId5" Type="http://schemas.openxmlformats.org/officeDocument/2006/relationships/image" Target="../media/image16.svg"/><Relationship Id="rId4" Type="http://schemas.microsoft.com/office/2007/relationships/hdphoto" Target="../media/hdphoto2.wdp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sv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9573ABE0-E848-1845-473A-1F3B6DD105FA}"/>
              </a:ext>
            </a:extLst>
          </p:cNvPr>
          <p:cNvSpPr/>
          <p:nvPr/>
        </p:nvSpPr>
        <p:spPr>
          <a:xfrm>
            <a:off x="331076" y="12663"/>
            <a:ext cx="11430000" cy="168763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Заголовок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Поиск и первичный анализ наборов данных </a:t>
            </a:r>
            <a:b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 различным областям применения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ru-RU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Челябинск, 2026 г.</a:t>
            </a:r>
          </a:p>
        </p:txBody>
      </p:sp>
      <p:sp>
        <p:nvSpPr>
          <p:cNvPr id="6" name="Подзаголовок 5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pPr fontAlgn="auto">
              <a:spcBef>
                <a:spcPts val="0"/>
              </a:spcBef>
              <a:defRPr/>
            </a:pPr>
            <a:r>
              <a:rPr lang="ru-RU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09.03.04 «Программная инженерия»</a:t>
            </a:r>
          </a:p>
        </p:txBody>
      </p:sp>
      <p:sp>
        <p:nvSpPr>
          <p:cNvPr id="8" name="Текст 7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Научный руководитель: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доцент центра ОП топ-уровня в сфере ИИ «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ВиртУм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»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Я. А. Краева</a:t>
            </a:r>
          </a:p>
        </p:txBody>
      </p:sp>
      <p:sp>
        <p:nvSpPr>
          <p:cNvPr id="10" name="Текст 9"/>
          <p:cNvSpPr>
            <a:spLocks noGrp="1"/>
          </p:cNvSpPr>
          <p:nvPr>
            <p:ph type="body" sz="quarter" idx="13"/>
          </p:nvPr>
        </p:nvSpPr>
        <p:spPr>
          <a:xfrm>
            <a:off x="7378393" y="4581220"/>
            <a:ext cx="4813607" cy="1652312"/>
          </a:xfrm>
        </p:spPr>
        <p:txBody>
          <a:bodyPr/>
          <a:lstStyle/>
          <a:p>
            <a:pPr eaLnBrk="1" hangingPunct="1">
              <a:lnSpc>
                <a:spcPct val="100000"/>
              </a:lnSpc>
              <a:spcBef>
                <a:spcPct val="0"/>
              </a:spcBef>
              <a:defRPr/>
            </a:pPr>
            <a:r>
              <a:rPr lang="ru-RU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Авторы:</a:t>
            </a:r>
          </a:p>
          <a:p>
            <a:pPr eaLnBrk="1" hangingPunct="1">
              <a:lnSpc>
                <a:spcPct val="100000"/>
              </a:lnSpc>
              <a:spcBef>
                <a:spcPct val="0"/>
              </a:spcBef>
              <a:defRPr/>
            </a:pPr>
            <a:r>
              <a:rPr lang="ru-RU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 группы ЕТ-141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К. А. Дубинина</a:t>
            </a: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F19B0AE-05A8-2B6A-3FEC-615394B57ABB}"/>
              </a:ext>
            </a:extLst>
          </p:cNvPr>
          <p:cNvSpPr txBox="1"/>
          <p:nvPr/>
        </p:nvSpPr>
        <p:spPr>
          <a:xfrm>
            <a:off x="518736" y="315764"/>
            <a:ext cx="11154527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МИНИСТЕРСТВО НАУКИ И ВЫСШЕГО ОБРАЗОВАНИЯ РОССИЙСКОЙ ФЕДЕРАЦИИ</a:t>
            </a:r>
          </a:p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Федеральное государственное автономное образовательное учреждение высшего образования</a:t>
            </a:r>
          </a:p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«Южно-Уральский государственный университет (национальный исследовательский университет)»</a:t>
            </a:r>
          </a:p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Институт естественных и точных наук</a:t>
            </a:r>
          </a:p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Центр «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ВиртУм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»</a:t>
            </a:r>
          </a:p>
        </p:txBody>
      </p:sp>
    </p:spTree>
    <p:extLst>
      <p:ext uri="{BB962C8B-B14F-4D97-AF65-F5344CB8AC3E}">
        <p14:creationId xmlns:p14="http://schemas.microsoft.com/office/powerpoint/2010/main" val="20548337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Актуальность: необходимость первичного анализа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26124" y="1022738"/>
            <a:ext cx="12062159" cy="5099281"/>
          </a:xfrm>
        </p:spPr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Качество данных определяет эффективность ИИ-моделей.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Исследования показывают, что применение специализированных методов предобработки     позволяет существенно повысить качество данных и точность анализа. Выбор метода  очистки может оказывать большее влияние на результат, чем выбор самого алгоритма машинного обучения.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Игнорирование первичного анализа ведет к снижению качества прогнозов и ошибочным решениям.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Разнообразие типов данных (таблицы, временные ряды, изображения, тексты) требует специфических методов анализа каждого типа.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Умение проводить первичный анализ данных разных типов является необходимым навыком для специалиста в области искусственного интеллекта.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latin typeface="Times New Roman" panose="02020603050405020304" pitchFamily="18" charset="0"/>
              </a:rPr>
              <a:pPr/>
              <a:t>2</a:t>
            </a:fld>
            <a:r>
              <a:rPr lang="ru-RU" altLang="ru-RU" sz="2800" dirty="0">
                <a:latin typeface="Times New Roman" panose="02020603050405020304" pitchFamily="18" charset="0"/>
              </a:rPr>
              <a:t>/21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9FA36EE9-8679-F68D-C658-A1029440B2CE}"/>
              </a:ext>
            </a:extLst>
          </p:cNvPr>
          <p:cNvSpPr/>
          <p:nvPr/>
        </p:nvSpPr>
        <p:spPr>
          <a:xfrm>
            <a:off x="23726" y="6333012"/>
            <a:ext cx="8663074" cy="46166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Курсовой проект «Поиск и первичный анализ наборов данных» </a:t>
            </a:r>
          </a:p>
        </p:txBody>
      </p:sp>
    </p:spTree>
    <p:extLst>
      <p:ext uri="{BB962C8B-B14F-4D97-AF65-F5344CB8AC3E}">
        <p14:creationId xmlns:p14="http://schemas.microsoft.com/office/powerpoint/2010/main" val="2651838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Табличные данные: задача и описание данных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Задача: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выполнить бинарную классификацию выживаемости пассажиров «Титаника» на основе демографических и социально-экономических характеристик.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Набор данных: </a:t>
            </a:r>
          </a:p>
          <a:p>
            <a:pPr marL="714375" lvl="1" indent="-357188">
              <a:lnSpc>
                <a:spcPct val="100000"/>
              </a:lnSpc>
              <a:spcBef>
                <a:spcPts val="1200"/>
              </a:spcBef>
              <a:buFont typeface="Times New Roman" panose="02020603050405020304" pitchFamily="18" charset="0"/>
              <a:buChar char="−"/>
            </a:pP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Название, источник: 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Titanic Dataset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Kaggle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14375" lvl="1" indent="-357188">
              <a:lnSpc>
                <a:spcPct val="100000"/>
              </a:lnSpc>
              <a:spcBef>
                <a:spcPts val="1200"/>
              </a:spcBef>
              <a:buFont typeface="Times New Roman" panose="02020603050405020304" pitchFamily="18" charset="0"/>
              <a:buChar char="−"/>
            </a:pP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URL: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https://www.kaggle.com/datasets/yasserh/titanic-dataset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714375" lvl="1" indent="-357188">
              <a:lnSpc>
                <a:spcPct val="100000"/>
              </a:lnSpc>
              <a:spcBef>
                <a:spcPts val="1200"/>
              </a:spcBef>
              <a:buFont typeface="Times New Roman" panose="02020603050405020304" pitchFamily="18" charset="0"/>
              <a:buChar char="−"/>
            </a:pP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Описание: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информация о пассажирах RMS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Titanic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включая класс билета, пол, возраст, порт посадки, количество родителей и детей на борту.</a:t>
            </a:r>
          </a:p>
          <a:p>
            <a:pPr marL="714375" lvl="1" indent="-357188">
              <a:lnSpc>
                <a:spcPct val="100000"/>
              </a:lnSpc>
              <a:spcBef>
                <a:spcPts val="1200"/>
              </a:spcBef>
              <a:buFont typeface="Times New Roman" panose="02020603050405020304" pitchFamily="18" charset="0"/>
              <a:buChar char="−"/>
            </a:pP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Размерность: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891 объектов, 8 признаков.</a:t>
            </a:r>
          </a:p>
          <a:p>
            <a:pPr marL="357187" lvl="1" indent="0">
              <a:buNone/>
            </a:pPr>
            <a:endParaRPr lang="ru-RU" sz="2600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latin typeface="Times New Roman" panose="02020603050405020304" pitchFamily="18" charset="0"/>
              </a:rPr>
              <a:pPr/>
              <a:t>3</a:t>
            </a:fld>
            <a:r>
              <a:rPr lang="ru-RU" altLang="ru-RU" sz="2800" dirty="0">
                <a:latin typeface="Times New Roman" panose="02020603050405020304" pitchFamily="18" charset="0"/>
              </a:rPr>
              <a:t>/21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FF59573-46C5-9B39-83CB-37EAD13B59A8}"/>
              </a:ext>
            </a:extLst>
          </p:cNvPr>
          <p:cNvSpPr/>
          <p:nvPr/>
        </p:nvSpPr>
        <p:spPr>
          <a:xfrm>
            <a:off x="23726" y="6333012"/>
            <a:ext cx="8663074" cy="46166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Курсовой проект «Поиск и первичный анализ наборов данных» </a:t>
            </a:r>
          </a:p>
        </p:txBody>
      </p:sp>
    </p:spTree>
    <p:extLst>
      <p:ext uri="{BB962C8B-B14F-4D97-AF65-F5344CB8AC3E}">
        <p14:creationId xmlns:p14="http://schemas.microsoft.com/office/powerpoint/2010/main" val="39401013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Табличные данные: атрибуты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latin typeface="Times New Roman" panose="02020603050405020304" pitchFamily="18" charset="0"/>
              </a:rPr>
              <a:pPr/>
              <a:t>4</a:t>
            </a:fld>
            <a:r>
              <a:rPr lang="ru-RU" altLang="ru-RU" sz="2800" dirty="0">
                <a:latin typeface="Times New Roman" panose="02020603050405020304" pitchFamily="18" charset="0"/>
              </a:rPr>
              <a:t>/21</a:t>
            </a:r>
          </a:p>
        </p:txBody>
      </p:sp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4743786"/>
              </p:ext>
            </p:extLst>
          </p:nvPr>
        </p:nvGraphicFramePr>
        <p:xfrm>
          <a:off x="0" y="880947"/>
          <a:ext cx="12192001" cy="540312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19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029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939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7314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956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b="1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  <a:endParaRPr lang="ru-RU" sz="18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36195" marB="36195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-146685"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b="1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Семантика</a:t>
                      </a:r>
                      <a:endParaRPr lang="ru-RU" sz="18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-100965"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b="1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Тип данных</a:t>
                      </a:r>
                      <a:endParaRPr lang="ru-RU" sz="18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19050"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b="1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Диапазон / примеры значений</a:t>
                      </a:r>
                      <a:endParaRPr lang="ru-RU" sz="18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4512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PassengerId</a:t>
                      </a:r>
                      <a:endParaRPr lang="ru-RU" sz="18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36195" marB="36195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Уникальный идентификатор пассажира</a:t>
                      </a:r>
                      <a:endParaRPr lang="ru-RU" sz="18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числовой</a:t>
                      </a:r>
                      <a:endParaRPr lang="ru-RU" sz="18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83820"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 … 891</a:t>
                      </a:r>
                      <a:endParaRPr lang="ru-RU" sz="18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956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Survived</a:t>
                      </a:r>
                      <a:endParaRPr lang="ru-RU" sz="18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36195" marB="36195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Целевая переменная (выживание)</a:t>
                      </a:r>
                      <a:endParaRPr lang="ru-RU" sz="18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бинарный</a:t>
                      </a:r>
                      <a:endParaRPr lang="ru-RU" sz="18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83820"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 (погиб), 1 (выжил)</a:t>
                      </a:r>
                      <a:endParaRPr lang="ru-RU" sz="18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4512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Pclass</a:t>
                      </a:r>
                      <a:endParaRPr lang="ru-RU" sz="18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36195" marB="36195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Класс билета (социально-экономический статус)</a:t>
                      </a:r>
                      <a:endParaRPr lang="ru-RU" sz="18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категориальный</a:t>
                      </a:r>
                      <a:endParaRPr lang="ru-RU" sz="18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83820"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 (первый), 2 (второй), 3 (третий)</a:t>
                      </a:r>
                      <a:endParaRPr lang="ru-RU" sz="18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550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Name</a:t>
                      </a:r>
                      <a:endParaRPr lang="ru-RU" sz="18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36195" marB="36195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Полное имя пассажира</a:t>
                      </a:r>
                      <a:endParaRPr lang="ru-RU" sz="18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текстовый</a:t>
                      </a:r>
                      <a:endParaRPr lang="ru-RU" sz="18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83820"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"</a:t>
                      </a:r>
                      <a:r>
                        <a:rPr lang="ru-RU" sz="1800" kern="1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Braund</a:t>
                      </a: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Mr. </a:t>
                      </a:r>
                      <a:r>
                        <a:rPr lang="ru-RU" sz="1800" kern="1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Owen</a:t>
                      </a: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Harris"</a:t>
                      </a:r>
                      <a:endParaRPr lang="ru-RU" sz="18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550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Sex</a:t>
                      </a:r>
                      <a:endParaRPr lang="ru-RU" sz="18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36195" marB="36195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Пол пассажира</a:t>
                      </a:r>
                      <a:endParaRPr lang="ru-RU" sz="18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категориальный</a:t>
                      </a:r>
                      <a:endParaRPr lang="ru-RU" sz="18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83820"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male</a:t>
                      </a: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ru-RU" sz="1800" kern="1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female</a:t>
                      </a:r>
                      <a:endParaRPr lang="ru-RU" sz="18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9197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Age</a:t>
                      </a:r>
                      <a:endParaRPr lang="ru-RU" sz="18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36195" marB="36195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Возраст пассажира в годах</a:t>
                      </a:r>
                      <a:endParaRPr lang="ru-RU" sz="18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числовой</a:t>
                      </a:r>
                      <a:endParaRPr lang="ru-RU" sz="18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83820"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 … 80</a:t>
                      </a:r>
                      <a:endParaRPr lang="ru-RU" sz="18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9197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Parch</a:t>
                      </a:r>
                      <a:endParaRPr lang="ru-RU" sz="18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36195" marB="36195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Количество родителей/детей на борту</a:t>
                      </a:r>
                      <a:endParaRPr lang="ru-RU" sz="18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числовой</a:t>
                      </a:r>
                      <a:endParaRPr lang="ru-RU" sz="18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83820"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 … 9</a:t>
                      </a:r>
                      <a:endParaRPr lang="ru-RU" sz="18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F58FFDFD-C3A9-D5D6-5619-6ADDCB7775C0}"/>
              </a:ext>
            </a:extLst>
          </p:cNvPr>
          <p:cNvSpPr/>
          <p:nvPr/>
        </p:nvSpPr>
        <p:spPr>
          <a:xfrm>
            <a:off x="23726" y="6333012"/>
            <a:ext cx="8663074" cy="46166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Курсовой проект «Поиск и первичный анализ наборов данных» </a:t>
            </a:r>
          </a:p>
        </p:txBody>
      </p:sp>
    </p:spTree>
    <p:extLst>
      <p:ext uri="{BB962C8B-B14F-4D97-AF65-F5344CB8AC3E}">
        <p14:creationId xmlns:p14="http://schemas.microsoft.com/office/powerpoint/2010/main" val="20193399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Табличные данные: пример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latin typeface="Times New Roman" panose="02020603050405020304" pitchFamily="18" charset="0"/>
              </a:rPr>
              <a:pPr/>
              <a:t>5</a:t>
            </a:fld>
            <a:r>
              <a:rPr lang="ru-RU" altLang="ru-RU" sz="2800" dirty="0">
                <a:latin typeface="Times New Roman" panose="02020603050405020304" pitchFamily="18" charset="0"/>
              </a:rPr>
              <a:t>/21</a:t>
            </a:r>
          </a:p>
        </p:txBody>
      </p:sp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8127319"/>
              </p:ext>
            </p:extLst>
          </p:nvPr>
        </p:nvGraphicFramePr>
        <p:xfrm>
          <a:off x="0" y="880947"/>
          <a:ext cx="12191999" cy="53488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34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7833">
                  <a:extLst>
                    <a:ext uri="{9D8B030D-6E8A-4147-A177-3AD203B41FA5}">
                      <a16:colId xmlns:a16="http://schemas.microsoft.com/office/drawing/2014/main" val="3854071973"/>
                    </a:ext>
                  </a:extLst>
                </a:gridCol>
                <a:gridCol w="12997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69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4747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1668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5233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3745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61677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PassengerId</a:t>
                      </a:r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Survived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Pclass</a:t>
                      </a:r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Name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Sex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Age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Parch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Embarked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134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Braund, Mr. Owen Harris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male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8267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Cumings, Mrs. John Bradley (Florence Briggs Thayer)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female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134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Heikkinen, Miss. Laina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female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647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Futrelle, Mrs. Jacques Heath (Lily May Peel)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female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134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Allen, Mr. William Henry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male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0644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…</a:t>
                      </a:r>
                      <a:endParaRPr lang="ru-RU" sz="20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…</a:t>
                      </a:r>
                      <a:endParaRPr lang="ru-RU" sz="20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…</a:t>
                      </a:r>
                      <a:endParaRPr lang="ru-RU" sz="20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…</a:t>
                      </a:r>
                      <a:endParaRPr lang="ru-RU" sz="20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…</a:t>
                      </a:r>
                      <a:endParaRPr lang="ru-RU" sz="20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…</a:t>
                      </a:r>
                      <a:endParaRPr lang="ru-RU" sz="20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…</a:t>
                      </a:r>
                      <a:endParaRPr lang="ru-RU" sz="20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6D327A8-EA04-046F-BD52-EA335D38947E}"/>
              </a:ext>
            </a:extLst>
          </p:cNvPr>
          <p:cNvSpPr/>
          <p:nvPr/>
        </p:nvSpPr>
        <p:spPr>
          <a:xfrm>
            <a:off x="23726" y="6333012"/>
            <a:ext cx="8663074" cy="46166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Курсовой проект «Поиск и первичный анализ наборов данных» </a:t>
            </a:r>
          </a:p>
        </p:txBody>
      </p:sp>
    </p:spTree>
    <p:extLst>
      <p:ext uri="{BB962C8B-B14F-4D97-AF65-F5344CB8AC3E}">
        <p14:creationId xmlns:p14="http://schemas.microsoft.com/office/powerpoint/2010/main" val="10000066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табличных данных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latin typeface="Times New Roman" panose="02020603050405020304" pitchFamily="18" charset="0"/>
              </a:rPr>
              <a:pPr/>
              <a:t>6</a:t>
            </a:fld>
            <a:r>
              <a:rPr lang="ru-RU" altLang="ru-RU" sz="2800" dirty="0">
                <a:latin typeface="Times New Roman" panose="02020603050405020304" pitchFamily="18" charset="0"/>
              </a:rPr>
              <a:t>/21</a:t>
            </a:r>
          </a:p>
        </p:txBody>
      </p:sp>
      <p:sp>
        <p:nvSpPr>
          <p:cNvPr id="3" name="Пятиугольник 2"/>
          <p:cNvSpPr/>
          <p:nvPr/>
        </p:nvSpPr>
        <p:spPr>
          <a:xfrm>
            <a:off x="1702676" y="963140"/>
            <a:ext cx="3412473" cy="972000"/>
          </a:xfrm>
          <a:prstGeom prst="homePlate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Шаг 1. </a:t>
            </a:r>
            <a:br>
              <a:rPr lang="ru-RU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Качество данных.</a:t>
            </a:r>
          </a:p>
        </p:txBody>
      </p:sp>
      <p:sp>
        <p:nvSpPr>
          <p:cNvPr id="7" name="Нашивка 6"/>
          <p:cNvSpPr/>
          <p:nvPr/>
        </p:nvSpPr>
        <p:spPr>
          <a:xfrm>
            <a:off x="4769860" y="963140"/>
            <a:ext cx="3975357" cy="972000"/>
          </a:xfrm>
          <a:prstGeom prst="chevron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0" rtlCol="0" anchor="ctr"/>
          <a:lstStyle/>
          <a:p>
            <a:pPr marL="625475" algn="ctr"/>
            <a:r>
              <a:rPr lang="ru-RU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Шаг 2. Корреляционный анализ.</a:t>
            </a:r>
          </a:p>
        </p:txBody>
      </p:sp>
      <p:sp>
        <p:nvSpPr>
          <p:cNvPr id="8" name="Нашивка 7"/>
          <p:cNvSpPr/>
          <p:nvPr/>
        </p:nvSpPr>
        <p:spPr>
          <a:xfrm>
            <a:off x="8418786" y="963140"/>
            <a:ext cx="3772587" cy="972000"/>
          </a:xfrm>
          <a:prstGeom prst="chevron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447675" algn="ctr"/>
            <a:r>
              <a:rPr lang="ru-RU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Шаг 3. Проверка </a:t>
            </a:r>
            <a:br>
              <a:rPr lang="ru-RU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на диапазоны значений.</a:t>
            </a:r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8768499"/>
              </p:ext>
            </p:extLst>
          </p:nvPr>
        </p:nvGraphicFramePr>
        <p:xfrm>
          <a:off x="0" y="1975036"/>
          <a:ext cx="12192000" cy="4309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12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28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04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735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389240">
                <a:tc>
                  <a:txBody>
                    <a:bodyPr/>
                    <a:lstStyle/>
                    <a:p>
                      <a:pPr algn="ctr"/>
                      <a:r>
                        <a:rPr lang="ru-RU" sz="2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Результаты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Пропуски: </a:t>
                      </a: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Age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(19,9%), </a:t>
                      </a: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Embarked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(0,2%).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Дубликаты отсутствуют.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Выбросы: 21 запись (возраст &gt; 65 лет).</a:t>
                      </a:r>
                      <a:endParaRPr lang="ru-RU" sz="20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8288" marR="0" lvl="0" indent="-26828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Отрицательная корреляция </a:t>
                      </a: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Pclass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и </a:t>
                      </a: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Survived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(-0,34).</a:t>
                      </a:r>
                    </a:p>
                    <a:p>
                      <a:pPr marL="268288" marR="0" lvl="0" indent="-26828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Слабая корреляция </a:t>
                      </a: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Age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и </a:t>
                      </a: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Survived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(-0,07).</a:t>
                      </a:r>
                    </a:p>
                    <a:p>
                      <a:pPr marL="268288" marR="0" lvl="0" indent="-26828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Мультиколлинеарность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отсутствует.</a:t>
                      </a:r>
                      <a:endParaRPr lang="ru-RU" sz="20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Различные масштабы признаков:</a:t>
                      </a:r>
                      <a:br>
                        <a:rPr lang="ru-RU" sz="20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0 ≤ </a:t>
                      </a: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Age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≤ 80,</a:t>
                      </a:r>
                      <a:br>
                        <a:rPr lang="ru-RU" sz="20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1 ≤ </a:t>
                      </a: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Pclass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≤ 3,</a:t>
                      </a:r>
                      <a:br>
                        <a:rPr lang="ru-RU" sz="20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0 ≤ </a:t>
                      </a: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Parch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≤ 9.</a:t>
                      </a:r>
                      <a:endParaRPr lang="ru-RU" sz="20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10139">
                <a:tc>
                  <a:txBody>
                    <a:bodyPr/>
                    <a:lstStyle/>
                    <a:p>
                      <a:pPr algn="ctr"/>
                      <a:r>
                        <a:rPr lang="ru-RU" sz="22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Действия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Заполнение пропусков </a:t>
                      </a:r>
                      <a:r>
                        <a:rPr lang="ru-RU" sz="20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Age</a:t>
                      </a: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медианой по группам (</a:t>
                      </a:r>
                      <a:r>
                        <a:rPr lang="ru-RU" sz="20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Pclass</a:t>
                      </a: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, Sex).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Заполнение пропусков </a:t>
                      </a:r>
                      <a:r>
                        <a:rPr lang="ru-RU" sz="20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Embarked</a:t>
                      </a: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модальным значением.</a:t>
                      </a:r>
                      <a:endParaRPr lang="ru-RU" sz="2000" noProof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Учет классов билета и пола как ключевых факторов выживаемости.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Выполнение нормализации числовых признаков.</a:t>
                      </a:r>
                      <a:endParaRPr lang="ru-RU" sz="20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3" name="Рисунок 12"/>
          <p:cNvPicPr>
            <a:picLocks noChangeAspect="1"/>
          </p:cNvPicPr>
          <p:nvPr/>
        </p:nvPicPr>
        <p:blipFill>
          <a:blip r:embed="rId3" cstate="print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0259" y="1173803"/>
            <a:ext cx="540000" cy="54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4" cstate="print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4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50327" y="1173803"/>
            <a:ext cx="540000" cy="54000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6" cstate="print">
            <a:biLevel thresh="75000"/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367" b="100000" l="2344" r="96094">
                        <a14:foregroundMark x1="17383" y1="52734" x2="17383" y2="52734"/>
                        <a14:foregroundMark x1="18945" y1="69727" x2="18945" y2="69727"/>
                        <a14:foregroundMark x1="19336" y1="83789" x2="19336" y2="83789"/>
                        <a14:foregroundMark x1="60352" y1="82422" x2="60352" y2="82422"/>
                        <a14:backgroundMark x1="45703" y1="18945" x2="45703" y2="18945"/>
                        <a14:backgroundMark x1="69336" y1="23438" x2="69336" y2="2343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5312" y="1045018"/>
            <a:ext cx="612000" cy="612000"/>
          </a:xfrm>
          <a:prstGeom prst="rect">
            <a:avLst/>
          </a:prstGeom>
        </p:spPr>
      </p:pic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73EBB8D2-5553-4A7B-461E-722A2E95C81F}"/>
              </a:ext>
            </a:extLst>
          </p:cNvPr>
          <p:cNvSpPr/>
          <p:nvPr/>
        </p:nvSpPr>
        <p:spPr>
          <a:xfrm>
            <a:off x="23726" y="6333012"/>
            <a:ext cx="8663074" cy="46166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Курсовой проект «Поиск и первичный анализ наборов данных» </a:t>
            </a:r>
          </a:p>
        </p:txBody>
      </p:sp>
    </p:spTree>
    <p:extLst>
      <p:ext uri="{BB962C8B-B14F-4D97-AF65-F5344CB8AC3E}">
        <p14:creationId xmlns:p14="http://schemas.microsoft.com/office/powerpoint/2010/main" val="31827503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табличных данных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latin typeface="Times New Roman" panose="02020603050405020304" pitchFamily="18" charset="0"/>
              </a:rPr>
              <a:pPr/>
              <a:t>7</a:t>
            </a:fld>
            <a:r>
              <a:rPr lang="ru-RU" altLang="ru-RU" sz="2800" dirty="0">
                <a:latin typeface="Times New Roman" panose="02020603050405020304" pitchFamily="18" charset="0"/>
              </a:rPr>
              <a:t>/21</a:t>
            </a:r>
          </a:p>
        </p:txBody>
      </p:sp>
      <p:sp>
        <p:nvSpPr>
          <p:cNvPr id="7" name="Нашивка 6"/>
          <p:cNvSpPr/>
          <p:nvPr/>
        </p:nvSpPr>
        <p:spPr>
          <a:xfrm>
            <a:off x="5297214" y="1122643"/>
            <a:ext cx="4020207" cy="972000"/>
          </a:xfrm>
          <a:prstGeom prst="chevron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73050" algn="ctr"/>
            <a:r>
              <a:rPr lang="ru-RU" sz="2200" b="1" dirty="0">
                <a:solidFill>
                  <a:schemeClr val="tx1"/>
                </a:solidFill>
              </a:rPr>
              <a:t>        </a:t>
            </a:r>
            <a:r>
              <a:rPr lang="ru-RU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Шаг 5.    </a:t>
            </a:r>
          </a:p>
          <a:p>
            <a:pPr marL="273050" algn="ctr"/>
            <a:r>
              <a:rPr lang="ru-RU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Распределения </a:t>
            </a:r>
            <a:r>
              <a:rPr lang="ru-RU" sz="22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категор</a:t>
            </a:r>
            <a:r>
              <a:rPr lang="ru-RU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атрибутов. </a:t>
            </a:r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7370687"/>
              </p:ext>
            </p:extLst>
          </p:nvPr>
        </p:nvGraphicFramePr>
        <p:xfrm>
          <a:off x="1" y="2236670"/>
          <a:ext cx="12191998" cy="40377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6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471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27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96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83620"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Результаты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Age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: близкое к нормальному, правосторонняя асимметрия.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Parch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: перекос в сторону малых значений (&gt;75% нулей).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Pclass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: распределение: 1 класс (24%), 2 класс (21%), 3 класс (55%).</a:t>
                      </a:r>
                      <a:endParaRPr lang="ru-RU" sz="20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Sex: дисбаланс (мужчины ~65%, женщины ~35%).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Embarked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: перекос в сторону порта S (~72%).</a:t>
                      </a:r>
                      <a:endParaRPr lang="ru-RU" sz="20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R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Sex: 2 категории.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Embarked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: 3 категории.</a:t>
                      </a:r>
                      <a:endParaRPr lang="ru-RU" sz="20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54125"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Действия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Age</a:t>
                      </a: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: сохранение выбросов (пожилые пассажиры).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Parch</a:t>
                      </a: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: группировка в категорию «с семьей/один».</a:t>
                      </a:r>
                      <a:endParaRPr lang="ru-RU" sz="20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Sex: учет гендерного фактора при эвакуации.</a:t>
                      </a:r>
                      <a:endParaRPr lang="ru-RU" sz="20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0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Sex: Label Encoding (male→0, female→1)</a:t>
                      </a: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.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0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Embarked: One-Hot Encoding (C, Q, S)</a:t>
                      </a: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.</a:t>
                      </a:r>
                      <a:endParaRPr lang="ru-RU" sz="20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" name="Нашивка 9"/>
          <p:cNvSpPr/>
          <p:nvPr/>
        </p:nvSpPr>
        <p:spPr>
          <a:xfrm>
            <a:off x="1893061" y="1122643"/>
            <a:ext cx="3719464" cy="972000"/>
          </a:xfrm>
          <a:prstGeom prst="chevron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0" rtlCol="0" anchor="ctr"/>
          <a:lstStyle/>
          <a:p>
            <a:pPr algn="ctr"/>
            <a:r>
              <a:rPr lang="ru-RU" sz="2200" b="1" dirty="0">
                <a:solidFill>
                  <a:schemeClr val="tx1"/>
                </a:solidFill>
              </a:rPr>
              <a:t>             </a:t>
            </a:r>
            <a:r>
              <a:rPr lang="ru-RU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Шаг 4.         </a:t>
            </a:r>
          </a:p>
          <a:p>
            <a:pPr algn="ctr"/>
            <a:r>
              <a:rPr lang="ru-RU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Распределения числовых атрибутов. </a:t>
            </a:r>
          </a:p>
        </p:txBody>
      </p:sp>
      <p:sp>
        <p:nvSpPr>
          <p:cNvPr id="8" name="Нашивка 7"/>
          <p:cNvSpPr/>
          <p:nvPr/>
        </p:nvSpPr>
        <p:spPr>
          <a:xfrm>
            <a:off x="9016678" y="1122643"/>
            <a:ext cx="3071242" cy="972000"/>
          </a:xfrm>
          <a:custGeom>
            <a:avLst/>
            <a:gdLst>
              <a:gd name="connsiteX0" fmla="*/ 0 w 3863964"/>
              <a:gd name="connsiteY0" fmla="*/ 0 h 972000"/>
              <a:gd name="connsiteX1" fmla="*/ 3377964 w 3863964"/>
              <a:gd name="connsiteY1" fmla="*/ 0 h 972000"/>
              <a:gd name="connsiteX2" fmla="*/ 3863964 w 3863964"/>
              <a:gd name="connsiteY2" fmla="*/ 486000 h 972000"/>
              <a:gd name="connsiteX3" fmla="*/ 3377964 w 3863964"/>
              <a:gd name="connsiteY3" fmla="*/ 972000 h 972000"/>
              <a:gd name="connsiteX4" fmla="*/ 0 w 3863964"/>
              <a:gd name="connsiteY4" fmla="*/ 972000 h 972000"/>
              <a:gd name="connsiteX5" fmla="*/ 486000 w 3863964"/>
              <a:gd name="connsiteY5" fmla="*/ 486000 h 972000"/>
              <a:gd name="connsiteX6" fmla="*/ 0 w 3863964"/>
              <a:gd name="connsiteY6" fmla="*/ 0 h 972000"/>
              <a:gd name="connsiteX0" fmla="*/ 0 w 3377964"/>
              <a:gd name="connsiteY0" fmla="*/ 0 h 972000"/>
              <a:gd name="connsiteX1" fmla="*/ 3377964 w 3377964"/>
              <a:gd name="connsiteY1" fmla="*/ 0 h 972000"/>
              <a:gd name="connsiteX2" fmla="*/ 3335155 w 3377964"/>
              <a:gd name="connsiteY2" fmla="*/ 452950 h 972000"/>
              <a:gd name="connsiteX3" fmla="*/ 3377964 w 3377964"/>
              <a:gd name="connsiteY3" fmla="*/ 972000 h 972000"/>
              <a:gd name="connsiteX4" fmla="*/ 0 w 3377964"/>
              <a:gd name="connsiteY4" fmla="*/ 972000 h 972000"/>
              <a:gd name="connsiteX5" fmla="*/ 486000 w 3377964"/>
              <a:gd name="connsiteY5" fmla="*/ 486000 h 972000"/>
              <a:gd name="connsiteX6" fmla="*/ 0 w 3377964"/>
              <a:gd name="connsiteY6" fmla="*/ 0 h 972000"/>
              <a:gd name="connsiteX0" fmla="*/ 0 w 3412273"/>
              <a:gd name="connsiteY0" fmla="*/ 0 h 972000"/>
              <a:gd name="connsiteX1" fmla="*/ 3377964 w 3412273"/>
              <a:gd name="connsiteY1" fmla="*/ 0 h 972000"/>
              <a:gd name="connsiteX2" fmla="*/ 3412273 w 3412273"/>
              <a:gd name="connsiteY2" fmla="*/ 452950 h 972000"/>
              <a:gd name="connsiteX3" fmla="*/ 3377964 w 3412273"/>
              <a:gd name="connsiteY3" fmla="*/ 972000 h 972000"/>
              <a:gd name="connsiteX4" fmla="*/ 0 w 3412273"/>
              <a:gd name="connsiteY4" fmla="*/ 972000 h 972000"/>
              <a:gd name="connsiteX5" fmla="*/ 486000 w 3412273"/>
              <a:gd name="connsiteY5" fmla="*/ 486000 h 972000"/>
              <a:gd name="connsiteX6" fmla="*/ 0 w 3412273"/>
              <a:gd name="connsiteY6" fmla="*/ 0 h 972000"/>
              <a:gd name="connsiteX0" fmla="*/ 0 w 3395797"/>
              <a:gd name="connsiteY0" fmla="*/ 0 h 972000"/>
              <a:gd name="connsiteX1" fmla="*/ 3377964 w 3395797"/>
              <a:gd name="connsiteY1" fmla="*/ 0 h 972000"/>
              <a:gd name="connsiteX2" fmla="*/ 3395797 w 3395797"/>
              <a:gd name="connsiteY2" fmla="*/ 452950 h 972000"/>
              <a:gd name="connsiteX3" fmla="*/ 3377964 w 3395797"/>
              <a:gd name="connsiteY3" fmla="*/ 972000 h 972000"/>
              <a:gd name="connsiteX4" fmla="*/ 0 w 3395797"/>
              <a:gd name="connsiteY4" fmla="*/ 972000 h 972000"/>
              <a:gd name="connsiteX5" fmla="*/ 486000 w 3395797"/>
              <a:gd name="connsiteY5" fmla="*/ 486000 h 972000"/>
              <a:gd name="connsiteX6" fmla="*/ 0 w 3395797"/>
              <a:gd name="connsiteY6" fmla="*/ 0 h 972000"/>
              <a:gd name="connsiteX0" fmla="*/ 0 w 3383440"/>
              <a:gd name="connsiteY0" fmla="*/ 0 h 972000"/>
              <a:gd name="connsiteX1" fmla="*/ 3377964 w 3383440"/>
              <a:gd name="connsiteY1" fmla="*/ 0 h 972000"/>
              <a:gd name="connsiteX2" fmla="*/ 3383440 w 3383440"/>
              <a:gd name="connsiteY2" fmla="*/ 452950 h 972000"/>
              <a:gd name="connsiteX3" fmla="*/ 3377964 w 3383440"/>
              <a:gd name="connsiteY3" fmla="*/ 972000 h 972000"/>
              <a:gd name="connsiteX4" fmla="*/ 0 w 3383440"/>
              <a:gd name="connsiteY4" fmla="*/ 972000 h 972000"/>
              <a:gd name="connsiteX5" fmla="*/ 486000 w 3383440"/>
              <a:gd name="connsiteY5" fmla="*/ 486000 h 972000"/>
              <a:gd name="connsiteX6" fmla="*/ 0 w 3383440"/>
              <a:gd name="connsiteY6" fmla="*/ 0 h 972000"/>
              <a:gd name="connsiteX0" fmla="*/ 0 w 3378294"/>
              <a:gd name="connsiteY0" fmla="*/ 0 h 972000"/>
              <a:gd name="connsiteX1" fmla="*/ 3377964 w 3378294"/>
              <a:gd name="connsiteY1" fmla="*/ 0 h 972000"/>
              <a:gd name="connsiteX2" fmla="*/ 3375202 w 3378294"/>
              <a:gd name="connsiteY2" fmla="*/ 452950 h 972000"/>
              <a:gd name="connsiteX3" fmla="*/ 3377964 w 3378294"/>
              <a:gd name="connsiteY3" fmla="*/ 972000 h 972000"/>
              <a:gd name="connsiteX4" fmla="*/ 0 w 3378294"/>
              <a:gd name="connsiteY4" fmla="*/ 972000 h 972000"/>
              <a:gd name="connsiteX5" fmla="*/ 486000 w 3378294"/>
              <a:gd name="connsiteY5" fmla="*/ 486000 h 972000"/>
              <a:gd name="connsiteX6" fmla="*/ 0 w 3378294"/>
              <a:gd name="connsiteY6" fmla="*/ 0 h 972000"/>
              <a:gd name="connsiteX0" fmla="*/ 0 w 3391677"/>
              <a:gd name="connsiteY0" fmla="*/ 0 h 972000"/>
              <a:gd name="connsiteX1" fmla="*/ 3377964 w 3391677"/>
              <a:gd name="connsiteY1" fmla="*/ 0 h 972000"/>
              <a:gd name="connsiteX2" fmla="*/ 3391677 w 3391677"/>
              <a:gd name="connsiteY2" fmla="*/ 457069 h 972000"/>
              <a:gd name="connsiteX3" fmla="*/ 3377964 w 3391677"/>
              <a:gd name="connsiteY3" fmla="*/ 972000 h 972000"/>
              <a:gd name="connsiteX4" fmla="*/ 0 w 3391677"/>
              <a:gd name="connsiteY4" fmla="*/ 972000 h 972000"/>
              <a:gd name="connsiteX5" fmla="*/ 486000 w 3391677"/>
              <a:gd name="connsiteY5" fmla="*/ 486000 h 972000"/>
              <a:gd name="connsiteX6" fmla="*/ 0 w 3391677"/>
              <a:gd name="connsiteY6" fmla="*/ 0 h 972000"/>
              <a:gd name="connsiteX0" fmla="*/ 0 w 3391677"/>
              <a:gd name="connsiteY0" fmla="*/ 0 h 972000"/>
              <a:gd name="connsiteX1" fmla="*/ 3377964 w 3391677"/>
              <a:gd name="connsiteY1" fmla="*/ 0 h 972000"/>
              <a:gd name="connsiteX2" fmla="*/ 3391677 w 3391677"/>
              <a:gd name="connsiteY2" fmla="*/ 457069 h 972000"/>
              <a:gd name="connsiteX3" fmla="*/ 3377964 w 3391677"/>
              <a:gd name="connsiteY3" fmla="*/ 972000 h 972000"/>
              <a:gd name="connsiteX4" fmla="*/ 0 w 3391677"/>
              <a:gd name="connsiteY4" fmla="*/ 972000 h 972000"/>
              <a:gd name="connsiteX5" fmla="*/ 486000 w 3391677"/>
              <a:gd name="connsiteY5" fmla="*/ 486000 h 972000"/>
              <a:gd name="connsiteX6" fmla="*/ 0 w 3391677"/>
              <a:gd name="connsiteY6" fmla="*/ 0 h 972000"/>
              <a:gd name="connsiteX0" fmla="*/ 0 w 3383440"/>
              <a:gd name="connsiteY0" fmla="*/ 0 h 972000"/>
              <a:gd name="connsiteX1" fmla="*/ 3377964 w 3383440"/>
              <a:gd name="connsiteY1" fmla="*/ 0 h 972000"/>
              <a:gd name="connsiteX2" fmla="*/ 3383440 w 3383440"/>
              <a:gd name="connsiteY2" fmla="*/ 457069 h 972000"/>
              <a:gd name="connsiteX3" fmla="*/ 3377964 w 3383440"/>
              <a:gd name="connsiteY3" fmla="*/ 972000 h 972000"/>
              <a:gd name="connsiteX4" fmla="*/ 0 w 3383440"/>
              <a:gd name="connsiteY4" fmla="*/ 972000 h 972000"/>
              <a:gd name="connsiteX5" fmla="*/ 486000 w 3383440"/>
              <a:gd name="connsiteY5" fmla="*/ 486000 h 972000"/>
              <a:gd name="connsiteX6" fmla="*/ 0 w 3383440"/>
              <a:gd name="connsiteY6" fmla="*/ 0 h 97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383440" h="972000">
                <a:moveTo>
                  <a:pt x="0" y="0"/>
                </a:moveTo>
                <a:lnTo>
                  <a:pt x="3377964" y="0"/>
                </a:lnTo>
                <a:cubicBezTo>
                  <a:pt x="3379789" y="150983"/>
                  <a:pt x="3381615" y="306086"/>
                  <a:pt x="3383440" y="457069"/>
                </a:cubicBezTo>
                <a:cubicBezTo>
                  <a:pt x="3381615" y="630086"/>
                  <a:pt x="3379789" y="798983"/>
                  <a:pt x="3377964" y="972000"/>
                </a:cubicBezTo>
                <a:lnTo>
                  <a:pt x="0" y="972000"/>
                </a:lnTo>
                <a:lnTo>
                  <a:pt x="486000" y="48600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285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622300" algn="ctr"/>
            <a:r>
              <a:rPr lang="ru-RU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Шаг 6. Кодирование </a:t>
            </a:r>
            <a:r>
              <a:rPr lang="ru-RU" sz="22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категор</a:t>
            </a:r>
            <a:r>
              <a:rPr lang="ru-RU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атрибутов. </a:t>
            </a: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6488" y="1173127"/>
            <a:ext cx="616569" cy="612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778" b="100000" l="2667" r="98667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9952" y="1264669"/>
            <a:ext cx="432000" cy="432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73512" y="1267754"/>
            <a:ext cx="324000" cy="428915"/>
          </a:xfrm>
          <a:prstGeom prst="rect">
            <a:avLst/>
          </a:prstGeom>
        </p:spPr>
      </p:pic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5755836D-2945-F6A3-0EA8-3EEB4CE84F37}"/>
              </a:ext>
            </a:extLst>
          </p:cNvPr>
          <p:cNvSpPr/>
          <p:nvPr/>
        </p:nvSpPr>
        <p:spPr>
          <a:xfrm>
            <a:off x="23726" y="6333012"/>
            <a:ext cx="8663074" cy="46166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Курсовой проект «Поиск и первичный анализ наборов данных» </a:t>
            </a:r>
          </a:p>
        </p:txBody>
      </p:sp>
    </p:spTree>
    <p:extLst>
      <p:ext uri="{BB962C8B-B14F-4D97-AF65-F5344CB8AC3E}">
        <p14:creationId xmlns:p14="http://schemas.microsoft.com/office/powerpoint/2010/main" val="27034763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Временные ряды: задача и описание данных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10727473" y="6274415"/>
            <a:ext cx="1360446" cy="588110"/>
          </a:xfrm>
        </p:spPr>
        <p:txBody>
          <a:bodyPr/>
          <a:lstStyle/>
          <a:p>
            <a:r>
              <a:rPr lang="ru-RU" altLang="ru-RU" sz="2800" dirty="0">
                <a:latin typeface="Times New Roman" panose="02020603050405020304" pitchFamily="18" charset="0"/>
              </a:rPr>
              <a:t>8/21</a:t>
            </a:r>
          </a:p>
        </p:txBody>
      </p:sp>
      <p:sp>
        <p:nvSpPr>
          <p:cNvPr id="6" name="Объект 2"/>
          <p:cNvSpPr>
            <a:spLocks noGrp="1"/>
          </p:cNvSpPr>
          <p:nvPr>
            <p:ph idx="1"/>
          </p:nvPr>
        </p:nvSpPr>
        <p:spPr>
          <a:xfrm>
            <a:off x="0" y="847494"/>
            <a:ext cx="12188283" cy="5099281"/>
          </a:xfrm>
        </p:spPr>
        <p:txBody>
          <a:bodyPr/>
          <a:lstStyle/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ru-RU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Задача: </a:t>
            </a: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выполнить прогноз цен финансовых активов (акции NVIDIA) с использованием исторических данных о котировках для принятия инвестиционных решений и разработки торговых стратегий.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ru-RU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Набор данных:</a:t>
            </a:r>
          </a:p>
          <a:p>
            <a:pPr marL="714375" lvl="1" indent="-357188">
              <a:lnSpc>
                <a:spcPct val="100000"/>
              </a:lnSpc>
              <a:spcBef>
                <a:spcPts val="1200"/>
              </a:spcBef>
              <a:buFont typeface="Times New Roman" panose="02020603050405020304" pitchFamily="18" charset="0"/>
              <a:buChar char="−"/>
            </a:pPr>
            <a:r>
              <a:rPr lang="ru-RU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Название, источник: 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NVIDIA Stock Price History (NVDA_yfinance_clean.csv),</a:t>
            </a: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Kaggle</a:t>
            </a: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14375" lvl="1" indent="-357188">
              <a:lnSpc>
                <a:spcPct val="100000"/>
              </a:lnSpc>
              <a:spcBef>
                <a:spcPts val="1200"/>
              </a:spcBef>
              <a:buFont typeface="Times New Roman" panose="02020603050405020304" pitchFamily="18" charset="0"/>
              <a:buChar char="−"/>
            </a:pPr>
            <a:r>
              <a:rPr lang="ru-RU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URL:</a:t>
            </a: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https://www.kaggle.com/datasets/ibrahimshahrukh/nvidia-daily-stock-prices-20162026-dataset</a:t>
            </a: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714375" lvl="1" indent="-357188">
              <a:lnSpc>
                <a:spcPct val="100000"/>
              </a:lnSpc>
              <a:spcBef>
                <a:spcPts val="1200"/>
              </a:spcBef>
              <a:buFont typeface="Times New Roman" panose="02020603050405020304" pitchFamily="18" charset="0"/>
              <a:buChar char="−"/>
            </a:pPr>
            <a:r>
              <a:rPr lang="ru-RU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Описание:</a:t>
            </a: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ежедневные котировки акций NVIDIA Corporation (тикер: NVDA), собранные с помощью библиотеки </a:t>
            </a:r>
            <a:r>
              <a:rPr lang="ru-RU" sz="2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yfinance</a:t>
            </a: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Данные включают цену открытия, максимальную цену, минимальную цену, цену закрытия и объем торгов за период с января 2016 по декабрь 2025 года.</a:t>
            </a:r>
          </a:p>
          <a:p>
            <a:pPr marL="357187" lvl="1" indent="0">
              <a:lnSpc>
                <a:spcPct val="100000"/>
              </a:lnSpc>
              <a:spcBef>
                <a:spcPts val="1200"/>
              </a:spcBef>
              <a:buNone/>
            </a:pPr>
            <a:endParaRPr lang="ru-RU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45847AA-B7CE-AAD8-F485-6457CD5F6D44}"/>
              </a:ext>
            </a:extLst>
          </p:cNvPr>
          <p:cNvSpPr/>
          <p:nvPr/>
        </p:nvSpPr>
        <p:spPr>
          <a:xfrm>
            <a:off x="23726" y="6333012"/>
            <a:ext cx="8663074" cy="46166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Курсовой проект «Поиск и первичный анализ наборов данных» </a:t>
            </a:r>
          </a:p>
        </p:txBody>
      </p:sp>
    </p:spTree>
    <p:extLst>
      <p:ext uri="{BB962C8B-B14F-4D97-AF65-F5344CB8AC3E}">
        <p14:creationId xmlns:p14="http://schemas.microsoft.com/office/powerpoint/2010/main" val="41691916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Временные ряды: визуализация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latin typeface="Times New Roman" panose="02020603050405020304" pitchFamily="18" charset="0"/>
              </a:rPr>
              <a:pPr/>
              <a:t>9</a:t>
            </a:fld>
            <a:r>
              <a:rPr lang="ru-RU" altLang="ru-RU" sz="2800" dirty="0">
                <a:latin typeface="Times New Roman" panose="02020603050405020304" pitchFamily="18" charset="0"/>
              </a:rPr>
              <a:t>/21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6432332" y="965392"/>
                <a:ext cx="5870028" cy="56169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9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Ряд </a:t>
                </a:r>
                <a:r>
                  <a:rPr lang="en-US" sz="19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Close (</a:t>
                </a:r>
                <a:r>
                  <a:rPr lang="ru-RU" sz="19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Цена закрытия):</a:t>
                </a:r>
                <a:endParaRPr lang="ru-RU" sz="1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ru-RU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устойчивый долгосрочный восходящий тренд: рост с ~0,8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ar-AE" sz="19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900">
                            <a:latin typeface="Cambria Math" panose="02040503050406030204" pitchFamily="18" charset="0"/>
                          </a:rPr>
                          <m:t>2016</m:t>
                        </m:r>
                      </m:e>
                    </m:d>
                    <m:r>
                      <m:rPr>
                        <m:nor/>
                      </m:rPr>
                      <a:rPr lang="ru-RU" sz="1900" b="0" smtClean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 до</m:t>
                    </m:r>
                    <m:r>
                      <m:rPr>
                        <m:nor/>
                      </m:rPr>
                      <a:rPr lang="ru-RU" sz="190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ru-RU" sz="1900">
                        <a:latin typeface="Cambria Math" panose="02040503050406030204" pitchFamily="18" charset="0"/>
                      </a:rPr>
                      <m:t>190</m:t>
                    </m:r>
                  </m:oMath>
                </a14:m>
                <a:r>
                  <a:rPr lang="ru-RU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 (2025);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ru-RU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увеличение волатильности с ростом цены;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ru-RU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отсутствие явно выраженной сезонности.</a:t>
                </a:r>
              </a:p>
              <a:p>
                <a:endParaRPr lang="ru-RU" sz="1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ru-RU" sz="19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Ряд </a:t>
                </a:r>
                <a:r>
                  <a:rPr lang="ru-RU" sz="1900" b="1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Volume</a:t>
                </a:r>
                <a:r>
                  <a:rPr lang="ru-RU" sz="19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(Объем торгов):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ru-RU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рост объемов, коррелирующий с ростом цены;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ru-RU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всплески в периоды значительных движений цены;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ru-RU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умеренная отрицательная корреляция с </a:t>
                </a:r>
                <a:r>
                  <a:rPr lang="ru-RU" sz="19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Close</a:t>
                </a:r>
                <a:r>
                  <a:rPr lang="ru-RU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(-0,364).</a:t>
                </a:r>
              </a:p>
              <a:p>
                <a:endParaRPr lang="ru-RU" sz="1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ru-RU" sz="19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Ряды Open, High, </a:t>
                </a:r>
                <a:r>
                  <a:rPr lang="ru-RU" sz="1900" b="1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Low</a:t>
                </a:r>
                <a:r>
                  <a:rPr lang="ru-RU" sz="19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endParaRPr lang="ru-RU" sz="1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ru-RU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поведение, схожее с </a:t>
                </a:r>
                <a:r>
                  <a:rPr lang="ru-RU" sz="19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Close</a:t>
                </a:r>
                <a:r>
                  <a:rPr lang="ru-RU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(сильная корреляция ~1);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ru-RU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дублирование информации о ценах одного актива;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ru-RU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рекомендуется использовать только один признак для прогнозирования.</a:t>
                </a:r>
              </a:p>
              <a:p>
                <a:br>
                  <a:rPr lang="ru-RU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endParaRPr lang="ru-RU" sz="1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2332" y="965392"/>
                <a:ext cx="5870028" cy="5616922"/>
              </a:xfrm>
              <a:prstGeom prst="rect">
                <a:avLst/>
              </a:prstGeom>
              <a:blipFill>
                <a:blip r:embed="rId2"/>
                <a:stretch>
                  <a:fillRect l="-935" t="-542" r="-10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40A370A-187E-3493-56F5-B4ADC986DC5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413753"/>
            <a:ext cx="6432332" cy="4030493"/>
          </a:xfrm>
          <a:prstGeom prst="rect">
            <a:avLst/>
          </a:prstGeom>
        </p:spPr>
      </p:pic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4D490145-CD7C-C51A-5E0F-B06D73FEDB91}"/>
              </a:ext>
            </a:extLst>
          </p:cNvPr>
          <p:cNvSpPr/>
          <p:nvPr/>
        </p:nvSpPr>
        <p:spPr>
          <a:xfrm>
            <a:off x="23726" y="6333012"/>
            <a:ext cx="8663074" cy="46166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Курсовой проект «Поиск и первичный анализ наборов данных» </a:t>
            </a:r>
          </a:p>
        </p:txBody>
      </p:sp>
    </p:spTree>
    <p:extLst>
      <p:ext uri="{BB962C8B-B14F-4D97-AF65-F5344CB8AC3E}">
        <p14:creationId xmlns:p14="http://schemas.microsoft.com/office/powerpoint/2010/main" val="13742910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временных рядов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latin typeface="Times New Roman" panose="02020603050405020304" pitchFamily="18" charset="0"/>
              </a:rPr>
              <a:pPr/>
              <a:t>10</a:t>
            </a:fld>
            <a:r>
              <a:rPr lang="ru-RU" altLang="ru-RU" sz="2800" dirty="0">
                <a:latin typeface="Times New Roman" panose="02020603050405020304" pitchFamily="18" charset="0"/>
              </a:rPr>
              <a:t>/21</a:t>
            </a:r>
          </a:p>
        </p:txBody>
      </p:sp>
      <p:sp>
        <p:nvSpPr>
          <p:cNvPr id="6" name="Пятиугольник 5"/>
          <p:cNvSpPr/>
          <p:nvPr/>
        </p:nvSpPr>
        <p:spPr>
          <a:xfrm>
            <a:off x="1740664" y="1044381"/>
            <a:ext cx="5706638" cy="972000"/>
          </a:xfrm>
          <a:prstGeom prst="homePlate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Шаг 1. </a:t>
            </a:r>
            <a:br>
              <a:rPr lang="ru-RU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Качество данных.</a:t>
            </a:r>
          </a:p>
        </p:txBody>
      </p:sp>
      <p:sp>
        <p:nvSpPr>
          <p:cNvPr id="8" name="Нашивка 7"/>
          <p:cNvSpPr/>
          <p:nvPr/>
        </p:nvSpPr>
        <p:spPr>
          <a:xfrm>
            <a:off x="7280031" y="1044379"/>
            <a:ext cx="4679357" cy="972000"/>
          </a:xfrm>
          <a:prstGeom prst="chevron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447675" algn="ctr"/>
            <a:r>
              <a:rPr lang="ru-RU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Шаг 2. </a:t>
            </a:r>
          </a:p>
          <a:p>
            <a:pPr marL="447675" algn="ctr"/>
            <a:r>
              <a:rPr lang="ru-RU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Корреляционный</a:t>
            </a:r>
          </a:p>
          <a:p>
            <a:pPr marL="447675" algn="ctr"/>
            <a:r>
              <a:rPr lang="ru-RU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анализ.</a:t>
            </a:r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7182939"/>
              </p:ext>
            </p:extLst>
          </p:nvPr>
        </p:nvGraphicFramePr>
        <p:xfrm>
          <a:off x="0" y="2132811"/>
          <a:ext cx="12191999" cy="41416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01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467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85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959866">
                <a:tc>
                  <a:txBody>
                    <a:bodyPr/>
                    <a:lstStyle/>
                    <a:p>
                      <a:pPr algn="ctr"/>
                      <a:r>
                        <a:rPr lang="ru-RU" sz="2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Результаты</a:t>
                      </a:r>
                    </a:p>
                  </a:txBody>
                  <a:tcPr marL="36000" marR="36000"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2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Пропуски отсутствуют во всех измерениях (0%).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2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Выбросы: Open (0,7%), High (0,6%), </a:t>
                      </a:r>
                      <a:r>
                        <a:rPr lang="ru-RU" sz="2200" b="0" i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Low</a:t>
                      </a:r>
                      <a:r>
                        <a:rPr lang="ru-RU" sz="22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(0,8%), </a:t>
                      </a:r>
                      <a:r>
                        <a:rPr lang="ru-RU" sz="2200" b="0" i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Close</a:t>
                      </a:r>
                      <a:r>
                        <a:rPr lang="ru-RU" sz="22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(0,6%), </a:t>
                      </a:r>
                      <a:r>
                        <a:rPr lang="ru-RU" sz="2200" b="0" i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Volume</a:t>
                      </a:r>
                      <a:r>
                        <a:rPr lang="ru-RU" sz="22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(1,4%).</a:t>
                      </a:r>
                      <a:endParaRPr lang="ru-RU" sz="22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2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Сильная положительная корреляция между Open, High, </a:t>
                      </a:r>
                      <a:r>
                        <a:rPr lang="ru-RU" sz="2200" b="0" i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Low</a:t>
                      </a:r>
                      <a:r>
                        <a:rPr lang="ru-RU" sz="22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ru-RU" sz="2200" b="0" i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Close</a:t>
                      </a:r>
                      <a:r>
                        <a:rPr lang="ru-RU" sz="22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(~1,00).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2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Умеренная отрицательная корреляция </a:t>
                      </a:r>
                      <a:r>
                        <a:rPr lang="ru-RU" sz="2200" b="0" i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Volume</a:t>
                      </a:r>
                      <a:r>
                        <a:rPr lang="ru-RU" sz="22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и </a:t>
                      </a:r>
                      <a:r>
                        <a:rPr lang="ru-RU" sz="2200" b="0" i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Close</a:t>
                      </a:r>
                      <a:r>
                        <a:rPr lang="ru-RU" sz="22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(-0,364).</a:t>
                      </a:r>
                      <a:endParaRPr lang="ru-RU" sz="22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R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81737">
                <a:tc>
                  <a:txBody>
                    <a:bodyPr/>
                    <a:lstStyle/>
                    <a:p>
                      <a:pPr algn="ctr"/>
                      <a:r>
                        <a:rPr lang="ru-RU" sz="22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Действия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2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Заполнение пропусков не требуется.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2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Выбросы не удалять (содержат важную рыночную информацию).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2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При чувствительности модели к выбросам - использовать </a:t>
                      </a:r>
                      <a:r>
                        <a:rPr lang="ru-RU" sz="22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RobustScaler</a:t>
                      </a:r>
                      <a:r>
                        <a:rPr lang="ru-RU" sz="22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.</a:t>
                      </a:r>
                      <a:endParaRPr lang="ru-RU" sz="2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2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Из-за </a:t>
                      </a:r>
                      <a:r>
                        <a:rPr lang="ru-RU" sz="22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мультиколлинеарности</a:t>
                      </a:r>
                      <a:r>
                        <a:rPr lang="ru-RU" sz="22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использовать только один ценовой признак (</a:t>
                      </a:r>
                      <a:r>
                        <a:rPr lang="ru-RU" sz="22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Close</a:t>
                      </a:r>
                      <a:r>
                        <a:rPr lang="ru-RU" sz="22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).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2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Volume</a:t>
                      </a:r>
                      <a:r>
                        <a:rPr lang="ru-RU" sz="22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учитывать как дополнительный признак.</a:t>
                      </a:r>
                      <a:endParaRPr lang="ru-RU" sz="2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2" name="Рисунок 11"/>
          <p:cNvPicPr>
            <a:picLocks noChangeAspect="1"/>
          </p:cNvPicPr>
          <p:nvPr/>
        </p:nvPicPr>
        <p:blipFill>
          <a:blip r:embed="rId2" cstate="print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367" b="100000" l="2344" r="96094">
                        <a14:foregroundMark x1="17383" y1="52734" x2="17383" y2="52734"/>
                        <a14:foregroundMark x1="18945" y1="69727" x2="18945" y2="69727"/>
                        <a14:foregroundMark x1="19336" y1="83789" x2="19336" y2="83789"/>
                        <a14:foregroundMark x1="60352" y1="82422" x2="60352" y2="82422"/>
                        <a14:backgroundMark x1="45703" y1="18945" x2="45703" y2="18945"/>
                        <a14:backgroundMark x1="69336" y1="23438" x2="69336" y2="2343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3497" y="1109648"/>
            <a:ext cx="648000" cy="648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4" cstate="print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4240" y="1236879"/>
            <a:ext cx="540000" cy="540000"/>
          </a:xfrm>
          <a:prstGeom prst="rect">
            <a:avLst/>
          </a:prstGeom>
        </p:spPr>
      </p:pic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4EEFA333-FC74-FC7A-41E2-34EC1A899BE8}"/>
              </a:ext>
            </a:extLst>
          </p:cNvPr>
          <p:cNvSpPr/>
          <p:nvPr/>
        </p:nvSpPr>
        <p:spPr>
          <a:xfrm>
            <a:off x="23726" y="6333012"/>
            <a:ext cx="8663074" cy="46166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Курсовой проект «Поиск и первичный анализ наборов данных» </a:t>
            </a:r>
          </a:p>
        </p:txBody>
      </p:sp>
    </p:spTree>
    <p:extLst>
      <p:ext uri="{BB962C8B-B14F-4D97-AF65-F5344CB8AC3E}">
        <p14:creationId xmlns:p14="http://schemas.microsoft.com/office/powerpoint/2010/main" val="4809924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временных рядов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latin typeface="Times New Roman" panose="02020603050405020304" pitchFamily="18" charset="0"/>
              </a:rPr>
              <a:pPr/>
              <a:t>11</a:t>
            </a:fld>
            <a:r>
              <a:rPr lang="ru-RU" altLang="ru-RU" sz="2800" dirty="0">
                <a:latin typeface="Times New Roman" panose="02020603050405020304" pitchFamily="18" charset="0"/>
              </a:rPr>
              <a:t>/21</a:t>
            </a:r>
          </a:p>
        </p:txBody>
      </p:sp>
      <p:sp>
        <p:nvSpPr>
          <p:cNvPr id="7" name="Нашивка 6"/>
          <p:cNvSpPr/>
          <p:nvPr/>
        </p:nvSpPr>
        <p:spPr>
          <a:xfrm>
            <a:off x="1818500" y="1044380"/>
            <a:ext cx="5168454" cy="972000"/>
          </a:xfrm>
          <a:prstGeom prst="chevron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0" rtlCol="0" anchor="ctr"/>
          <a:lstStyle/>
          <a:p>
            <a:pPr marL="363538" algn="ctr"/>
            <a:r>
              <a:rPr lang="ru-RU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Шаг 3. Проверка </a:t>
            </a:r>
            <a:br>
              <a:rPr lang="ru-RU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на диапазоны значений.</a:t>
            </a:r>
          </a:p>
        </p:txBody>
      </p:sp>
      <p:sp>
        <p:nvSpPr>
          <p:cNvPr id="8" name="Нашивка 7"/>
          <p:cNvSpPr/>
          <p:nvPr/>
        </p:nvSpPr>
        <p:spPr>
          <a:xfrm>
            <a:off x="6814698" y="1044379"/>
            <a:ext cx="5321783" cy="972000"/>
          </a:xfrm>
          <a:prstGeom prst="chevron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447675" algn="ctr"/>
            <a:r>
              <a:rPr lang="ru-RU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Шаг 4. </a:t>
            </a:r>
          </a:p>
          <a:p>
            <a:pPr marL="447675" algn="ctr"/>
            <a:r>
              <a:rPr lang="ru-RU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Распределения измерений.</a:t>
            </a:r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1745381"/>
              </p:ext>
            </p:extLst>
          </p:nvPr>
        </p:nvGraphicFramePr>
        <p:xfrm>
          <a:off x="1" y="2105916"/>
          <a:ext cx="12136480" cy="406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86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372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405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96000"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Результаты</a:t>
                      </a:r>
                    </a:p>
                  </a:txBody>
                  <a:tcPr marL="36000" marR="36000"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Значительное различие в масштабах измерений:</a:t>
                      </a:r>
                      <a:br>
                        <a:rPr lang="ru-RU" sz="20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Close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∈ [0,62; 207,03],</a:t>
                      </a:r>
                      <a:br>
                        <a:rPr lang="ru-RU" sz="20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Volume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∈ [65,5M; 3692,9M].</a:t>
                      </a:r>
                      <a:br>
                        <a:rPr lang="ru-RU" sz="2000" b="0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endParaRPr lang="ru-RU" sz="20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Close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: правосторонняя асимметрия (среднее &gt; медианы).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Volume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: асимметричное распределение с выбросами.</a:t>
                      </a:r>
                      <a:endParaRPr lang="ru-RU" sz="20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2000"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Действия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Применение нормализации (</a:t>
                      </a:r>
                      <a:r>
                        <a:rPr lang="ru-RU" sz="20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StandardScaler</a:t>
                      </a: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или </a:t>
                      </a:r>
                      <a:r>
                        <a:rPr lang="ru-RU" sz="20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MinMaxScaler</a:t>
                      </a: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) перед подачей данных в прогнозную модель.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Логарифмическое преобразование для </a:t>
                      </a:r>
                      <a:r>
                        <a:rPr lang="ru-RU" sz="20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Close</a:t>
                      </a: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.</a:t>
                      </a:r>
                      <a:endParaRPr lang="ru-RU" sz="20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Использование более устойчивой к выбросам метрики качества модели (например, MAE).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Применение логарифмирования для борьбы с асимметрией.</a:t>
                      </a:r>
                      <a:endParaRPr lang="ru-RU" sz="2000" baseline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2" name="Рисунок 11"/>
          <p:cNvPicPr>
            <a:picLocks noChangeAspect="1"/>
          </p:cNvPicPr>
          <p:nvPr/>
        </p:nvPicPr>
        <p:blipFill>
          <a:blip r:embed="rId2" cstate="print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4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1359" y="1187431"/>
            <a:ext cx="612000" cy="612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9914" y="1187431"/>
            <a:ext cx="616569" cy="612000"/>
          </a:xfrm>
          <a:prstGeom prst="rect">
            <a:avLst/>
          </a:prstGeom>
        </p:spPr>
      </p:pic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06319542-FAB1-1606-D3E4-72D49A8A3CB9}"/>
              </a:ext>
            </a:extLst>
          </p:cNvPr>
          <p:cNvSpPr/>
          <p:nvPr/>
        </p:nvSpPr>
        <p:spPr>
          <a:xfrm>
            <a:off x="23726" y="6333012"/>
            <a:ext cx="8663074" cy="46166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Курсовой проект «Поиск и первичный анализ наборов данных» </a:t>
            </a:r>
          </a:p>
        </p:txBody>
      </p:sp>
    </p:spTree>
    <p:extLst>
      <p:ext uri="{BB962C8B-B14F-4D97-AF65-F5344CB8AC3E}">
        <p14:creationId xmlns:p14="http://schemas.microsoft.com/office/powerpoint/2010/main" val="20933686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временных рядов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latin typeface="Times New Roman" panose="02020603050405020304" pitchFamily="18" charset="0"/>
              </a:rPr>
              <a:pPr/>
              <a:t>12</a:t>
            </a:fld>
            <a:r>
              <a:rPr lang="ru-RU" altLang="ru-RU" sz="2800" dirty="0">
                <a:latin typeface="Times New Roman" panose="02020603050405020304" pitchFamily="18" charset="0"/>
              </a:rPr>
              <a:t>/21</a:t>
            </a:r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945149"/>
              </p:ext>
            </p:extLst>
          </p:nvPr>
        </p:nvGraphicFramePr>
        <p:xfrm>
          <a:off x="0" y="2166567"/>
          <a:ext cx="12191999" cy="40244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77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331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510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30495"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Результаты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Явно выраженной сезонности не обнаружено (характерно для финансовых данных).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Устойчивый восходящий тренд (особенно усиливается в последние годы).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Нестационарный ряд (есть тренд).</a:t>
                      </a:r>
                      <a:endParaRPr lang="ru-RU" sz="20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Показатель SNR = 15,6 дБ (удовлетворительный уровень).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Сигнал и шум сравнимы по мощности.</a:t>
                      </a:r>
                      <a:endParaRPr lang="ru-RU" sz="20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R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51852"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Действия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Дифференцирование (взятие разностей) для приведения к стационарности.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Для нейросетевых моделей тренд можно не удалять.</a:t>
                      </a:r>
                      <a:endParaRPr lang="ru-RU" sz="20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Данные пригодны для анализа, но требуется фильтрация для повышения точности моделей.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Применить скользящее среднее, медианный фильтр или экспоненциальное сглаживание.</a:t>
                      </a:r>
                      <a:endParaRPr lang="ru-RU" sz="20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Нашивка 7"/>
          <p:cNvSpPr/>
          <p:nvPr/>
        </p:nvSpPr>
        <p:spPr>
          <a:xfrm>
            <a:off x="6826469" y="1037757"/>
            <a:ext cx="4934607" cy="972000"/>
          </a:xfrm>
          <a:custGeom>
            <a:avLst/>
            <a:gdLst>
              <a:gd name="connsiteX0" fmla="*/ 0 w 3863964"/>
              <a:gd name="connsiteY0" fmla="*/ 0 h 972000"/>
              <a:gd name="connsiteX1" fmla="*/ 3377964 w 3863964"/>
              <a:gd name="connsiteY1" fmla="*/ 0 h 972000"/>
              <a:gd name="connsiteX2" fmla="*/ 3863964 w 3863964"/>
              <a:gd name="connsiteY2" fmla="*/ 486000 h 972000"/>
              <a:gd name="connsiteX3" fmla="*/ 3377964 w 3863964"/>
              <a:gd name="connsiteY3" fmla="*/ 972000 h 972000"/>
              <a:gd name="connsiteX4" fmla="*/ 0 w 3863964"/>
              <a:gd name="connsiteY4" fmla="*/ 972000 h 972000"/>
              <a:gd name="connsiteX5" fmla="*/ 486000 w 3863964"/>
              <a:gd name="connsiteY5" fmla="*/ 486000 h 972000"/>
              <a:gd name="connsiteX6" fmla="*/ 0 w 3863964"/>
              <a:gd name="connsiteY6" fmla="*/ 0 h 972000"/>
              <a:gd name="connsiteX0" fmla="*/ 0 w 3377964"/>
              <a:gd name="connsiteY0" fmla="*/ 0 h 972000"/>
              <a:gd name="connsiteX1" fmla="*/ 3377964 w 3377964"/>
              <a:gd name="connsiteY1" fmla="*/ 0 h 972000"/>
              <a:gd name="connsiteX2" fmla="*/ 3335155 w 3377964"/>
              <a:gd name="connsiteY2" fmla="*/ 452950 h 972000"/>
              <a:gd name="connsiteX3" fmla="*/ 3377964 w 3377964"/>
              <a:gd name="connsiteY3" fmla="*/ 972000 h 972000"/>
              <a:gd name="connsiteX4" fmla="*/ 0 w 3377964"/>
              <a:gd name="connsiteY4" fmla="*/ 972000 h 972000"/>
              <a:gd name="connsiteX5" fmla="*/ 486000 w 3377964"/>
              <a:gd name="connsiteY5" fmla="*/ 486000 h 972000"/>
              <a:gd name="connsiteX6" fmla="*/ 0 w 3377964"/>
              <a:gd name="connsiteY6" fmla="*/ 0 h 972000"/>
              <a:gd name="connsiteX0" fmla="*/ 0 w 3412273"/>
              <a:gd name="connsiteY0" fmla="*/ 0 h 972000"/>
              <a:gd name="connsiteX1" fmla="*/ 3377964 w 3412273"/>
              <a:gd name="connsiteY1" fmla="*/ 0 h 972000"/>
              <a:gd name="connsiteX2" fmla="*/ 3412273 w 3412273"/>
              <a:gd name="connsiteY2" fmla="*/ 452950 h 972000"/>
              <a:gd name="connsiteX3" fmla="*/ 3377964 w 3412273"/>
              <a:gd name="connsiteY3" fmla="*/ 972000 h 972000"/>
              <a:gd name="connsiteX4" fmla="*/ 0 w 3412273"/>
              <a:gd name="connsiteY4" fmla="*/ 972000 h 972000"/>
              <a:gd name="connsiteX5" fmla="*/ 486000 w 3412273"/>
              <a:gd name="connsiteY5" fmla="*/ 486000 h 972000"/>
              <a:gd name="connsiteX6" fmla="*/ 0 w 3412273"/>
              <a:gd name="connsiteY6" fmla="*/ 0 h 972000"/>
              <a:gd name="connsiteX0" fmla="*/ 0 w 3395797"/>
              <a:gd name="connsiteY0" fmla="*/ 0 h 972000"/>
              <a:gd name="connsiteX1" fmla="*/ 3377964 w 3395797"/>
              <a:gd name="connsiteY1" fmla="*/ 0 h 972000"/>
              <a:gd name="connsiteX2" fmla="*/ 3395797 w 3395797"/>
              <a:gd name="connsiteY2" fmla="*/ 452950 h 972000"/>
              <a:gd name="connsiteX3" fmla="*/ 3377964 w 3395797"/>
              <a:gd name="connsiteY3" fmla="*/ 972000 h 972000"/>
              <a:gd name="connsiteX4" fmla="*/ 0 w 3395797"/>
              <a:gd name="connsiteY4" fmla="*/ 972000 h 972000"/>
              <a:gd name="connsiteX5" fmla="*/ 486000 w 3395797"/>
              <a:gd name="connsiteY5" fmla="*/ 486000 h 972000"/>
              <a:gd name="connsiteX6" fmla="*/ 0 w 3395797"/>
              <a:gd name="connsiteY6" fmla="*/ 0 h 972000"/>
              <a:gd name="connsiteX0" fmla="*/ 0 w 3383440"/>
              <a:gd name="connsiteY0" fmla="*/ 0 h 972000"/>
              <a:gd name="connsiteX1" fmla="*/ 3377964 w 3383440"/>
              <a:gd name="connsiteY1" fmla="*/ 0 h 972000"/>
              <a:gd name="connsiteX2" fmla="*/ 3383440 w 3383440"/>
              <a:gd name="connsiteY2" fmla="*/ 452950 h 972000"/>
              <a:gd name="connsiteX3" fmla="*/ 3377964 w 3383440"/>
              <a:gd name="connsiteY3" fmla="*/ 972000 h 972000"/>
              <a:gd name="connsiteX4" fmla="*/ 0 w 3383440"/>
              <a:gd name="connsiteY4" fmla="*/ 972000 h 972000"/>
              <a:gd name="connsiteX5" fmla="*/ 486000 w 3383440"/>
              <a:gd name="connsiteY5" fmla="*/ 486000 h 972000"/>
              <a:gd name="connsiteX6" fmla="*/ 0 w 3383440"/>
              <a:gd name="connsiteY6" fmla="*/ 0 h 972000"/>
              <a:gd name="connsiteX0" fmla="*/ 0 w 3378294"/>
              <a:gd name="connsiteY0" fmla="*/ 0 h 972000"/>
              <a:gd name="connsiteX1" fmla="*/ 3377964 w 3378294"/>
              <a:gd name="connsiteY1" fmla="*/ 0 h 972000"/>
              <a:gd name="connsiteX2" fmla="*/ 3375202 w 3378294"/>
              <a:gd name="connsiteY2" fmla="*/ 452950 h 972000"/>
              <a:gd name="connsiteX3" fmla="*/ 3377964 w 3378294"/>
              <a:gd name="connsiteY3" fmla="*/ 972000 h 972000"/>
              <a:gd name="connsiteX4" fmla="*/ 0 w 3378294"/>
              <a:gd name="connsiteY4" fmla="*/ 972000 h 972000"/>
              <a:gd name="connsiteX5" fmla="*/ 486000 w 3378294"/>
              <a:gd name="connsiteY5" fmla="*/ 486000 h 972000"/>
              <a:gd name="connsiteX6" fmla="*/ 0 w 3378294"/>
              <a:gd name="connsiteY6" fmla="*/ 0 h 972000"/>
              <a:gd name="connsiteX0" fmla="*/ 0 w 3391677"/>
              <a:gd name="connsiteY0" fmla="*/ 0 h 972000"/>
              <a:gd name="connsiteX1" fmla="*/ 3377964 w 3391677"/>
              <a:gd name="connsiteY1" fmla="*/ 0 h 972000"/>
              <a:gd name="connsiteX2" fmla="*/ 3391677 w 3391677"/>
              <a:gd name="connsiteY2" fmla="*/ 457069 h 972000"/>
              <a:gd name="connsiteX3" fmla="*/ 3377964 w 3391677"/>
              <a:gd name="connsiteY3" fmla="*/ 972000 h 972000"/>
              <a:gd name="connsiteX4" fmla="*/ 0 w 3391677"/>
              <a:gd name="connsiteY4" fmla="*/ 972000 h 972000"/>
              <a:gd name="connsiteX5" fmla="*/ 486000 w 3391677"/>
              <a:gd name="connsiteY5" fmla="*/ 486000 h 972000"/>
              <a:gd name="connsiteX6" fmla="*/ 0 w 3391677"/>
              <a:gd name="connsiteY6" fmla="*/ 0 h 972000"/>
              <a:gd name="connsiteX0" fmla="*/ 0 w 3391677"/>
              <a:gd name="connsiteY0" fmla="*/ 0 h 972000"/>
              <a:gd name="connsiteX1" fmla="*/ 3377964 w 3391677"/>
              <a:gd name="connsiteY1" fmla="*/ 0 h 972000"/>
              <a:gd name="connsiteX2" fmla="*/ 3391677 w 3391677"/>
              <a:gd name="connsiteY2" fmla="*/ 457069 h 972000"/>
              <a:gd name="connsiteX3" fmla="*/ 3377964 w 3391677"/>
              <a:gd name="connsiteY3" fmla="*/ 972000 h 972000"/>
              <a:gd name="connsiteX4" fmla="*/ 0 w 3391677"/>
              <a:gd name="connsiteY4" fmla="*/ 972000 h 972000"/>
              <a:gd name="connsiteX5" fmla="*/ 486000 w 3391677"/>
              <a:gd name="connsiteY5" fmla="*/ 486000 h 972000"/>
              <a:gd name="connsiteX6" fmla="*/ 0 w 3391677"/>
              <a:gd name="connsiteY6" fmla="*/ 0 h 972000"/>
              <a:gd name="connsiteX0" fmla="*/ 0 w 3383440"/>
              <a:gd name="connsiteY0" fmla="*/ 0 h 972000"/>
              <a:gd name="connsiteX1" fmla="*/ 3377964 w 3383440"/>
              <a:gd name="connsiteY1" fmla="*/ 0 h 972000"/>
              <a:gd name="connsiteX2" fmla="*/ 3383440 w 3383440"/>
              <a:gd name="connsiteY2" fmla="*/ 457069 h 972000"/>
              <a:gd name="connsiteX3" fmla="*/ 3377964 w 3383440"/>
              <a:gd name="connsiteY3" fmla="*/ 972000 h 972000"/>
              <a:gd name="connsiteX4" fmla="*/ 0 w 3383440"/>
              <a:gd name="connsiteY4" fmla="*/ 972000 h 972000"/>
              <a:gd name="connsiteX5" fmla="*/ 486000 w 3383440"/>
              <a:gd name="connsiteY5" fmla="*/ 486000 h 972000"/>
              <a:gd name="connsiteX6" fmla="*/ 0 w 3383440"/>
              <a:gd name="connsiteY6" fmla="*/ 0 h 972000"/>
              <a:gd name="connsiteX0" fmla="*/ 0 w 3383440"/>
              <a:gd name="connsiteY0" fmla="*/ 0 h 972000"/>
              <a:gd name="connsiteX1" fmla="*/ 3377964 w 3383440"/>
              <a:gd name="connsiteY1" fmla="*/ 0 h 972000"/>
              <a:gd name="connsiteX2" fmla="*/ 3383440 w 3383440"/>
              <a:gd name="connsiteY2" fmla="*/ 457069 h 972000"/>
              <a:gd name="connsiteX3" fmla="*/ 3377964 w 3383440"/>
              <a:gd name="connsiteY3" fmla="*/ 972000 h 972000"/>
              <a:gd name="connsiteX4" fmla="*/ 0 w 3383440"/>
              <a:gd name="connsiteY4" fmla="*/ 972000 h 972000"/>
              <a:gd name="connsiteX5" fmla="*/ 356490 w 3383440"/>
              <a:gd name="connsiteY5" fmla="*/ 497723 h 972000"/>
              <a:gd name="connsiteX6" fmla="*/ 0 w 3383440"/>
              <a:gd name="connsiteY6" fmla="*/ 0 h 97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383440" h="972000">
                <a:moveTo>
                  <a:pt x="0" y="0"/>
                </a:moveTo>
                <a:lnTo>
                  <a:pt x="3377964" y="0"/>
                </a:lnTo>
                <a:cubicBezTo>
                  <a:pt x="3379789" y="150983"/>
                  <a:pt x="3381615" y="306086"/>
                  <a:pt x="3383440" y="457069"/>
                </a:cubicBezTo>
                <a:cubicBezTo>
                  <a:pt x="3381615" y="630086"/>
                  <a:pt x="3379789" y="798983"/>
                  <a:pt x="3377964" y="972000"/>
                </a:cubicBezTo>
                <a:lnTo>
                  <a:pt x="0" y="972000"/>
                </a:lnTo>
                <a:lnTo>
                  <a:pt x="356490" y="497723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622300" algn="ctr"/>
            <a:r>
              <a:rPr lang="ru-RU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Шаг 6. </a:t>
            </a:r>
          </a:p>
          <a:p>
            <a:pPr marL="622300" algn="ctr"/>
            <a:r>
              <a:rPr lang="ru-RU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Поиск и анализ шумов.</a:t>
            </a:r>
          </a:p>
        </p:txBody>
      </p:sp>
      <p:sp>
        <p:nvSpPr>
          <p:cNvPr id="7" name="Нашивка 6"/>
          <p:cNvSpPr/>
          <p:nvPr/>
        </p:nvSpPr>
        <p:spPr>
          <a:xfrm>
            <a:off x="1835279" y="1037757"/>
            <a:ext cx="5196142" cy="972000"/>
          </a:xfrm>
          <a:prstGeom prst="chevron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444500" algn="ctr"/>
            <a:r>
              <a:rPr lang="ru-RU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Шаг 5. </a:t>
            </a:r>
          </a:p>
          <a:p>
            <a:pPr marL="720725" algn="ctr"/>
            <a:r>
              <a:rPr lang="ru-RU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Разложение на компоненты </a:t>
            </a:r>
          </a:p>
          <a:p>
            <a:pPr marL="355600" algn="ctr"/>
            <a:r>
              <a:rPr lang="ru-RU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(декомпозиция).  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6675" y="1255750"/>
            <a:ext cx="504000" cy="50400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7608" y="1176253"/>
            <a:ext cx="656825" cy="656825"/>
          </a:xfrm>
          <a:prstGeom prst="rect">
            <a:avLst/>
          </a:prstGeom>
        </p:spPr>
      </p:pic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D4CB64BE-C2B1-C2A1-41A0-5398C347B2DF}"/>
              </a:ext>
            </a:extLst>
          </p:cNvPr>
          <p:cNvSpPr/>
          <p:nvPr/>
        </p:nvSpPr>
        <p:spPr>
          <a:xfrm>
            <a:off x="23726" y="6333012"/>
            <a:ext cx="8663074" cy="46166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Курсовой проект «Поиск и первичный анализ наборов данных» </a:t>
            </a:r>
          </a:p>
        </p:txBody>
      </p:sp>
    </p:spTree>
    <p:extLst>
      <p:ext uri="{BB962C8B-B14F-4D97-AF65-F5344CB8AC3E}">
        <p14:creationId xmlns:p14="http://schemas.microsoft.com/office/powerpoint/2010/main" val="12585727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DCEE87-4C66-81DA-07E7-896E0125E7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8564F8-718E-AA23-A92F-6ACCCC2CA4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Изображения: задача и описание данных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6BFF030-4E28-AD34-CC76-7CBFCDDD8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latin typeface="Times New Roman" panose="02020603050405020304" pitchFamily="18" charset="0"/>
              </a:rPr>
              <a:pPr/>
              <a:t>13</a:t>
            </a:fld>
            <a:r>
              <a:rPr lang="ru-RU" altLang="ru-RU" sz="2800" dirty="0">
                <a:latin typeface="Times New Roman" panose="02020603050405020304" pitchFamily="18" charset="0"/>
              </a:rPr>
              <a:t>/21</a:t>
            </a:r>
          </a:p>
        </p:txBody>
      </p:sp>
      <p:sp>
        <p:nvSpPr>
          <p:cNvPr id="6" name="Объект 2">
            <a:extLst>
              <a:ext uri="{FF2B5EF4-FFF2-40B4-BE49-F238E27FC236}">
                <a16:creationId xmlns:a16="http://schemas.microsoft.com/office/drawing/2014/main" id="{3AFFD191-87DD-DCDC-CD8B-73A528A2E8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022738"/>
            <a:ext cx="12188283" cy="5099281"/>
          </a:xfrm>
        </p:spPr>
        <p:txBody>
          <a:bodyPr/>
          <a:lstStyle/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Задача: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выполнить бинарную классификацию изображений для автоматического определения наличия кошки или собаки на фотографии.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Набор данных:</a:t>
            </a:r>
          </a:p>
          <a:p>
            <a:pPr marL="714375" lvl="1" indent="-357188">
              <a:lnSpc>
                <a:spcPct val="100000"/>
              </a:lnSpc>
              <a:spcBef>
                <a:spcPts val="1200"/>
              </a:spcBef>
              <a:buFont typeface="Times New Roman" panose="02020603050405020304" pitchFamily="18" charset="0"/>
              <a:buChar char="−"/>
            </a:pP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Название, источник: 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Cat and Dog, Kaggle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14375" lvl="1" indent="-357188">
              <a:lnSpc>
                <a:spcPct val="100000"/>
              </a:lnSpc>
              <a:spcBef>
                <a:spcPts val="1200"/>
              </a:spcBef>
              <a:buFont typeface="Times New Roman" panose="02020603050405020304" pitchFamily="18" charset="0"/>
              <a:buChar char="−"/>
            </a:pP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URL: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https://www.kaggle.com/datasets/tongpython/cat-and-dog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714375" lvl="1" indent="-357188">
              <a:lnSpc>
                <a:spcPct val="100000"/>
              </a:lnSpc>
              <a:spcBef>
                <a:spcPts val="1200"/>
              </a:spcBef>
              <a:buFont typeface="Times New Roman" panose="02020603050405020304" pitchFamily="18" charset="0"/>
              <a:buChar char="−"/>
            </a:pP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Описание: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изображения кошек и собак из открытых источников. Для работы используется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подвыборка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из 400 изображений (200 кошек + 200 собак). Формат файлов: JPG/PNG, цветовой режим: RGB.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E52A9D3B-5E7B-87E8-3764-8DF664FB754B}"/>
              </a:ext>
            </a:extLst>
          </p:cNvPr>
          <p:cNvSpPr/>
          <p:nvPr/>
        </p:nvSpPr>
        <p:spPr>
          <a:xfrm>
            <a:off x="23726" y="6333012"/>
            <a:ext cx="8663074" cy="46166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Курсовой проект «Поиск и первичный анализ наборов данных» </a:t>
            </a:r>
          </a:p>
        </p:txBody>
      </p:sp>
    </p:spTree>
    <p:extLst>
      <p:ext uri="{BB962C8B-B14F-4D97-AF65-F5344CB8AC3E}">
        <p14:creationId xmlns:p14="http://schemas.microsoft.com/office/powerpoint/2010/main" val="41550037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2D6DE-7B64-8732-641C-A4C45687B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D571F10-8CD1-C152-1102-FB22E8568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Изображения: визуализация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1659260-82F0-FFE6-C2A3-B27542845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latin typeface="Times New Roman" panose="02020603050405020304" pitchFamily="18" charset="0"/>
              </a:rPr>
              <a:pPr/>
              <a:t>14</a:t>
            </a:fld>
            <a:r>
              <a:rPr lang="ru-RU" altLang="ru-RU" sz="2800" dirty="0">
                <a:latin typeface="Times New Roman" panose="02020603050405020304" pitchFamily="18" charset="0"/>
              </a:rPr>
              <a:t>/21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D4A7AF-DF05-2D72-0092-722EA8624F74}"/>
              </a:ext>
            </a:extLst>
          </p:cNvPr>
          <p:cNvSpPr txBox="1"/>
          <p:nvPr/>
        </p:nvSpPr>
        <p:spPr>
          <a:xfrm>
            <a:off x="6558456" y="948690"/>
            <a:ext cx="5633544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Класс </a:t>
            </a:r>
            <a:r>
              <a:rPr lang="ru-RU" sz="21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Cat</a:t>
            </a:r>
            <a:r>
              <a:rPr lang="ru-RU" sz="2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(Кошка):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200 изображений;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разнообразие ракурсов, освещения и фонов;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разные породы и окрасы.</a:t>
            </a:r>
          </a:p>
          <a:p>
            <a:endParaRPr lang="ru-RU" sz="2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Класс </a:t>
            </a:r>
            <a:r>
              <a:rPr lang="ru-RU" sz="21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Dog</a:t>
            </a:r>
            <a:r>
              <a:rPr lang="ru-RU" sz="2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(Собака):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200 изображений;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разнообразие ракурсов, освещения и фонов;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разные породы и окрасы.</a:t>
            </a:r>
          </a:p>
          <a:p>
            <a:endParaRPr lang="ru-RU" sz="2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Распределение размеров: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минимум: 95×75 </a:t>
            </a:r>
            <a:r>
              <a:rPr lang="ru-RU" sz="2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px</a:t>
            </a:r>
            <a:r>
              <a:rPr lang="ru-RU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максимум: 500×500 </a:t>
            </a:r>
            <a:r>
              <a:rPr lang="ru-RU" sz="2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px</a:t>
            </a:r>
            <a:r>
              <a:rPr lang="ru-RU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среднее: 405×364 </a:t>
            </a:r>
            <a:r>
              <a:rPr lang="ru-RU" sz="2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px</a:t>
            </a:r>
            <a:r>
              <a:rPr lang="ru-RU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23 изображения (5,8%) имеют ширину &lt; 200 </a:t>
            </a:r>
            <a:r>
              <a:rPr lang="ru-RU" sz="2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px</a:t>
            </a:r>
            <a:r>
              <a:rPr lang="ru-RU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br>
              <a:rPr lang="ru-RU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ru-RU" sz="2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3349FD2-605F-F96A-159F-BC96F450CD0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30" r="4062"/>
          <a:stretch>
            <a:fillRect/>
          </a:stretch>
        </p:blipFill>
        <p:spPr>
          <a:xfrm>
            <a:off x="0" y="1180647"/>
            <a:ext cx="6558455" cy="4275945"/>
          </a:xfrm>
          <a:prstGeom prst="rect">
            <a:avLst/>
          </a:prstGeom>
        </p:spPr>
      </p:pic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6124FFDF-16EA-B197-903C-437B3A63F278}"/>
              </a:ext>
            </a:extLst>
          </p:cNvPr>
          <p:cNvSpPr/>
          <p:nvPr/>
        </p:nvSpPr>
        <p:spPr>
          <a:xfrm>
            <a:off x="23726" y="6333012"/>
            <a:ext cx="8663074" cy="46166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Курсовой проект «Поиск и первичный анализ наборов данных» </a:t>
            </a:r>
          </a:p>
        </p:txBody>
      </p:sp>
    </p:spTree>
    <p:extLst>
      <p:ext uri="{BB962C8B-B14F-4D97-AF65-F5344CB8AC3E}">
        <p14:creationId xmlns:p14="http://schemas.microsoft.com/office/powerpoint/2010/main" val="13849419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2A7BE-E11D-322A-0F3C-219973B08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98A582-E14A-210A-4E5D-C4C8B07F63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изображений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10C6F27-D725-7583-D707-B6EC1A208F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latin typeface="Times New Roman" panose="02020603050405020304" pitchFamily="18" charset="0"/>
              </a:rPr>
              <a:pPr/>
              <a:t>15</a:t>
            </a:fld>
            <a:r>
              <a:rPr lang="ru-RU" altLang="ru-RU" sz="2800" dirty="0">
                <a:latin typeface="Times New Roman" panose="02020603050405020304" pitchFamily="18" charset="0"/>
              </a:rPr>
              <a:t>/21</a:t>
            </a:r>
          </a:p>
        </p:txBody>
      </p:sp>
      <p:sp>
        <p:nvSpPr>
          <p:cNvPr id="3" name="Пятиугольник 2">
            <a:extLst>
              <a:ext uri="{FF2B5EF4-FFF2-40B4-BE49-F238E27FC236}">
                <a16:creationId xmlns:a16="http://schemas.microsoft.com/office/drawing/2014/main" id="{C97342FB-5921-94C7-BD6B-EF45CEAC3588}"/>
              </a:ext>
            </a:extLst>
          </p:cNvPr>
          <p:cNvSpPr/>
          <p:nvPr/>
        </p:nvSpPr>
        <p:spPr>
          <a:xfrm>
            <a:off x="1777037" y="963140"/>
            <a:ext cx="3338112" cy="972000"/>
          </a:xfrm>
          <a:prstGeom prst="homePlate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Шаг 1. </a:t>
            </a:r>
            <a:br>
              <a:rPr lang="ru-RU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Качество данных.</a:t>
            </a:r>
          </a:p>
        </p:txBody>
      </p:sp>
      <p:sp>
        <p:nvSpPr>
          <p:cNvPr id="7" name="Нашивка 6">
            <a:extLst>
              <a:ext uri="{FF2B5EF4-FFF2-40B4-BE49-F238E27FC236}">
                <a16:creationId xmlns:a16="http://schemas.microsoft.com/office/drawing/2014/main" id="{8106E410-9F5F-9FFD-5859-2BBE0A81FD86}"/>
              </a:ext>
            </a:extLst>
          </p:cNvPr>
          <p:cNvSpPr/>
          <p:nvPr/>
        </p:nvSpPr>
        <p:spPr>
          <a:xfrm>
            <a:off x="4769860" y="963140"/>
            <a:ext cx="3975357" cy="972000"/>
          </a:xfrm>
          <a:prstGeom prst="chevron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0" rtlCol="0" anchor="ctr"/>
          <a:lstStyle/>
          <a:p>
            <a:pPr marL="625475" algn="ctr"/>
            <a:r>
              <a:rPr lang="ru-RU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Шаг 2. Баланс классов.</a:t>
            </a:r>
          </a:p>
        </p:txBody>
      </p:sp>
      <p:sp>
        <p:nvSpPr>
          <p:cNvPr id="8" name="Нашивка 7">
            <a:extLst>
              <a:ext uri="{FF2B5EF4-FFF2-40B4-BE49-F238E27FC236}">
                <a16:creationId xmlns:a16="http://schemas.microsoft.com/office/drawing/2014/main" id="{A07B25E3-D4BE-AB8D-F9D3-98539053ABE5}"/>
              </a:ext>
            </a:extLst>
          </p:cNvPr>
          <p:cNvSpPr/>
          <p:nvPr/>
        </p:nvSpPr>
        <p:spPr>
          <a:xfrm>
            <a:off x="8454820" y="963140"/>
            <a:ext cx="3736553" cy="972000"/>
          </a:xfrm>
          <a:prstGeom prst="chevron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447675" algn="ctr"/>
            <a:r>
              <a:rPr lang="ru-RU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Шаг 3. Размеры изображений.</a:t>
            </a:r>
          </a:p>
        </p:txBody>
      </p:sp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id="{DFE5ACE2-E173-10A4-5EE3-4E570D41AF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9584007"/>
              </p:ext>
            </p:extLst>
          </p:nvPr>
        </p:nvGraphicFramePr>
        <p:xfrm>
          <a:off x="0" y="1975036"/>
          <a:ext cx="12087920" cy="42993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61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21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753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447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01874"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Результаты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Пропуски отсутствуют.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Формат: RGB (100%).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Все изображения читаются корректно.</a:t>
                      </a:r>
                      <a:endParaRPr lang="ru-RU" sz="20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8288" marR="0" lvl="0" indent="-26828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Идеальный баланс классов: 200 кошек + 200 собак (50/50).</a:t>
                      </a:r>
                      <a:endParaRPr lang="ru-RU" sz="20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Диапазон размеров: от 95×75 до 500×500 </a:t>
                      </a: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px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.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Средний размер: 405×364 </a:t>
                      </a: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px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.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23 изображения с шириной &lt; 200 </a:t>
                      </a: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px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(5,8%).</a:t>
                      </a:r>
                      <a:endParaRPr lang="ru-RU" sz="20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97505"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Действия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Дополнительная унификация цветовых режимов не требуется.</a:t>
                      </a:r>
                      <a:endParaRPr lang="ru-RU" sz="2000" noProof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Дисбаланс отсутствует, методы борьбы не требуются.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Удалить 23 маленьких изображения.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Привести к единому размеру 224×224 с </a:t>
                      </a:r>
                      <a:r>
                        <a:rPr lang="ru-RU" sz="20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паддингом</a:t>
                      </a: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.</a:t>
                      </a:r>
                      <a:endParaRPr lang="ru-RU" sz="20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377B9AF7-A3AA-2FB5-2A33-3EE5843959C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biLevel thresh="7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4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50327" y="1216529"/>
            <a:ext cx="540000" cy="54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ECDC7715-4ED9-8612-B41F-3A6FCE2D11D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biLevel thresh="75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367" b="100000" l="2344" r="96094">
                        <a14:foregroundMark x1="17383" y1="52734" x2="17383" y2="52734"/>
                        <a14:foregroundMark x1="18945" y1="69727" x2="18945" y2="69727"/>
                        <a14:foregroundMark x1="19336" y1="83789" x2="19336" y2="83789"/>
                        <a14:foregroundMark x1="60352" y1="82422" x2="60352" y2="82422"/>
                        <a14:backgroundMark x1="45703" y1="18945" x2="45703" y2="18945"/>
                        <a14:backgroundMark x1="69336" y1="23438" x2="69336" y2="2343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8903" y="1073840"/>
            <a:ext cx="612000" cy="612000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7D5A959-EEEE-0E18-7A48-EA5D5E6361E5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5925" y="1144529"/>
            <a:ext cx="616569" cy="612000"/>
          </a:xfrm>
          <a:prstGeom prst="rect">
            <a:avLst/>
          </a:prstGeom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D8BD44D-4374-2936-AC07-AF872CBBD99A}"/>
              </a:ext>
            </a:extLst>
          </p:cNvPr>
          <p:cNvSpPr/>
          <p:nvPr/>
        </p:nvSpPr>
        <p:spPr>
          <a:xfrm>
            <a:off x="23726" y="6333012"/>
            <a:ext cx="8663074" cy="46166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Курсовой проект «Поиск и первичный анализ наборов данных» </a:t>
            </a:r>
          </a:p>
        </p:txBody>
      </p:sp>
    </p:spTree>
    <p:extLst>
      <p:ext uri="{BB962C8B-B14F-4D97-AF65-F5344CB8AC3E}">
        <p14:creationId xmlns:p14="http://schemas.microsoft.com/office/powerpoint/2010/main" val="21532384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EC5AEA-A6BC-42F3-F6B4-67684202A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AE74AA8-565D-3809-79DA-EB7D4AA206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временных рядов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BF4B30A-F01B-667D-6D3F-B84EA2D5FC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latin typeface="Times New Roman" panose="02020603050405020304" pitchFamily="18" charset="0"/>
              </a:rPr>
              <a:pPr/>
              <a:t>16</a:t>
            </a:fld>
            <a:r>
              <a:rPr lang="ru-RU" altLang="ru-RU" sz="2800" dirty="0">
                <a:latin typeface="Times New Roman" panose="02020603050405020304" pitchFamily="18" charset="0"/>
              </a:rPr>
              <a:t>/21</a:t>
            </a:r>
          </a:p>
        </p:txBody>
      </p:sp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id="{5333FAB1-629F-04DC-D209-7947913501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335375"/>
              </p:ext>
            </p:extLst>
          </p:nvPr>
        </p:nvGraphicFramePr>
        <p:xfrm>
          <a:off x="86949" y="2166567"/>
          <a:ext cx="11964007" cy="4107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77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372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490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19165"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Результаты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Разнообразие ракурсов (анфас, профиль, сверху).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Разные условия освещения.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Различные фоны (дом, улица, трава).</a:t>
                      </a:r>
                      <a:endParaRPr lang="ru-RU" sz="20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Объем выборки (200 на класс) - минимально достаточный.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Высокий риск переобучения.</a:t>
                      </a:r>
                      <a:endParaRPr lang="ru-RU" sz="20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R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8683"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Действия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Разметка выполнена на уровне директорий, ручная проверка подтвердила корректность.</a:t>
                      </a:r>
                      <a:endParaRPr lang="ru-RU" sz="20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Обязательное применение аугментации:</a:t>
                      </a:r>
                      <a:br>
                        <a:rPr lang="ru-RU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— случайные повороты (±15°);</a:t>
                      </a:r>
                      <a:br>
                        <a:rPr lang="ru-RU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— горизонтальное отражение (50%);</a:t>
                      </a:r>
                      <a:br>
                        <a:rPr lang="ru-RU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— изменение яркости и контраста (±20%);</a:t>
                      </a:r>
                      <a:br>
                        <a:rPr lang="ru-RU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— масштабирование (0,9-1,1).</a:t>
                      </a:r>
                      <a:endParaRPr lang="ru-RU" sz="20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Нашивка 7">
            <a:extLst>
              <a:ext uri="{FF2B5EF4-FFF2-40B4-BE49-F238E27FC236}">
                <a16:creationId xmlns:a16="http://schemas.microsoft.com/office/drawing/2014/main" id="{B83F7D5C-4510-A969-2A5A-2B11CEBC5C29}"/>
              </a:ext>
            </a:extLst>
          </p:cNvPr>
          <p:cNvSpPr/>
          <p:nvPr/>
        </p:nvSpPr>
        <p:spPr>
          <a:xfrm>
            <a:off x="6764215" y="1037757"/>
            <a:ext cx="4900247" cy="972000"/>
          </a:xfrm>
          <a:custGeom>
            <a:avLst/>
            <a:gdLst>
              <a:gd name="connsiteX0" fmla="*/ 0 w 3863964"/>
              <a:gd name="connsiteY0" fmla="*/ 0 h 972000"/>
              <a:gd name="connsiteX1" fmla="*/ 3377964 w 3863964"/>
              <a:gd name="connsiteY1" fmla="*/ 0 h 972000"/>
              <a:gd name="connsiteX2" fmla="*/ 3863964 w 3863964"/>
              <a:gd name="connsiteY2" fmla="*/ 486000 h 972000"/>
              <a:gd name="connsiteX3" fmla="*/ 3377964 w 3863964"/>
              <a:gd name="connsiteY3" fmla="*/ 972000 h 972000"/>
              <a:gd name="connsiteX4" fmla="*/ 0 w 3863964"/>
              <a:gd name="connsiteY4" fmla="*/ 972000 h 972000"/>
              <a:gd name="connsiteX5" fmla="*/ 486000 w 3863964"/>
              <a:gd name="connsiteY5" fmla="*/ 486000 h 972000"/>
              <a:gd name="connsiteX6" fmla="*/ 0 w 3863964"/>
              <a:gd name="connsiteY6" fmla="*/ 0 h 972000"/>
              <a:gd name="connsiteX0" fmla="*/ 0 w 3377964"/>
              <a:gd name="connsiteY0" fmla="*/ 0 h 972000"/>
              <a:gd name="connsiteX1" fmla="*/ 3377964 w 3377964"/>
              <a:gd name="connsiteY1" fmla="*/ 0 h 972000"/>
              <a:gd name="connsiteX2" fmla="*/ 3335155 w 3377964"/>
              <a:gd name="connsiteY2" fmla="*/ 452950 h 972000"/>
              <a:gd name="connsiteX3" fmla="*/ 3377964 w 3377964"/>
              <a:gd name="connsiteY3" fmla="*/ 972000 h 972000"/>
              <a:gd name="connsiteX4" fmla="*/ 0 w 3377964"/>
              <a:gd name="connsiteY4" fmla="*/ 972000 h 972000"/>
              <a:gd name="connsiteX5" fmla="*/ 486000 w 3377964"/>
              <a:gd name="connsiteY5" fmla="*/ 486000 h 972000"/>
              <a:gd name="connsiteX6" fmla="*/ 0 w 3377964"/>
              <a:gd name="connsiteY6" fmla="*/ 0 h 972000"/>
              <a:gd name="connsiteX0" fmla="*/ 0 w 3412273"/>
              <a:gd name="connsiteY0" fmla="*/ 0 h 972000"/>
              <a:gd name="connsiteX1" fmla="*/ 3377964 w 3412273"/>
              <a:gd name="connsiteY1" fmla="*/ 0 h 972000"/>
              <a:gd name="connsiteX2" fmla="*/ 3412273 w 3412273"/>
              <a:gd name="connsiteY2" fmla="*/ 452950 h 972000"/>
              <a:gd name="connsiteX3" fmla="*/ 3377964 w 3412273"/>
              <a:gd name="connsiteY3" fmla="*/ 972000 h 972000"/>
              <a:gd name="connsiteX4" fmla="*/ 0 w 3412273"/>
              <a:gd name="connsiteY4" fmla="*/ 972000 h 972000"/>
              <a:gd name="connsiteX5" fmla="*/ 486000 w 3412273"/>
              <a:gd name="connsiteY5" fmla="*/ 486000 h 972000"/>
              <a:gd name="connsiteX6" fmla="*/ 0 w 3412273"/>
              <a:gd name="connsiteY6" fmla="*/ 0 h 972000"/>
              <a:gd name="connsiteX0" fmla="*/ 0 w 3395797"/>
              <a:gd name="connsiteY0" fmla="*/ 0 h 972000"/>
              <a:gd name="connsiteX1" fmla="*/ 3377964 w 3395797"/>
              <a:gd name="connsiteY1" fmla="*/ 0 h 972000"/>
              <a:gd name="connsiteX2" fmla="*/ 3395797 w 3395797"/>
              <a:gd name="connsiteY2" fmla="*/ 452950 h 972000"/>
              <a:gd name="connsiteX3" fmla="*/ 3377964 w 3395797"/>
              <a:gd name="connsiteY3" fmla="*/ 972000 h 972000"/>
              <a:gd name="connsiteX4" fmla="*/ 0 w 3395797"/>
              <a:gd name="connsiteY4" fmla="*/ 972000 h 972000"/>
              <a:gd name="connsiteX5" fmla="*/ 486000 w 3395797"/>
              <a:gd name="connsiteY5" fmla="*/ 486000 h 972000"/>
              <a:gd name="connsiteX6" fmla="*/ 0 w 3395797"/>
              <a:gd name="connsiteY6" fmla="*/ 0 h 972000"/>
              <a:gd name="connsiteX0" fmla="*/ 0 w 3383440"/>
              <a:gd name="connsiteY0" fmla="*/ 0 h 972000"/>
              <a:gd name="connsiteX1" fmla="*/ 3377964 w 3383440"/>
              <a:gd name="connsiteY1" fmla="*/ 0 h 972000"/>
              <a:gd name="connsiteX2" fmla="*/ 3383440 w 3383440"/>
              <a:gd name="connsiteY2" fmla="*/ 452950 h 972000"/>
              <a:gd name="connsiteX3" fmla="*/ 3377964 w 3383440"/>
              <a:gd name="connsiteY3" fmla="*/ 972000 h 972000"/>
              <a:gd name="connsiteX4" fmla="*/ 0 w 3383440"/>
              <a:gd name="connsiteY4" fmla="*/ 972000 h 972000"/>
              <a:gd name="connsiteX5" fmla="*/ 486000 w 3383440"/>
              <a:gd name="connsiteY5" fmla="*/ 486000 h 972000"/>
              <a:gd name="connsiteX6" fmla="*/ 0 w 3383440"/>
              <a:gd name="connsiteY6" fmla="*/ 0 h 972000"/>
              <a:gd name="connsiteX0" fmla="*/ 0 w 3378294"/>
              <a:gd name="connsiteY0" fmla="*/ 0 h 972000"/>
              <a:gd name="connsiteX1" fmla="*/ 3377964 w 3378294"/>
              <a:gd name="connsiteY1" fmla="*/ 0 h 972000"/>
              <a:gd name="connsiteX2" fmla="*/ 3375202 w 3378294"/>
              <a:gd name="connsiteY2" fmla="*/ 452950 h 972000"/>
              <a:gd name="connsiteX3" fmla="*/ 3377964 w 3378294"/>
              <a:gd name="connsiteY3" fmla="*/ 972000 h 972000"/>
              <a:gd name="connsiteX4" fmla="*/ 0 w 3378294"/>
              <a:gd name="connsiteY4" fmla="*/ 972000 h 972000"/>
              <a:gd name="connsiteX5" fmla="*/ 486000 w 3378294"/>
              <a:gd name="connsiteY5" fmla="*/ 486000 h 972000"/>
              <a:gd name="connsiteX6" fmla="*/ 0 w 3378294"/>
              <a:gd name="connsiteY6" fmla="*/ 0 h 972000"/>
              <a:gd name="connsiteX0" fmla="*/ 0 w 3391677"/>
              <a:gd name="connsiteY0" fmla="*/ 0 h 972000"/>
              <a:gd name="connsiteX1" fmla="*/ 3377964 w 3391677"/>
              <a:gd name="connsiteY1" fmla="*/ 0 h 972000"/>
              <a:gd name="connsiteX2" fmla="*/ 3391677 w 3391677"/>
              <a:gd name="connsiteY2" fmla="*/ 457069 h 972000"/>
              <a:gd name="connsiteX3" fmla="*/ 3377964 w 3391677"/>
              <a:gd name="connsiteY3" fmla="*/ 972000 h 972000"/>
              <a:gd name="connsiteX4" fmla="*/ 0 w 3391677"/>
              <a:gd name="connsiteY4" fmla="*/ 972000 h 972000"/>
              <a:gd name="connsiteX5" fmla="*/ 486000 w 3391677"/>
              <a:gd name="connsiteY5" fmla="*/ 486000 h 972000"/>
              <a:gd name="connsiteX6" fmla="*/ 0 w 3391677"/>
              <a:gd name="connsiteY6" fmla="*/ 0 h 972000"/>
              <a:gd name="connsiteX0" fmla="*/ 0 w 3391677"/>
              <a:gd name="connsiteY0" fmla="*/ 0 h 972000"/>
              <a:gd name="connsiteX1" fmla="*/ 3377964 w 3391677"/>
              <a:gd name="connsiteY1" fmla="*/ 0 h 972000"/>
              <a:gd name="connsiteX2" fmla="*/ 3391677 w 3391677"/>
              <a:gd name="connsiteY2" fmla="*/ 457069 h 972000"/>
              <a:gd name="connsiteX3" fmla="*/ 3377964 w 3391677"/>
              <a:gd name="connsiteY3" fmla="*/ 972000 h 972000"/>
              <a:gd name="connsiteX4" fmla="*/ 0 w 3391677"/>
              <a:gd name="connsiteY4" fmla="*/ 972000 h 972000"/>
              <a:gd name="connsiteX5" fmla="*/ 486000 w 3391677"/>
              <a:gd name="connsiteY5" fmla="*/ 486000 h 972000"/>
              <a:gd name="connsiteX6" fmla="*/ 0 w 3391677"/>
              <a:gd name="connsiteY6" fmla="*/ 0 h 972000"/>
              <a:gd name="connsiteX0" fmla="*/ 0 w 3383440"/>
              <a:gd name="connsiteY0" fmla="*/ 0 h 972000"/>
              <a:gd name="connsiteX1" fmla="*/ 3377964 w 3383440"/>
              <a:gd name="connsiteY1" fmla="*/ 0 h 972000"/>
              <a:gd name="connsiteX2" fmla="*/ 3383440 w 3383440"/>
              <a:gd name="connsiteY2" fmla="*/ 457069 h 972000"/>
              <a:gd name="connsiteX3" fmla="*/ 3377964 w 3383440"/>
              <a:gd name="connsiteY3" fmla="*/ 972000 h 972000"/>
              <a:gd name="connsiteX4" fmla="*/ 0 w 3383440"/>
              <a:gd name="connsiteY4" fmla="*/ 972000 h 972000"/>
              <a:gd name="connsiteX5" fmla="*/ 486000 w 3383440"/>
              <a:gd name="connsiteY5" fmla="*/ 486000 h 972000"/>
              <a:gd name="connsiteX6" fmla="*/ 0 w 3383440"/>
              <a:gd name="connsiteY6" fmla="*/ 0 h 972000"/>
              <a:gd name="connsiteX0" fmla="*/ 0 w 3383440"/>
              <a:gd name="connsiteY0" fmla="*/ 0 h 972000"/>
              <a:gd name="connsiteX1" fmla="*/ 3377964 w 3383440"/>
              <a:gd name="connsiteY1" fmla="*/ 0 h 972000"/>
              <a:gd name="connsiteX2" fmla="*/ 3383440 w 3383440"/>
              <a:gd name="connsiteY2" fmla="*/ 457069 h 972000"/>
              <a:gd name="connsiteX3" fmla="*/ 3377964 w 3383440"/>
              <a:gd name="connsiteY3" fmla="*/ 972000 h 972000"/>
              <a:gd name="connsiteX4" fmla="*/ 0 w 3383440"/>
              <a:gd name="connsiteY4" fmla="*/ 972000 h 972000"/>
              <a:gd name="connsiteX5" fmla="*/ 356490 w 3383440"/>
              <a:gd name="connsiteY5" fmla="*/ 497723 h 972000"/>
              <a:gd name="connsiteX6" fmla="*/ 0 w 3383440"/>
              <a:gd name="connsiteY6" fmla="*/ 0 h 97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383440" h="972000">
                <a:moveTo>
                  <a:pt x="0" y="0"/>
                </a:moveTo>
                <a:lnTo>
                  <a:pt x="3377964" y="0"/>
                </a:lnTo>
                <a:cubicBezTo>
                  <a:pt x="3379789" y="150983"/>
                  <a:pt x="3381615" y="306086"/>
                  <a:pt x="3383440" y="457069"/>
                </a:cubicBezTo>
                <a:cubicBezTo>
                  <a:pt x="3381615" y="630086"/>
                  <a:pt x="3379789" y="798983"/>
                  <a:pt x="3377964" y="972000"/>
                </a:cubicBezTo>
                <a:lnTo>
                  <a:pt x="0" y="972000"/>
                </a:lnTo>
                <a:lnTo>
                  <a:pt x="356490" y="497723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622300" algn="ctr"/>
            <a:r>
              <a:rPr lang="ru-RU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Шаг 5. </a:t>
            </a:r>
          </a:p>
          <a:p>
            <a:pPr marL="622300" algn="ctr"/>
            <a:r>
              <a:rPr lang="ru-RU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Аугментация.</a:t>
            </a:r>
            <a:endParaRPr lang="ru-RU" sz="2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Нашивка 6">
            <a:extLst>
              <a:ext uri="{FF2B5EF4-FFF2-40B4-BE49-F238E27FC236}">
                <a16:creationId xmlns:a16="http://schemas.microsoft.com/office/drawing/2014/main" id="{C1D4C3D4-6132-8B7A-50B7-1019E844FAD2}"/>
              </a:ext>
            </a:extLst>
          </p:cNvPr>
          <p:cNvSpPr/>
          <p:nvPr/>
        </p:nvSpPr>
        <p:spPr>
          <a:xfrm>
            <a:off x="1835279" y="1037757"/>
            <a:ext cx="5188608" cy="972000"/>
          </a:xfrm>
          <a:prstGeom prst="chevron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444500" algn="ctr"/>
            <a:r>
              <a:rPr lang="ru-RU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Шаг 4. </a:t>
            </a:r>
          </a:p>
          <a:p>
            <a:pPr marL="720725" algn="ctr"/>
            <a:r>
              <a:rPr lang="ru-RU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Примеры изображений.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70562C8D-D6AB-78A9-420C-0136F091F92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9776" y="1195344"/>
            <a:ext cx="656825" cy="656825"/>
          </a:xfrm>
          <a:prstGeom prst="rect">
            <a:avLst/>
          </a:prstGeom>
        </p:spPr>
      </p:pic>
      <p:pic>
        <p:nvPicPr>
          <p:cNvPr id="10" name="Рисунок 9" descr="Изображение со сплошной заливкой">
            <a:extLst>
              <a:ext uri="{FF2B5EF4-FFF2-40B4-BE49-F238E27FC236}">
                <a16:creationId xmlns:a16="http://schemas.microsoft.com/office/drawing/2014/main" id="{3DA285B7-2862-F280-858C-3BAA16793E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59079" y="1112815"/>
            <a:ext cx="749342" cy="749342"/>
          </a:xfrm>
          <a:prstGeom prst="rect">
            <a:avLst/>
          </a:prstGeom>
        </p:spPr>
      </p:pic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615C5808-4A4B-46E7-F9EB-CF25CF18E7F1}"/>
              </a:ext>
            </a:extLst>
          </p:cNvPr>
          <p:cNvSpPr/>
          <p:nvPr/>
        </p:nvSpPr>
        <p:spPr>
          <a:xfrm>
            <a:off x="23726" y="6333012"/>
            <a:ext cx="8663074" cy="46166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Курсовой проект «Поиск и первичный анализ наборов данных» </a:t>
            </a:r>
          </a:p>
        </p:txBody>
      </p:sp>
    </p:spTree>
    <p:extLst>
      <p:ext uri="{BB962C8B-B14F-4D97-AF65-F5344CB8AC3E}">
        <p14:creationId xmlns:p14="http://schemas.microsoft.com/office/powerpoint/2010/main" val="9952407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D75CE-43CE-1307-9C1B-17B33C21E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A7DC90-847C-EFCD-7F00-CA04648AAF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Текстовые данные: задача и описание данных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33DF8F1-F204-106E-E63C-325A8B6DC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latin typeface="Times New Roman" panose="02020603050405020304" pitchFamily="18" charset="0"/>
              </a:rPr>
              <a:pPr/>
              <a:t>17</a:t>
            </a:fld>
            <a:r>
              <a:rPr lang="ru-RU" altLang="ru-RU" sz="2800" dirty="0">
                <a:latin typeface="Times New Roman" panose="02020603050405020304" pitchFamily="18" charset="0"/>
              </a:rPr>
              <a:t>/21</a:t>
            </a:r>
          </a:p>
        </p:txBody>
      </p:sp>
      <p:sp>
        <p:nvSpPr>
          <p:cNvPr id="6" name="Объект 2">
            <a:extLst>
              <a:ext uri="{FF2B5EF4-FFF2-40B4-BE49-F238E27FC236}">
                <a16:creationId xmlns:a16="http://schemas.microsoft.com/office/drawing/2014/main" id="{F6EF5742-15A1-F9F6-1AD8-79E6050524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022738"/>
            <a:ext cx="12188283" cy="5099281"/>
          </a:xfrm>
        </p:spPr>
        <p:txBody>
          <a:bodyPr/>
          <a:lstStyle/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Задача: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выполнить анализ тональности русскоязычных отзывов о товарах (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многоклассовая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классификация: позитивный, нейтральный, негативный).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Набор данных:</a:t>
            </a:r>
          </a:p>
          <a:p>
            <a:pPr marL="714375" lvl="1" indent="-357188">
              <a:lnSpc>
                <a:spcPct val="100000"/>
              </a:lnSpc>
              <a:spcBef>
                <a:spcPts val="1200"/>
              </a:spcBef>
              <a:buFont typeface="Times New Roman" panose="02020603050405020304" pitchFamily="18" charset="0"/>
              <a:buChar char="−"/>
            </a:pP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Название, источник: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RuReviews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GitHub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14375" lvl="1" indent="-357188">
              <a:lnSpc>
                <a:spcPct val="100000"/>
              </a:lnSpc>
              <a:spcBef>
                <a:spcPts val="1200"/>
              </a:spcBef>
              <a:buFont typeface="Times New Roman" panose="02020603050405020304" pitchFamily="18" charset="0"/>
              <a:buChar char="−"/>
            </a:pP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URL: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https://github.com/sismetanin/rureviews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714375" lvl="1" indent="-357188">
              <a:lnSpc>
                <a:spcPct val="100000"/>
              </a:lnSpc>
              <a:spcBef>
                <a:spcPts val="1200"/>
              </a:spcBef>
              <a:buFont typeface="Times New Roman" panose="02020603050405020304" pitchFamily="18" charset="0"/>
              <a:buChar char="−"/>
            </a:pP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Описание: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русскоязычные отзывы с маркетплейса. Для работы используется версия с 1016 отзывами (338 негативных, 339 нейтральных, 339 позитивных). Исходные 5-балльные оценки преобразованы в 3 класса.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B767C710-23DC-D0DF-A182-BC73D7B67E75}"/>
              </a:ext>
            </a:extLst>
          </p:cNvPr>
          <p:cNvSpPr/>
          <p:nvPr/>
        </p:nvSpPr>
        <p:spPr>
          <a:xfrm>
            <a:off x="23726" y="6333012"/>
            <a:ext cx="8663074" cy="46166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Курсовой проект «Поиск и первичный анализ наборов данных» </a:t>
            </a:r>
          </a:p>
        </p:txBody>
      </p:sp>
    </p:spTree>
    <p:extLst>
      <p:ext uri="{BB962C8B-B14F-4D97-AF65-F5344CB8AC3E}">
        <p14:creationId xmlns:p14="http://schemas.microsoft.com/office/powerpoint/2010/main" val="23570358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37570-3FBB-3853-2243-0BDDA8AFD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86C93A8-0DBA-1E6C-B52D-A81B3BAF5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Текстовые данные: визуализация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A1FC0D4-AC63-9EC9-5C4D-5E62AA80A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latin typeface="Times New Roman" panose="02020603050405020304" pitchFamily="18" charset="0"/>
              </a:rPr>
              <a:pPr/>
              <a:t>18</a:t>
            </a:fld>
            <a:r>
              <a:rPr lang="ru-RU" altLang="ru-RU" sz="2800" dirty="0">
                <a:latin typeface="Times New Roman" panose="02020603050405020304" pitchFamily="18" charset="0"/>
              </a:rPr>
              <a:t>/21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45D01D-6429-797F-699F-FB48CF779415}"/>
              </a:ext>
            </a:extLst>
          </p:cNvPr>
          <p:cNvSpPr txBox="1"/>
          <p:nvPr/>
        </p:nvSpPr>
        <p:spPr>
          <a:xfrm>
            <a:off x="6558456" y="948690"/>
            <a:ext cx="5633544" cy="5940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Класс </a:t>
            </a:r>
            <a:r>
              <a:rPr lang="ru-RU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Negative</a:t>
            </a:r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(Негативный):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338 отзывов (~33,3%);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ключевые слова: «не», «продавец», «деньги», «вернуть», «спор».</a:t>
            </a:r>
          </a:p>
          <a:p>
            <a:pPr lvl="1"/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Класс </a:t>
            </a:r>
            <a:r>
              <a:rPr lang="ru-RU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Neutral</a:t>
            </a:r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(Нейтральный):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339 отзывов (~33,4%);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ключевые слова: «размер», «качество», «носить», «доставка».</a:t>
            </a:r>
          </a:p>
          <a:p>
            <a:pPr lvl="1"/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Класс </a:t>
            </a:r>
            <a:r>
              <a:rPr lang="ru-RU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Positive</a:t>
            </a:r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(Позитивный):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339 отзывов (~33,4%);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ключевые слова: «спасибо», «хороший», «отличный», «рекомендую».</a:t>
            </a:r>
          </a:p>
          <a:p>
            <a:pPr lvl="1"/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Распределение классов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идеально сбалансировано (≈33,3% на класс).</a:t>
            </a:r>
          </a:p>
          <a:p>
            <a:b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6BBF8AD-66E0-21C3-D0C8-6926FC83CF5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649" r="33885" b="17767"/>
          <a:stretch>
            <a:fillRect/>
          </a:stretch>
        </p:blipFill>
        <p:spPr bwMode="auto">
          <a:xfrm>
            <a:off x="298100" y="1090842"/>
            <a:ext cx="5956263" cy="2692882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9277AA2-A049-48E2-E86B-ED0E80CAAD5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483" t="20649" b="22782"/>
          <a:stretch>
            <a:fillRect/>
          </a:stretch>
        </p:blipFill>
        <p:spPr bwMode="auto">
          <a:xfrm>
            <a:off x="1813036" y="3570890"/>
            <a:ext cx="3181032" cy="253036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5E5C13C1-B88A-1007-E325-E88B411E159B}"/>
              </a:ext>
            </a:extLst>
          </p:cNvPr>
          <p:cNvSpPr/>
          <p:nvPr/>
        </p:nvSpPr>
        <p:spPr>
          <a:xfrm>
            <a:off x="23726" y="6333012"/>
            <a:ext cx="8663074" cy="46166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Курсовой проект «Поиск и первичный анализ наборов данных» </a:t>
            </a:r>
          </a:p>
        </p:txBody>
      </p:sp>
    </p:spTree>
    <p:extLst>
      <p:ext uri="{BB962C8B-B14F-4D97-AF65-F5344CB8AC3E}">
        <p14:creationId xmlns:p14="http://schemas.microsoft.com/office/powerpoint/2010/main" val="20006081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C068CB-D9E5-7807-D287-EF107338A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2445503-AB6A-804A-09D7-E2E02BACE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текстовых данных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D7F6715-608D-BF85-6591-61B2B359A5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latin typeface="Times New Roman" panose="02020603050405020304" pitchFamily="18" charset="0"/>
              </a:rPr>
              <a:pPr/>
              <a:t>19</a:t>
            </a:fld>
            <a:r>
              <a:rPr lang="ru-RU" altLang="ru-RU" sz="2800" dirty="0">
                <a:latin typeface="Times New Roman" panose="02020603050405020304" pitchFamily="18" charset="0"/>
              </a:rPr>
              <a:t>/21</a:t>
            </a:r>
          </a:p>
        </p:txBody>
      </p:sp>
      <p:sp>
        <p:nvSpPr>
          <p:cNvPr id="3" name="Пятиугольник 2">
            <a:extLst>
              <a:ext uri="{FF2B5EF4-FFF2-40B4-BE49-F238E27FC236}">
                <a16:creationId xmlns:a16="http://schemas.microsoft.com/office/drawing/2014/main" id="{512E5FFF-CC8B-6620-E55C-6BE19685102C}"/>
              </a:ext>
            </a:extLst>
          </p:cNvPr>
          <p:cNvSpPr/>
          <p:nvPr/>
        </p:nvSpPr>
        <p:spPr>
          <a:xfrm>
            <a:off x="1777037" y="963140"/>
            <a:ext cx="3338112" cy="972000"/>
          </a:xfrm>
          <a:prstGeom prst="homePlate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Шаг 1. </a:t>
            </a:r>
            <a:br>
              <a:rPr lang="ru-RU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Качество данных.</a:t>
            </a:r>
          </a:p>
        </p:txBody>
      </p:sp>
      <p:sp>
        <p:nvSpPr>
          <p:cNvPr id="7" name="Нашивка 6">
            <a:extLst>
              <a:ext uri="{FF2B5EF4-FFF2-40B4-BE49-F238E27FC236}">
                <a16:creationId xmlns:a16="http://schemas.microsoft.com/office/drawing/2014/main" id="{A7B17F2D-1743-78AF-57F7-C7691D711F00}"/>
              </a:ext>
            </a:extLst>
          </p:cNvPr>
          <p:cNvSpPr/>
          <p:nvPr/>
        </p:nvSpPr>
        <p:spPr>
          <a:xfrm>
            <a:off x="4745422" y="963140"/>
            <a:ext cx="4035972" cy="972000"/>
          </a:xfrm>
          <a:prstGeom prst="chevron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0" rtlCol="0" anchor="ctr"/>
          <a:lstStyle/>
          <a:p>
            <a:pPr marL="625475" algn="ctr"/>
            <a:r>
              <a:rPr lang="ru-RU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Шаг 2.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ru-RU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Очистка и </a:t>
            </a:r>
            <a:r>
              <a:rPr lang="ru-RU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лемматизация</a:t>
            </a:r>
            <a:r>
              <a:rPr lang="ru-RU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sz="2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Нашивка 7">
            <a:extLst>
              <a:ext uri="{FF2B5EF4-FFF2-40B4-BE49-F238E27FC236}">
                <a16:creationId xmlns:a16="http://schemas.microsoft.com/office/drawing/2014/main" id="{60F1D318-DF41-F321-D3C3-39FEC077A84C}"/>
              </a:ext>
            </a:extLst>
          </p:cNvPr>
          <p:cNvSpPr/>
          <p:nvPr/>
        </p:nvSpPr>
        <p:spPr>
          <a:xfrm>
            <a:off x="8418786" y="963140"/>
            <a:ext cx="3772587" cy="972000"/>
          </a:xfrm>
          <a:prstGeom prst="chevron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447675" algn="ctr"/>
            <a:r>
              <a:rPr lang="ru-RU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Шаг 3. </a:t>
            </a:r>
            <a:r>
              <a:rPr lang="ru-RU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Удаление стоп-слов.</a:t>
            </a:r>
            <a:endParaRPr lang="ru-RU" sz="2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id="{2DECBD14-7492-A539-D403-51AF88ADEB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1638438"/>
              </p:ext>
            </p:extLst>
          </p:nvPr>
        </p:nvGraphicFramePr>
        <p:xfrm>
          <a:off x="0" y="1975036"/>
          <a:ext cx="11918731" cy="43221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42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968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5214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3556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01874"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Результаты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Пропуски отсутствуют (1016 записей).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Идеальный баланс классов (33,3/33,4/33,3%).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Язык: русский.</a:t>
                      </a:r>
                      <a:endParaRPr lang="ru-RU" sz="20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8288" marR="0" lvl="0" indent="-26828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Приведение к нижнему регистру.</a:t>
                      </a:r>
                    </a:p>
                    <a:p>
                      <a:pPr marL="268288" marR="0" lvl="0" indent="-26828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Удаление пунктуации и цифр.</a:t>
                      </a:r>
                    </a:p>
                    <a:p>
                      <a:pPr marL="268288" marR="0" lvl="0" indent="-26828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Лемматизация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(pymorphy3).</a:t>
                      </a:r>
                      <a:endParaRPr lang="ru-RU" sz="20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Частица «не» - 950 упоминаний (самое частое).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Служебные слова не несут смысловой нагрузки.</a:t>
                      </a:r>
                      <a:endParaRPr lang="ru-RU" sz="20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97505"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Действия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Данные пригодны для прототипирования.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Для промышленного использования - полная версия (90 000 отзывов).</a:t>
                      </a:r>
                      <a:endParaRPr lang="ru-RU" sz="2000" noProof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Лемматизация</a:t>
                      </a: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обязательна для русского языка.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Пример: «понравилось» → «понравиться».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Удаление предлогов, союзов, частиц, местоимений.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После удаления топ-слов: «размер», «продавец», «качество».</a:t>
                      </a:r>
                      <a:endParaRPr lang="ru-RU" sz="20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CB1D117D-DD07-2BEE-3EE0-95A27B95A74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biLevel thresh="7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367" b="100000" l="2344" r="96094">
                        <a14:foregroundMark x1="17383" y1="52734" x2="17383" y2="52734"/>
                        <a14:foregroundMark x1="18945" y1="69727" x2="18945" y2="69727"/>
                        <a14:foregroundMark x1="19336" y1="83789" x2="19336" y2="83789"/>
                        <a14:foregroundMark x1="60352" y1="82422" x2="60352" y2="82422"/>
                        <a14:backgroundMark x1="45703" y1="18945" x2="45703" y2="18945"/>
                        <a14:backgroundMark x1="69336" y1="23438" x2="69336" y2="2343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8903" y="1073840"/>
            <a:ext cx="612000" cy="612000"/>
          </a:xfrm>
          <a:prstGeom prst="rect">
            <a:avLst/>
          </a:prstGeom>
        </p:spPr>
      </p:pic>
      <p:pic>
        <p:nvPicPr>
          <p:cNvPr id="10" name="Рисунок 9" descr="Закрыть со сплошной заливкой">
            <a:extLst>
              <a:ext uri="{FF2B5EF4-FFF2-40B4-BE49-F238E27FC236}">
                <a16:creationId xmlns:a16="http://schemas.microsoft.com/office/drawing/2014/main" id="{D0B7CC16-6DAF-53C3-CA12-DCAB42C3B3A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81394" y="1163642"/>
            <a:ext cx="570995" cy="570995"/>
          </a:xfrm>
          <a:prstGeom prst="rect">
            <a:avLst/>
          </a:prstGeom>
        </p:spPr>
      </p:pic>
      <p:pic>
        <p:nvPicPr>
          <p:cNvPr id="12" name="Рисунок 11" descr="Знак одобрения со сплошной заливкой">
            <a:extLst>
              <a:ext uri="{FF2B5EF4-FFF2-40B4-BE49-F238E27FC236}">
                <a16:creationId xmlns:a16="http://schemas.microsoft.com/office/drawing/2014/main" id="{FD98A39E-49DB-D101-37FE-80455D55EE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97258" y="1089485"/>
            <a:ext cx="645152" cy="645152"/>
          </a:xfrm>
          <a:prstGeom prst="rect">
            <a:avLst/>
          </a:prstGeom>
        </p:spPr>
      </p:pic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975C91E1-2F12-2118-B0B7-3F2F8B522F1F}"/>
              </a:ext>
            </a:extLst>
          </p:cNvPr>
          <p:cNvSpPr/>
          <p:nvPr/>
        </p:nvSpPr>
        <p:spPr>
          <a:xfrm>
            <a:off x="23726" y="6333012"/>
            <a:ext cx="8663074" cy="46166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Курсовой проект «Поиск и первичный анализ наборов данных» </a:t>
            </a:r>
          </a:p>
        </p:txBody>
      </p:sp>
    </p:spTree>
    <p:extLst>
      <p:ext uri="{BB962C8B-B14F-4D97-AF65-F5344CB8AC3E}">
        <p14:creationId xmlns:p14="http://schemas.microsoft.com/office/powerpoint/2010/main" val="33960331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74152-EC42-9D87-5B44-7B06F79CC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EE86B60-106D-A994-8A8B-D7BDBF4EF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текстовых данных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8943355-9C10-04CD-1ADE-3CEBB4906E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latin typeface="Times New Roman" panose="02020603050405020304" pitchFamily="18" charset="0"/>
              </a:rPr>
              <a:pPr/>
              <a:t>20</a:t>
            </a:fld>
            <a:r>
              <a:rPr lang="ru-RU" altLang="ru-RU" sz="2800" dirty="0">
                <a:latin typeface="Times New Roman" panose="02020603050405020304" pitchFamily="18" charset="0"/>
              </a:rPr>
              <a:t>/21</a:t>
            </a:r>
          </a:p>
        </p:txBody>
      </p:sp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id="{20A16680-0ED2-5EDC-3BB2-819C20713B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6278910"/>
              </p:ext>
            </p:extLst>
          </p:nvPr>
        </p:nvGraphicFramePr>
        <p:xfrm>
          <a:off x="86949" y="2166568"/>
          <a:ext cx="12105051" cy="41078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92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85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272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79626"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Результаты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Размер словаря: 100 наиболее значимых слов.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Каждый текст представлен вектором размерностью 100.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TF-IDF выделяет важные слова для конкретного документа.</a:t>
                      </a:r>
                      <a:endParaRPr lang="ru-RU" sz="18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Косинусная мера (</a:t>
                      </a:r>
                      <a:r>
                        <a:rPr lang="ru-RU" sz="1800" b="0" i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cosine</a:t>
                      </a: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similarity</a:t>
                      </a: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) для оценки сходства.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Поисковый запрос: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    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— </a:t>
                      </a: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«хорошее качество товара» → похожесть 0,81;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    — </a:t>
                      </a: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«плохая доставка долго ждать» → похожесть 0,60;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    —</a:t>
                      </a: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«не подошел размер вернуть деньги» → похожесть 0,62.</a:t>
                      </a:r>
                      <a:endParaRPr lang="ru-RU" sz="18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R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8221">
                <a:tc>
                  <a:txBody>
                    <a:bodyPr/>
                    <a:lstStyle/>
                    <a:p>
                      <a:pPr algn="ctr"/>
                      <a:r>
                        <a:rPr lang="ru-RU" sz="18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Действия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Слова, часто встречающиеся во всех документах, получают меньший вес.</a:t>
                      </a:r>
                      <a:endParaRPr lang="ru-RU" sz="18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Косинусное сходство эффективно находит семантически близкие тексты.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Рекомендуется для прототипирования поисковых систем.</a:t>
                      </a:r>
                      <a:endParaRPr lang="ru-RU" sz="18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Нашивка 7">
            <a:extLst>
              <a:ext uri="{FF2B5EF4-FFF2-40B4-BE49-F238E27FC236}">
                <a16:creationId xmlns:a16="http://schemas.microsoft.com/office/drawing/2014/main" id="{607B85C4-29AA-2DA6-EEC4-49B45DDB070C}"/>
              </a:ext>
            </a:extLst>
          </p:cNvPr>
          <p:cNvSpPr/>
          <p:nvPr/>
        </p:nvSpPr>
        <p:spPr>
          <a:xfrm>
            <a:off x="6463863" y="1037757"/>
            <a:ext cx="5200600" cy="972000"/>
          </a:xfrm>
          <a:custGeom>
            <a:avLst/>
            <a:gdLst>
              <a:gd name="connsiteX0" fmla="*/ 0 w 3863964"/>
              <a:gd name="connsiteY0" fmla="*/ 0 h 972000"/>
              <a:gd name="connsiteX1" fmla="*/ 3377964 w 3863964"/>
              <a:gd name="connsiteY1" fmla="*/ 0 h 972000"/>
              <a:gd name="connsiteX2" fmla="*/ 3863964 w 3863964"/>
              <a:gd name="connsiteY2" fmla="*/ 486000 h 972000"/>
              <a:gd name="connsiteX3" fmla="*/ 3377964 w 3863964"/>
              <a:gd name="connsiteY3" fmla="*/ 972000 h 972000"/>
              <a:gd name="connsiteX4" fmla="*/ 0 w 3863964"/>
              <a:gd name="connsiteY4" fmla="*/ 972000 h 972000"/>
              <a:gd name="connsiteX5" fmla="*/ 486000 w 3863964"/>
              <a:gd name="connsiteY5" fmla="*/ 486000 h 972000"/>
              <a:gd name="connsiteX6" fmla="*/ 0 w 3863964"/>
              <a:gd name="connsiteY6" fmla="*/ 0 h 972000"/>
              <a:gd name="connsiteX0" fmla="*/ 0 w 3377964"/>
              <a:gd name="connsiteY0" fmla="*/ 0 h 972000"/>
              <a:gd name="connsiteX1" fmla="*/ 3377964 w 3377964"/>
              <a:gd name="connsiteY1" fmla="*/ 0 h 972000"/>
              <a:gd name="connsiteX2" fmla="*/ 3335155 w 3377964"/>
              <a:gd name="connsiteY2" fmla="*/ 452950 h 972000"/>
              <a:gd name="connsiteX3" fmla="*/ 3377964 w 3377964"/>
              <a:gd name="connsiteY3" fmla="*/ 972000 h 972000"/>
              <a:gd name="connsiteX4" fmla="*/ 0 w 3377964"/>
              <a:gd name="connsiteY4" fmla="*/ 972000 h 972000"/>
              <a:gd name="connsiteX5" fmla="*/ 486000 w 3377964"/>
              <a:gd name="connsiteY5" fmla="*/ 486000 h 972000"/>
              <a:gd name="connsiteX6" fmla="*/ 0 w 3377964"/>
              <a:gd name="connsiteY6" fmla="*/ 0 h 972000"/>
              <a:gd name="connsiteX0" fmla="*/ 0 w 3412273"/>
              <a:gd name="connsiteY0" fmla="*/ 0 h 972000"/>
              <a:gd name="connsiteX1" fmla="*/ 3377964 w 3412273"/>
              <a:gd name="connsiteY1" fmla="*/ 0 h 972000"/>
              <a:gd name="connsiteX2" fmla="*/ 3412273 w 3412273"/>
              <a:gd name="connsiteY2" fmla="*/ 452950 h 972000"/>
              <a:gd name="connsiteX3" fmla="*/ 3377964 w 3412273"/>
              <a:gd name="connsiteY3" fmla="*/ 972000 h 972000"/>
              <a:gd name="connsiteX4" fmla="*/ 0 w 3412273"/>
              <a:gd name="connsiteY4" fmla="*/ 972000 h 972000"/>
              <a:gd name="connsiteX5" fmla="*/ 486000 w 3412273"/>
              <a:gd name="connsiteY5" fmla="*/ 486000 h 972000"/>
              <a:gd name="connsiteX6" fmla="*/ 0 w 3412273"/>
              <a:gd name="connsiteY6" fmla="*/ 0 h 972000"/>
              <a:gd name="connsiteX0" fmla="*/ 0 w 3395797"/>
              <a:gd name="connsiteY0" fmla="*/ 0 h 972000"/>
              <a:gd name="connsiteX1" fmla="*/ 3377964 w 3395797"/>
              <a:gd name="connsiteY1" fmla="*/ 0 h 972000"/>
              <a:gd name="connsiteX2" fmla="*/ 3395797 w 3395797"/>
              <a:gd name="connsiteY2" fmla="*/ 452950 h 972000"/>
              <a:gd name="connsiteX3" fmla="*/ 3377964 w 3395797"/>
              <a:gd name="connsiteY3" fmla="*/ 972000 h 972000"/>
              <a:gd name="connsiteX4" fmla="*/ 0 w 3395797"/>
              <a:gd name="connsiteY4" fmla="*/ 972000 h 972000"/>
              <a:gd name="connsiteX5" fmla="*/ 486000 w 3395797"/>
              <a:gd name="connsiteY5" fmla="*/ 486000 h 972000"/>
              <a:gd name="connsiteX6" fmla="*/ 0 w 3395797"/>
              <a:gd name="connsiteY6" fmla="*/ 0 h 972000"/>
              <a:gd name="connsiteX0" fmla="*/ 0 w 3383440"/>
              <a:gd name="connsiteY0" fmla="*/ 0 h 972000"/>
              <a:gd name="connsiteX1" fmla="*/ 3377964 w 3383440"/>
              <a:gd name="connsiteY1" fmla="*/ 0 h 972000"/>
              <a:gd name="connsiteX2" fmla="*/ 3383440 w 3383440"/>
              <a:gd name="connsiteY2" fmla="*/ 452950 h 972000"/>
              <a:gd name="connsiteX3" fmla="*/ 3377964 w 3383440"/>
              <a:gd name="connsiteY3" fmla="*/ 972000 h 972000"/>
              <a:gd name="connsiteX4" fmla="*/ 0 w 3383440"/>
              <a:gd name="connsiteY4" fmla="*/ 972000 h 972000"/>
              <a:gd name="connsiteX5" fmla="*/ 486000 w 3383440"/>
              <a:gd name="connsiteY5" fmla="*/ 486000 h 972000"/>
              <a:gd name="connsiteX6" fmla="*/ 0 w 3383440"/>
              <a:gd name="connsiteY6" fmla="*/ 0 h 972000"/>
              <a:gd name="connsiteX0" fmla="*/ 0 w 3378294"/>
              <a:gd name="connsiteY0" fmla="*/ 0 h 972000"/>
              <a:gd name="connsiteX1" fmla="*/ 3377964 w 3378294"/>
              <a:gd name="connsiteY1" fmla="*/ 0 h 972000"/>
              <a:gd name="connsiteX2" fmla="*/ 3375202 w 3378294"/>
              <a:gd name="connsiteY2" fmla="*/ 452950 h 972000"/>
              <a:gd name="connsiteX3" fmla="*/ 3377964 w 3378294"/>
              <a:gd name="connsiteY3" fmla="*/ 972000 h 972000"/>
              <a:gd name="connsiteX4" fmla="*/ 0 w 3378294"/>
              <a:gd name="connsiteY4" fmla="*/ 972000 h 972000"/>
              <a:gd name="connsiteX5" fmla="*/ 486000 w 3378294"/>
              <a:gd name="connsiteY5" fmla="*/ 486000 h 972000"/>
              <a:gd name="connsiteX6" fmla="*/ 0 w 3378294"/>
              <a:gd name="connsiteY6" fmla="*/ 0 h 972000"/>
              <a:gd name="connsiteX0" fmla="*/ 0 w 3391677"/>
              <a:gd name="connsiteY0" fmla="*/ 0 h 972000"/>
              <a:gd name="connsiteX1" fmla="*/ 3377964 w 3391677"/>
              <a:gd name="connsiteY1" fmla="*/ 0 h 972000"/>
              <a:gd name="connsiteX2" fmla="*/ 3391677 w 3391677"/>
              <a:gd name="connsiteY2" fmla="*/ 457069 h 972000"/>
              <a:gd name="connsiteX3" fmla="*/ 3377964 w 3391677"/>
              <a:gd name="connsiteY3" fmla="*/ 972000 h 972000"/>
              <a:gd name="connsiteX4" fmla="*/ 0 w 3391677"/>
              <a:gd name="connsiteY4" fmla="*/ 972000 h 972000"/>
              <a:gd name="connsiteX5" fmla="*/ 486000 w 3391677"/>
              <a:gd name="connsiteY5" fmla="*/ 486000 h 972000"/>
              <a:gd name="connsiteX6" fmla="*/ 0 w 3391677"/>
              <a:gd name="connsiteY6" fmla="*/ 0 h 972000"/>
              <a:gd name="connsiteX0" fmla="*/ 0 w 3391677"/>
              <a:gd name="connsiteY0" fmla="*/ 0 h 972000"/>
              <a:gd name="connsiteX1" fmla="*/ 3377964 w 3391677"/>
              <a:gd name="connsiteY1" fmla="*/ 0 h 972000"/>
              <a:gd name="connsiteX2" fmla="*/ 3391677 w 3391677"/>
              <a:gd name="connsiteY2" fmla="*/ 457069 h 972000"/>
              <a:gd name="connsiteX3" fmla="*/ 3377964 w 3391677"/>
              <a:gd name="connsiteY3" fmla="*/ 972000 h 972000"/>
              <a:gd name="connsiteX4" fmla="*/ 0 w 3391677"/>
              <a:gd name="connsiteY4" fmla="*/ 972000 h 972000"/>
              <a:gd name="connsiteX5" fmla="*/ 486000 w 3391677"/>
              <a:gd name="connsiteY5" fmla="*/ 486000 h 972000"/>
              <a:gd name="connsiteX6" fmla="*/ 0 w 3391677"/>
              <a:gd name="connsiteY6" fmla="*/ 0 h 972000"/>
              <a:gd name="connsiteX0" fmla="*/ 0 w 3383440"/>
              <a:gd name="connsiteY0" fmla="*/ 0 h 972000"/>
              <a:gd name="connsiteX1" fmla="*/ 3377964 w 3383440"/>
              <a:gd name="connsiteY1" fmla="*/ 0 h 972000"/>
              <a:gd name="connsiteX2" fmla="*/ 3383440 w 3383440"/>
              <a:gd name="connsiteY2" fmla="*/ 457069 h 972000"/>
              <a:gd name="connsiteX3" fmla="*/ 3377964 w 3383440"/>
              <a:gd name="connsiteY3" fmla="*/ 972000 h 972000"/>
              <a:gd name="connsiteX4" fmla="*/ 0 w 3383440"/>
              <a:gd name="connsiteY4" fmla="*/ 972000 h 972000"/>
              <a:gd name="connsiteX5" fmla="*/ 486000 w 3383440"/>
              <a:gd name="connsiteY5" fmla="*/ 486000 h 972000"/>
              <a:gd name="connsiteX6" fmla="*/ 0 w 3383440"/>
              <a:gd name="connsiteY6" fmla="*/ 0 h 972000"/>
              <a:gd name="connsiteX0" fmla="*/ 0 w 3383440"/>
              <a:gd name="connsiteY0" fmla="*/ 0 h 972000"/>
              <a:gd name="connsiteX1" fmla="*/ 3377964 w 3383440"/>
              <a:gd name="connsiteY1" fmla="*/ 0 h 972000"/>
              <a:gd name="connsiteX2" fmla="*/ 3383440 w 3383440"/>
              <a:gd name="connsiteY2" fmla="*/ 457069 h 972000"/>
              <a:gd name="connsiteX3" fmla="*/ 3377964 w 3383440"/>
              <a:gd name="connsiteY3" fmla="*/ 972000 h 972000"/>
              <a:gd name="connsiteX4" fmla="*/ 0 w 3383440"/>
              <a:gd name="connsiteY4" fmla="*/ 972000 h 972000"/>
              <a:gd name="connsiteX5" fmla="*/ 356490 w 3383440"/>
              <a:gd name="connsiteY5" fmla="*/ 497723 h 972000"/>
              <a:gd name="connsiteX6" fmla="*/ 0 w 3383440"/>
              <a:gd name="connsiteY6" fmla="*/ 0 h 97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383440" h="972000">
                <a:moveTo>
                  <a:pt x="0" y="0"/>
                </a:moveTo>
                <a:lnTo>
                  <a:pt x="3377964" y="0"/>
                </a:lnTo>
                <a:cubicBezTo>
                  <a:pt x="3379789" y="150983"/>
                  <a:pt x="3381615" y="306086"/>
                  <a:pt x="3383440" y="457069"/>
                </a:cubicBezTo>
                <a:cubicBezTo>
                  <a:pt x="3381615" y="630086"/>
                  <a:pt x="3379789" y="798983"/>
                  <a:pt x="3377964" y="972000"/>
                </a:cubicBezTo>
                <a:lnTo>
                  <a:pt x="0" y="972000"/>
                </a:lnTo>
                <a:lnTo>
                  <a:pt x="356490" y="497723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622300" algn="ctr"/>
            <a:r>
              <a:rPr lang="ru-RU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Шаг 5. </a:t>
            </a:r>
          </a:p>
          <a:p>
            <a:pPr marL="622300" algn="ctr"/>
            <a:r>
              <a:rPr lang="ru-RU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Информационный поиск.</a:t>
            </a:r>
            <a:endParaRPr lang="ru-RU" sz="2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Нашивка 6">
            <a:extLst>
              <a:ext uri="{FF2B5EF4-FFF2-40B4-BE49-F238E27FC236}">
                <a16:creationId xmlns:a16="http://schemas.microsoft.com/office/drawing/2014/main" id="{8C557B23-ECD8-4DD5-A27D-196ACA2E23FB}"/>
              </a:ext>
            </a:extLst>
          </p:cNvPr>
          <p:cNvSpPr/>
          <p:nvPr/>
        </p:nvSpPr>
        <p:spPr>
          <a:xfrm>
            <a:off x="1835279" y="1037757"/>
            <a:ext cx="4979883" cy="972000"/>
          </a:xfrm>
          <a:prstGeom prst="chevron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444500" algn="ctr"/>
            <a:r>
              <a:rPr lang="ru-RU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Шаг 4. 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TF-IDF</a:t>
            </a:r>
            <a:r>
              <a:rPr lang="ru-RU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sz="2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Рисунок 9" descr="Изображение со сплошной заливкой">
            <a:extLst>
              <a:ext uri="{FF2B5EF4-FFF2-40B4-BE49-F238E27FC236}">
                <a16:creationId xmlns:a16="http://schemas.microsoft.com/office/drawing/2014/main" id="{9A70842E-CF5B-C98F-F5B2-0B10B0D6FB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64300" y="1066557"/>
            <a:ext cx="914400" cy="914400"/>
          </a:xfrm>
          <a:prstGeom prst="rect">
            <a:avLst/>
          </a:prstGeom>
        </p:spPr>
      </p:pic>
      <p:pic>
        <p:nvPicPr>
          <p:cNvPr id="5" name="Рисунок 4" descr="Лупа со сплошной заливкой">
            <a:extLst>
              <a:ext uri="{FF2B5EF4-FFF2-40B4-BE49-F238E27FC236}">
                <a16:creationId xmlns:a16="http://schemas.microsoft.com/office/drawing/2014/main" id="{39A50852-C5BB-1032-E088-13EF0E6E4F9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5249591">
            <a:off x="7029748" y="1209322"/>
            <a:ext cx="628869" cy="628869"/>
          </a:xfrm>
          <a:prstGeom prst="rect">
            <a:avLst/>
          </a:prstGeom>
        </p:spPr>
      </p:pic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5F4492E0-6E78-E574-ACC4-BBFB2AD3FEDA}"/>
              </a:ext>
            </a:extLst>
          </p:cNvPr>
          <p:cNvSpPr/>
          <p:nvPr/>
        </p:nvSpPr>
        <p:spPr>
          <a:xfrm>
            <a:off x="23726" y="6333012"/>
            <a:ext cx="8663074" cy="46166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Курсовой проект «Поиск и первичный анализ наборов данных» </a:t>
            </a:r>
          </a:p>
        </p:txBody>
      </p:sp>
    </p:spTree>
    <p:extLst>
      <p:ext uri="{BB962C8B-B14F-4D97-AF65-F5344CB8AC3E}">
        <p14:creationId xmlns:p14="http://schemas.microsoft.com/office/powerpoint/2010/main" val="2003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Основные результаты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10359" y="1022738"/>
            <a:ext cx="12077924" cy="5099281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ru-RU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Подготовлено краткое описание выбранной задачи ИИ для каждого типа данных (таблицы, временные ряды, изображения, тексты).</a:t>
            </a:r>
          </a:p>
          <a:p>
            <a:pPr>
              <a:lnSpc>
                <a:spcPct val="1000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ru-RU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Подобраны и обоснован выбор наборов данных из открытых источников.</a:t>
            </a:r>
          </a:p>
          <a:p>
            <a:pPr>
              <a:lnSpc>
                <a:spcPct val="1000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ru-RU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Реализован комплекс программ на языке Python для первичного анализа.</a:t>
            </a:r>
          </a:p>
          <a:p>
            <a:pPr>
              <a:lnSpc>
                <a:spcPct val="1000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ru-RU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Сформулированы рекомендации по предобработке данных.</a:t>
            </a:r>
          </a:p>
          <a:p>
            <a:pPr>
              <a:lnSpc>
                <a:spcPct val="1000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ru-RU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Размещен исходный код в </a:t>
            </a:r>
            <a:r>
              <a:rPr lang="ru-RU" sz="3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-репозитории: 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https://github.com/Shefer55/Coursework</a:t>
            </a:r>
            <a:r>
              <a:rPr lang="ru-RU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latin typeface="Times New Roman" panose="02020603050405020304" pitchFamily="18" charset="0"/>
              </a:rPr>
              <a:pPr/>
              <a:t>21</a:t>
            </a:fld>
            <a:r>
              <a:rPr lang="ru-RU" altLang="ru-RU" sz="2800" dirty="0">
                <a:latin typeface="Times New Roman" panose="02020603050405020304" pitchFamily="18" charset="0"/>
              </a:rPr>
              <a:t>/21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FE219741-2FE3-49BC-3638-CF95A486A469}"/>
              </a:ext>
            </a:extLst>
          </p:cNvPr>
          <p:cNvSpPr/>
          <p:nvPr/>
        </p:nvSpPr>
        <p:spPr>
          <a:xfrm>
            <a:off x="23726" y="6333012"/>
            <a:ext cx="8663074" cy="46166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Курсовой проект «Поиск и первичный анализ наборов данных» </a:t>
            </a:r>
          </a:p>
        </p:txBody>
      </p:sp>
    </p:spTree>
    <p:extLst>
      <p:ext uri="{BB962C8B-B14F-4D97-AF65-F5344CB8AC3E}">
        <p14:creationId xmlns:p14="http://schemas.microsoft.com/office/powerpoint/2010/main" val="5727608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-2862"/>
            <a:ext cx="12192000" cy="883809"/>
          </a:xfrm>
        </p:spPr>
        <p:txBody>
          <a:bodyPr/>
          <a:lstStyle/>
          <a:p>
            <a:r>
              <a:rPr lang="ru-RU" sz="3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табличных данных: пропуски, выбросы и дубликаты 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latin typeface="Times New Roman" panose="02020603050405020304" pitchFamily="18" charset="0"/>
              </a:rPr>
              <a:pPr/>
              <a:t>22</a:t>
            </a:fld>
            <a:r>
              <a:rPr lang="ru-RU" altLang="ru-RU" sz="2800" dirty="0">
                <a:latin typeface="Times New Roman" panose="02020603050405020304" pitchFamily="18" charset="0"/>
              </a:rPr>
              <a:t>/</a:t>
            </a:r>
            <a:r>
              <a:rPr lang="en-US" altLang="ru-RU" sz="2800" dirty="0">
                <a:latin typeface="Times New Roman" panose="02020603050405020304" pitchFamily="18" charset="0"/>
              </a:rPr>
              <a:t>21</a:t>
            </a:r>
            <a:endParaRPr lang="ru-RU" altLang="ru-RU" sz="2800" dirty="0">
              <a:latin typeface="Times New Roman" panose="02020603050405020304" pitchFamily="18" charset="0"/>
            </a:endParaRPr>
          </a:p>
        </p:txBody>
      </p:sp>
      <p:graphicFrame>
        <p:nvGraphicFramePr>
          <p:cNvPr id="12" name="Таблица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800725"/>
              </p:ext>
            </p:extLst>
          </p:nvPr>
        </p:nvGraphicFramePr>
        <p:xfrm>
          <a:off x="305734" y="1690158"/>
          <a:ext cx="4837648" cy="37285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00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396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80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84802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b="1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Признак</a:t>
                      </a:r>
                      <a:endParaRPr lang="ru-RU" sz="18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15240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b="1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Количество пропусков</a:t>
                      </a:r>
                      <a:endParaRPr lang="ru-RU" sz="18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152400" marR="15240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b="1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Доля пропусков, %</a:t>
                      </a:r>
                      <a:endParaRPr lang="ru-RU" sz="18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152400" marR="15240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81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PassengerId</a:t>
                      </a:r>
                    </a:p>
                  </a:txBody>
                  <a:tcPr marL="0" marR="15240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0</a:t>
                      </a:r>
                    </a:p>
                  </a:txBody>
                  <a:tcPr marL="152400" marR="15240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0</a:t>
                      </a:r>
                    </a:p>
                  </a:txBody>
                  <a:tcPr marL="152400" marR="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81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Survived</a:t>
                      </a:r>
                    </a:p>
                  </a:txBody>
                  <a:tcPr marL="0" marR="15240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0</a:t>
                      </a:r>
                    </a:p>
                  </a:txBody>
                  <a:tcPr marL="152400" marR="15240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0</a:t>
                      </a:r>
                    </a:p>
                  </a:txBody>
                  <a:tcPr marL="152400" marR="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81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Pclass</a:t>
                      </a:r>
                    </a:p>
                  </a:txBody>
                  <a:tcPr marL="0" marR="15240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0</a:t>
                      </a:r>
                    </a:p>
                  </a:txBody>
                  <a:tcPr marL="152400" marR="15240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0</a:t>
                      </a:r>
                    </a:p>
                  </a:txBody>
                  <a:tcPr marL="152400" marR="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481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Name</a:t>
                      </a:r>
                    </a:p>
                  </a:txBody>
                  <a:tcPr marL="0" marR="15240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0</a:t>
                      </a:r>
                    </a:p>
                  </a:txBody>
                  <a:tcPr marL="152400" marR="15240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0</a:t>
                      </a:r>
                    </a:p>
                  </a:txBody>
                  <a:tcPr marL="152400" marR="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481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Sex</a:t>
                      </a:r>
                    </a:p>
                  </a:txBody>
                  <a:tcPr marL="0" marR="15240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0</a:t>
                      </a:r>
                    </a:p>
                  </a:txBody>
                  <a:tcPr marL="152400" marR="15240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0</a:t>
                      </a:r>
                    </a:p>
                  </a:txBody>
                  <a:tcPr marL="152400" marR="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481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Age</a:t>
                      </a:r>
                    </a:p>
                  </a:txBody>
                  <a:tcPr marL="0" marR="15240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177</a:t>
                      </a:r>
                    </a:p>
                  </a:txBody>
                  <a:tcPr marL="152400" marR="15240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19,9</a:t>
                      </a:r>
                    </a:p>
                  </a:txBody>
                  <a:tcPr marL="152400" marR="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481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Parch</a:t>
                      </a:r>
                    </a:p>
                  </a:txBody>
                  <a:tcPr marL="0" marR="15240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0</a:t>
                      </a:r>
                    </a:p>
                  </a:txBody>
                  <a:tcPr marL="152400" marR="15240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0</a:t>
                      </a:r>
                    </a:p>
                  </a:txBody>
                  <a:tcPr marL="152400" marR="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23726" y="5676882"/>
            <a:ext cx="50545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Дубликаты в данных 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отсутствуют.</a:t>
            </a:r>
          </a:p>
        </p:txBody>
      </p:sp>
      <p:graphicFrame>
        <p:nvGraphicFramePr>
          <p:cNvPr id="18" name="Таблица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6756445"/>
              </p:ext>
            </p:extLst>
          </p:nvPr>
        </p:nvGraphicFramePr>
        <p:xfrm>
          <a:off x="5841379" y="5386121"/>
          <a:ext cx="5888165" cy="792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29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205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646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6000"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Признак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Кол-во</a:t>
                      </a:r>
                      <a:r>
                        <a:rPr lang="ru-RU" sz="2000" baseline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20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выбросов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Доля</a:t>
                      </a:r>
                      <a:r>
                        <a:rPr lang="ru-RU" sz="2000" baseline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20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выбросов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Age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21</a:t>
                      </a:r>
                      <a:endParaRPr lang="ru-RU" sz="20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0.024</a:t>
                      </a:r>
                      <a:endParaRPr lang="ru-RU" sz="20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1" y="986522"/>
            <a:ext cx="55867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Пропуски в данных 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присутствуют.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301762" y="922820"/>
            <a:ext cx="689023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Выбросы, найденные методом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межквартильного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размаха, 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присутствуют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в признаке </a:t>
            </a:r>
            <a:r>
              <a:rPr lang="ru-RU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Age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BE676A96-5DDF-C2FE-984F-223E0D176B71}"/>
              </a:ext>
            </a:extLst>
          </p:cNvPr>
          <p:cNvSpPr/>
          <p:nvPr/>
        </p:nvSpPr>
        <p:spPr>
          <a:xfrm>
            <a:off x="23726" y="6333012"/>
            <a:ext cx="8663074" cy="46166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Курсовой проект «Поиск и первичный анализ наборов данных» 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12BF0BB-3123-5A55-40AD-C98ECC80DB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4" t="4984" r="7100"/>
          <a:stretch>
            <a:fillRect/>
          </a:stretch>
        </p:blipFill>
        <p:spPr>
          <a:xfrm>
            <a:off x="5301761" y="1795287"/>
            <a:ext cx="6703076" cy="3522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24032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-2862"/>
            <a:ext cx="12192000" cy="883809"/>
          </a:xfrm>
        </p:spPr>
        <p:txBody>
          <a:bodyPr/>
          <a:lstStyle/>
          <a:p>
            <a:r>
              <a:rPr lang="ru-RU" sz="3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табличных данных: корреляция, диапазоны значений 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latin typeface="Times New Roman" panose="02020603050405020304" pitchFamily="18" charset="0"/>
              </a:rPr>
              <a:pPr/>
              <a:t>23</a:t>
            </a:fld>
            <a:r>
              <a:rPr lang="ru-RU" altLang="ru-RU" sz="2800" dirty="0">
                <a:latin typeface="Times New Roman" panose="02020603050405020304" pitchFamily="18" charset="0"/>
              </a:rPr>
              <a:t>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12967" y="949649"/>
            <a:ext cx="545530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Масштабы признаков различаются незначительно (кроме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Age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), нормализация не обязательна, но рекомендуется.</a:t>
            </a:r>
            <a:b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ru-RU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3725" y="926038"/>
            <a:ext cx="587326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Pclass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и 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Age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имеют отрицательную корреляцию с </a:t>
            </a:r>
            <a:r>
              <a:rPr lang="ru-RU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Survived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Мультиколлинеарность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отсутствует.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DA8DA1-6590-95F3-00AE-A32B4BD19795}"/>
              </a:ext>
            </a:extLst>
          </p:cNvPr>
          <p:cNvSpPr/>
          <p:nvPr/>
        </p:nvSpPr>
        <p:spPr>
          <a:xfrm>
            <a:off x="23726" y="6333012"/>
            <a:ext cx="8663074" cy="46166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Курсовой проект «Поиск и первичный анализ наборов данных» 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3CFCDD9-A576-DD92-C164-678A94C1F70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05" t="3910" r="15828" b="6744"/>
          <a:stretch>
            <a:fillRect/>
          </a:stretch>
        </p:blipFill>
        <p:spPr>
          <a:xfrm>
            <a:off x="23725" y="2171458"/>
            <a:ext cx="6928868" cy="399270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6596977-B6EA-D484-C7B2-CC041DCC0E8C}"/>
              </a:ext>
            </a:extLst>
          </p:cNvPr>
          <p:cNvSpPr txBox="1"/>
          <p:nvPr/>
        </p:nvSpPr>
        <p:spPr>
          <a:xfrm>
            <a:off x="7992298" y="3020148"/>
            <a:ext cx="2545514" cy="22236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0 ≤ </a:t>
            </a:r>
            <a:r>
              <a:rPr lang="ru-RU" sz="2400" b="1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Age</a:t>
            </a:r>
            <a:r>
              <a:rPr lang="ru-RU" sz="24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≤ 80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1 ≤ </a:t>
            </a:r>
            <a:r>
              <a:rPr lang="ru-RU" sz="2400" b="1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Pclass</a:t>
            </a:r>
            <a:r>
              <a:rPr lang="ru-RU" sz="24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≤ 3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0 ≤ </a:t>
            </a:r>
            <a:r>
              <a:rPr lang="ru-RU" sz="2400" b="1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Parch</a:t>
            </a:r>
            <a:r>
              <a:rPr lang="ru-RU" sz="24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≤ 9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0 ≤ </a:t>
            </a:r>
            <a:r>
              <a:rPr lang="ru-RU" sz="2400" b="1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Survived</a:t>
            </a:r>
            <a:r>
              <a:rPr lang="ru-RU" sz="24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≤ 1</a:t>
            </a:r>
          </a:p>
        </p:txBody>
      </p:sp>
    </p:spTree>
    <p:extLst>
      <p:ext uri="{BB962C8B-B14F-4D97-AF65-F5344CB8AC3E}">
        <p14:creationId xmlns:p14="http://schemas.microsoft.com/office/powerpoint/2010/main" val="10635187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табличных данных: распределения числовых атрибутов 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latin typeface="Times New Roman" panose="02020603050405020304" pitchFamily="18" charset="0"/>
              </a:rPr>
              <a:pPr/>
              <a:t>24</a:t>
            </a:fld>
            <a:r>
              <a:rPr lang="ru-RU" altLang="ru-RU" sz="2800" dirty="0">
                <a:latin typeface="Times New Roman" panose="02020603050405020304" pitchFamily="18" charset="0"/>
              </a:rPr>
              <a:t>/21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DA5BA31-3DA1-F7C4-F4AC-C5BA00B412C4}"/>
              </a:ext>
            </a:extLst>
          </p:cNvPr>
          <p:cNvSpPr/>
          <p:nvPr/>
        </p:nvSpPr>
        <p:spPr>
          <a:xfrm>
            <a:off x="23726" y="6333012"/>
            <a:ext cx="8663074" cy="46166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Курсовой проект «Поиск и первичный анализ наборов данных» 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6E67261-871B-FC66-57D6-1AC8065CF65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889" y="1032737"/>
            <a:ext cx="10364222" cy="5031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288588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табличных данных: выживаемость в зависимости от разных признаков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latin typeface="Times New Roman" panose="02020603050405020304" pitchFamily="18" charset="0"/>
              </a:rPr>
              <a:pPr/>
              <a:t>25</a:t>
            </a:fld>
            <a:r>
              <a:rPr lang="ru-RU" altLang="ru-RU" sz="2800" dirty="0">
                <a:latin typeface="Times New Roman" panose="02020603050405020304" pitchFamily="18" charset="0"/>
              </a:rPr>
              <a:t>/21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5F883893-4CDD-9839-026C-81FBD9DB2257}"/>
              </a:ext>
            </a:extLst>
          </p:cNvPr>
          <p:cNvSpPr/>
          <p:nvPr/>
        </p:nvSpPr>
        <p:spPr>
          <a:xfrm>
            <a:off x="23726" y="6333012"/>
            <a:ext cx="8663074" cy="46166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Курсовой проект «Поиск и первичный анализ наборов данных» 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7A7CB081-0DE5-132A-A4B7-42DD5EA8BA1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937"/>
          <a:stretch>
            <a:fillRect/>
          </a:stretch>
        </p:blipFill>
        <p:spPr>
          <a:xfrm>
            <a:off x="637228" y="976300"/>
            <a:ext cx="10917543" cy="5144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31004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9C82AC-2924-FCA6-90BD-933337EE4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9EB0032-7A91-A010-C926-5E0D572A89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табличных данных: выживаемость в зависимости от разных признаков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F2E5084-0206-C592-8132-717BDD9C63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latin typeface="Times New Roman" panose="02020603050405020304" pitchFamily="18" charset="0"/>
              </a:rPr>
              <a:pPr/>
              <a:t>26</a:t>
            </a:fld>
            <a:r>
              <a:rPr lang="ru-RU" altLang="ru-RU" sz="2800" dirty="0">
                <a:latin typeface="Times New Roman" panose="02020603050405020304" pitchFamily="18" charset="0"/>
              </a:rPr>
              <a:t>/21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03465AB7-1F05-8933-4807-65C3FF9E471C}"/>
              </a:ext>
            </a:extLst>
          </p:cNvPr>
          <p:cNvSpPr/>
          <p:nvPr/>
        </p:nvSpPr>
        <p:spPr>
          <a:xfrm>
            <a:off x="23726" y="6333012"/>
            <a:ext cx="8663074" cy="46166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Курсовой проект «Поиск и первичный анализ наборов данных» 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D00999F-F7BA-F7FD-F2C3-C1FC81823FD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11159" y="1025188"/>
            <a:ext cx="6976760" cy="4981474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0EE82CF5-DB12-A94D-3D22-A309F60147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54" r="7160"/>
          <a:stretch>
            <a:fillRect/>
          </a:stretch>
        </p:blipFill>
        <p:spPr>
          <a:xfrm>
            <a:off x="23726" y="1025188"/>
            <a:ext cx="5087433" cy="4573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038187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табличных данных: кодирование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latin typeface="Times New Roman" panose="02020603050405020304" pitchFamily="18" charset="0"/>
              </a:rPr>
              <a:pPr/>
              <a:t>27</a:t>
            </a:fld>
            <a:r>
              <a:rPr lang="ru-RU" altLang="ru-RU" sz="2800" dirty="0">
                <a:latin typeface="Times New Roman" panose="02020603050405020304" pitchFamily="18" charset="0"/>
              </a:rPr>
              <a:t>/</a:t>
            </a:r>
            <a:r>
              <a:rPr lang="en-US" altLang="ru-RU" sz="2800" dirty="0">
                <a:latin typeface="Times New Roman" panose="02020603050405020304" pitchFamily="18" charset="0"/>
              </a:rPr>
              <a:t>21</a:t>
            </a:r>
            <a:endParaRPr lang="ru-RU" altLang="ru-RU" sz="2800" dirty="0">
              <a:latin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Прямоугольник 5"/>
              <p:cNvSpPr/>
              <p:nvPr/>
            </p:nvSpPr>
            <p:spPr>
              <a:xfrm>
                <a:off x="267353" y="1199210"/>
                <a:ext cx="3711593" cy="96949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ru-RU" sz="2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Бинарные признаки:</a:t>
                </a:r>
              </a:p>
              <a:p>
                <a:pPr marL="285750" indent="-28575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600" i="0" dirty="0" smtClean="0">
                        <a:latin typeface="Cambria Math" panose="02040503050406030204" pitchFamily="18" charset="0"/>
                      </a:rPr>
                      <m:t>sex</m:t>
                    </m:r>
                    <m:r>
                      <a:rPr lang="en-US" sz="2600" i="0" dirty="0" smtClean="0">
                        <a:latin typeface="Cambria Math" panose="02040503050406030204" pitchFamily="18" charset="0"/>
                      </a:rPr>
                      <m:t>∈{</m:t>
                    </m:r>
                    <m:r>
                      <a:rPr lang="ru-RU" sz="2600" b="0" i="0" dirty="0" smtClean="0">
                        <a:latin typeface="Cambria Math" panose="02040503050406030204" pitchFamily="18" charset="0"/>
                      </a:rPr>
                      <m:t>′</m:t>
                    </m:r>
                    <m:r>
                      <m:rPr>
                        <m:sty m:val="p"/>
                      </m:rPr>
                      <a:rPr lang="en-US" sz="2600" i="0" dirty="0" smtClean="0">
                        <a:latin typeface="Cambria Math" panose="02040503050406030204" pitchFamily="18" charset="0"/>
                      </a:rPr>
                      <m:t>male</m:t>
                    </m:r>
                    <m:r>
                      <a:rPr lang="ru-RU" sz="2600" b="0" i="0" dirty="0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sz="2600" i="0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ru-RU" sz="2600" b="0" i="0" dirty="0" smtClean="0">
                        <a:latin typeface="Cambria Math" panose="02040503050406030204" pitchFamily="18" charset="0"/>
                      </a:rPr>
                      <m:t>′</m:t>
                    </m:r>
                    <m:r>
                      <m:rPr>
                        <m:sty m:val="p"/>
                      </m:rPr>
                      <a:rPr lang="en-US" sz="2600" i="0" dirty="0" smtClean="0">
                        <a:latin typeface="Cambria Math" panose="02040503050406030204" pitchFamily="18" charset="0"/>
                      </a:rPr>
                      <m:t>female</m:t>
                    </m:r>
                    <m:r>
                      <a:rPr lang="ru-RU" sz="2600" b="0" i="0" dirty="0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sz="2600" i="0" dirty="0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ru-RU" sz="2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6" name="Прямоугольник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353" y="1199210"/>
                <a:ext cx="3711593" cy="969496"/>
              </a:xfrm>
              <a:prstGeom prst="rect">
                <a:avLst/>
              </a:prstGeom>
              <a:blipFill>
                <a:blip r:embed="rId2"/>
                <a:stretch>
                  <a:fillRect l="-2956" t="-628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Прямоугольник 7"/>
              <p:cNvSpPr/>
              <p:nvPr/>
            </p:nvSpPr>
            <p:spPr>
              <a:xfrm>
                <a:off x="267353" y="3656284"/>
                <a:ext cx="4824109" cy="92634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ru-RU" sz="2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Категориальный признак: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  <a:tabLst>
                    <a:tab pos="1795463" algn="l"/>
                  </a:tabLs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600" i="0" dirty="0" smtClean="0">
                        <a:latin typeface="Cambria Math" panose="02040503050406030204" pitchFamily="18" charset="0"/>
                      </a:rPr>
                      <m:t>region</m:t>
                    </m:r>
                    <m:r>
                      <a:rPr lang="en-US" sz="2600" i="0" dirty="0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ru-RU" sz="2600" b="0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i="0" dirty="0" smtClean="0">
                            <a:latin typeface="Cambria Math" panose="02040503050406030204" pitchFamily="18" charset="0"/>
                          </a:rPr>
                          <m:t>{</m:t>
                        </m:r>
                      </m:e>
                      <m:sup>
                        <m:r>
                          <a:rPr lang="ru-RU" sz="2600" b="0" i="0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sSup>
                      <m:sSupPr>
                        <m:ctrlPr>
                          <a:rPr lang="ru-RU" sz="2600" b="0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600" b="0" i="0" dirty="0" smtClean="0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p>
                        <m:r>
                          <a:rPr lang="ru-RU" sz="2600" b="0" i="0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600" i="0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ru-RU" sz="2600" i="0" dirty="0" smtClean="0">
                        <a:latin typeface="Cambria Math" panose="02040503050406030204" pitchFamily="18" charset="0"/>
                      </a:rPr>
                      <m:t>′</m:t>
                    </m:r>
                    <m:r>
                      <m:rPr>
                        <m:sty m:val="p"/>
                      </m:rPr>
                      <a:rPr lang="en-US" sz="2600" i="0" dirty="0" smtClean="0">
                        <a:latin typeface="Cambria Math" panose="02040503050406030204" pitchFamily="18" charset="0"/>
                      </a:rPr>
                      <m:t>Q</m:t>
                    </m:r>
                    <m:r>
                      <a:rPr lang="ru-RU" sz="2600" i="0" dirty="0" smtClean="0">
                        <a:latin typeface="Cambria Math" panose="02040503050406030204" pitchFamily="18" charset="0"/>
                      </a:rPr>
                      <m:t>′</m:t>
                    </m:r>
                    <m:sSup>
                      <m:sSupPr>
                        <m:ctrlPr>
                          <a:rPr lang="ru-RU" sz="2600" b="0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i="0" dirty="0" smtClean="0">
                            <a:latin typeface="Cambria Math" panose="02040503050406030204" pitchFamily="18" charset="0"/>
                          </a:rPr>
                          <m:t>,</m:t>
                        </m:r>
                      </m:e>
                      <m:sup>
                        <m:r>
                          <a:rPr lang="ru-RU" sz="2600" b="0" i="0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m:rPr>
                        <m:sty m:val="p"/>
                      </m:rPr>
                      <a:rPr lang="en-US" sz="2600" b="0" i="0" dirty="0" smtClean="0">
                        <a:latin typeface="Cambria Math" panose="02040503050406030204" pitchFamily="18" charset="0"/>
                      </a:rPr>
                      <m:t>S</m:t>
                    </m:r>
                    <m:r>
                      <a:rPr lang="ru-RU" sz="2600" i="0" dirty="0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sz="2600" i="0" dirty="0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ru-RU" sz="2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8" name="Прямоугольник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353" y="3656284"/>
                <a:ext cx="4824109" cy="926344"/>
              </a:xfrm>
              <a:prstGeom prst="rect">
                <a:avLst/>
              </a:prstGeom>
              <a:blipFill>
                <a:blip r:embed="rId3"/>
                <a:stretch>
                  <a:fillRect l="-2276" t="-592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Стрелка вправо 8"/>
          <p:cNvSpPr/>
          <p:nvPr/>
        </p:nvSpPr>
        <p:spPr>
          <a:xfrm>
            <a:off x="5119340" y="2096237"/>
            <a:ext cx="1507271" cy="385379"/>
          </a:xfrm>
          <a:prstGeom prst="rightArrow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Стрелка вправо 9"/>
          <p:cNvSpPr/>
          <p:nvPr/>
        </p:nvSpPr>
        <p:spPr>
          <a:xfrm>
            <a:off x="5118072" y="4709682"/>
            <a:ext cx="1507271" cy="385379"/>
          </a:xfrm>
          <a:prstGeom prst="rightArrow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Box 10"/>
          <p:cNvSpPr txBox="1"/>
          <p:nvPr/>
        </p:nvSpPr>
        <p:spPr>
          <a:xfrm>
            <a:off x="4658953" y="1517483"/>
            <a:ext cx="2249334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Label</a:t>
            </a: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encoding</a:t>
            </a:r>
            <a:endParaRPr lang="ru-RU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511963" y="4103904"/>
            <a:ext cx="259603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One-hot</a:t>
            </a: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encoding</a:t>
            </a:r>
            <a:endParaRPr lang="ru-RU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Прямоугольник 12"/>
              <p:cNvSpPr/>
              <p:nvPr/>
            </p:nvSpPr>
            <p:spPr>
              <a:xfrm>
                <a:off x="7623790" y="1194317"/>
                <a:ext cx="3385863" cy="96949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ru-RU" sz="2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Бинарные признаки:</a:t>
                </a:r>
              </a:p>
              <a:p>
                <a:pPr marL="285750" indent="-28575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600" dirty="0">
                        <a:latin typeface="Cambria Math" panose="02040503050406030204" pitchFamily="18" charset="0"/>
                      </a:rPr>
                      <m:t>se</m:t>
                    </m:r>
                    <m:r>
                      <m:rPr>
                        <m:sty m:val="p"/>
                      </m:rPr>
                      <a:rPr lang="en-US" sz="2600" dirty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600" b="0" i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m:rPr>
                        <m:sty m:val="p"/>
                      </m:rPr>
                      <a:rPr lang="en-US" sz="2600" b="0" i="0" dirty="0" smtClean="0">
                        <a:latin typeface="Cambria Math" panose="02040503050406030204" pitchFamily="18" charset="0"/>
                      </a:rPr>
                      <m:t>num</m:t>
                    </m:r>
                    <m:r>
                      <a:rPr lang="en-US" sz="2600" i="1" dirty="0">
                        <a:latin typeface="Cambria Math" panose="02040503050406030204" pitchFamily="18" charset="0"/>
                      </a:rPr>
                      <m:t>∈{</m:t>
                    </m:r>
                    <m:r>
                      <a:rPr lang="ru-RU" sz="2600" b="0" i="1" dirty="0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6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ru-RU" sz="2600" b="0" i="1" dirty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6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ru-RU" sz="2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3" name="Прямоугольник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3790" y="1194317"/>
                <a:ext cx="3385863" cy="969496"/>
              </a:xfrm>
              <a:prstGeom prst="rect">
                <a:avLst/>
              </a:prstGeom>
              <a:blipFill>
                <a:blip r:embed="rId4"/>
                <a:stretch>
                  <a:fillRect l="-3243" t="-5660" r="-198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Прямоугольник 13"/>
              <p:cNvSpPr/>
              <p:nvPr/>
            </p:nvSpPr>
            <p:spPr>
              <a:xfrm>
                <a:off x="7623790" y="3656284"/>
                <a:ext cx="4568210" cy="192360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ru-RU" sz="2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Бинарные признаки:</a:t>
                </a:r>
              </a:p>
              <a:p>
                <a:pPr marL="285750" indent="-28575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ru-RU" sz="2600" dirty="0">
                        <a:latin typeface="Cambria Math" panose="02040503050406030204" pitchFamily="18" charset="0"/>
                      </a:rPr>
                      <m:t>П</m:t>
                    </m:r>
                    <m:r>
                      <a:rPr lang="ru-RU" sz="2600" b="0" i="0" dirty="0" smtClean="0">
                        <a:latin typeface="Cambria Math" panose="02040503050406030204" pitchFamily="18" charset="0"/>
                      </a:rPr>
                      <m:t>орт_</m:t>
                    </m:r>
                    <m:r>
                      <m:rPr>
                        <m:sty m:val="p"/>
                      </m:rPr>
                      <a:rPr lang="en-US" sz="2600" b="0" i="0" dirty="0" smtClean="0">
                        <a:latin typeface="Cambria Math" panose="02040503050406030204" pitchFamily="18" charset="0"/>
                      </a:rPr>
                      <m:t>Q</m:t>
                    </m:r>
                    <m:r>
                      <a:rPr lang="en-US" sz="2600" i="1" dirty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sz="26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2600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ru-RU" sz="26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ru-RU" sz="26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endParaRPr lang="ru-RU" sz="2600" b="0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ru-RU" sz="2600" dirty="0">
                        <a:latin typeface="Cambria Math" panose="02040503050406030204" pitchFamily="18" charset="0"/>
                      </a:rPr>
                      <m:t>П</m:t>
                    </m:r>
                    <m:r>
                      <a:rPr lang="ru-RU" sz="2600" b="0" i="0" dirty="0" smtClean="0">
                        <a:latin typeface="Cambria Math" panose="02040503050406030204" pitchFamily="18" charset="0"/>
                      </a:rPr>
                      <m:t>орт_С</m:t>
                    </m:r>
                    <m:r>
                      <a:rPr lang="en-US" sz="2600" i="1" dirty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2600" i="1" dirty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ru-RU" sz="26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ru-RU" sz="2600" i="1" dirty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endParaRPr lang="ru-RU" sz="2600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ru-RU" sz="2600" dirty="0">
                        <a:latin typeface="Cambria Math" panose="02040503050406030204" pitchFamily="18" charset="0"/>
                      </a:rPr>
                      <m:t>П</m:t>
                    </m:r>
                    <m:r>
                      <a:rPr lang="ru-RU" sz="2600" b="0" i="0" dirty="0" smtClean="0">
                        <a:latin typeface="Cambria Math" panose="02040503050406030204" pitchFamily="18" charset="0"/>
                      </a:rPr>
                      <m:t>орт_</m:t>
                    </m:r>
                    <m:r>
                      <a:rPr lang="en-US" sz="2600" b="0" i="1" dirty="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2600" i="1" dirty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2600" i="1" dirty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ru-RU" sz="26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ru-RU" sz="2600" i="1" dirty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endParaRPr lang="ru-RU" sz="2600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4" name="Прямоугольник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3790" y="3656284"/>
                <a:ext cx="4568210" cy="1923604"/>
              </a:xfrm>
              <a:prstGeom prst="rect">
                <a:avLst/>
              </a:prstGeom>
              <a:blipFill>
                <a:blip r:embed="rId5"/>
                <a:stretch>
                  <a:fillRect l="-2403" t="-285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641FFF02-5CC3-4BC2-BD9D-F9BA4894EAEC}"/>
              </a:ext>
            </a:extLst>
          </p:cNvPr>
          <p:cNvSpPr/>
          <p:nvPr/>
        </p:nvSpPr>
        <p:spPr>
          <a:xfrm>
            <a:off x="23726" y="6333012"/>
            <a:ext cx="8663074" cy="46166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Курсовой проект «Поиск и первичный анализ наборов данных» </a:t>
            </a:r>
          </a:p>
        </p:txBody>
      </p:sp>
    </p:spTree>
    <p:extLst>
      <p:ext uri="{BB962C8B-B14F-4D97-AF65-F5344CB8AC3E}">
        <p14:creationId xmlns:p14="http://schemas.microsoft.com/office/powerpoint/2010/main" val="26547925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временных рядов: статистика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latin typeface="Times New Roman" panose="02020603050405020304" pitchFamily="18" charset="0"/>
              </a:rPr>
              <a:pPr/>
              <a:t>28</a:t>
            </a:fld>
            <a:r>
              <a:rPr lang="ru-RU" altLang="ru-RU" sz="2800" dirty="0">
                <a:latin typeface="Times New Roman" panose="02020603050405020304" pitchFamily="18" charset="0"/>
              </a:rPr>
              <a:t>/</a:t>
            </a:r>
            <a:r>
              <a:rPr lang="en-US" altLang="ru-RU" sz="2800" dirty="0">
                <a:latin typeface="Times New Roman" panose="02020603050405020304" pitchFamily="18" charset="0"/>
              </a:rPr>
              <a:t>21</a:t>
            </a:r>
            <a:endParaRPr lang="ru-RU" altLang="ru-RU" sz="2800" dirty="0">
              <a:latin typeface="Times New Roman" panose="02020603050405020304" pitchFamily="18" charset="0"/>
            </a:endParaRPr>
          </a:p>
        </p:txBody>
      </p:sp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0667893"/>
              </p:ext>
            </p:extLst>
          </p:nvPr>
        </p:nvGraphicFramePr>
        <p:xfrm>
          <a:off x="23726" y="880947"/>
          <a:ext cx="12168276" cy="53934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80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80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280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28046">
                  <a:extLst>
                    <a:ext uri="{9D8B030D-6E8A-4147-A177-3AD203B41FA5}">
                      <a16:colId xmlns:a16="http://schemas.microsoft.com/office/drawing/2014/main" val="567425625"/>
                    </a:ext>
                  </a:extLst>
                </a:gridCol>
                <a:gridCol w="20280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2804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992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9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Признак</a:t>
                      </a:r>
                      <a:endParaRPr lang="ru-RU" sz="1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19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 </a:t>
                      </a:r>
                      <a:endParaRPr lang="ru-RU" sz="1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Close</a:t>
                      </a:r>
                      <a:endParaRPr lang="ru-RU" sz="1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High</a:t>
                      </a:r>
                      <a:endParaRPr lang="ru-RU" sz="1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b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Low</a:t>
                      </a:r>
                      <a:endParaRPr lang="ru-RU" sz="1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b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Open</a:t>
                      </a:r>
                      <a:endParaRPr lang="ru-RU" sz="1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b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Volume</a:t>
                      </a:r>
                      <a:endParaRPr lang="ru-RU" sz="1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count</a:t>
                      </a:r>
                      <a:endParaRPr lang="ru-RU" sz="1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1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 </a:t>
                      </a:r>
                      <a:endParaRPr lang="ru-RU" sz="1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2514.00</a:t>
                      </a:r>
                      <a:endParaRPr lang="ru-RU" sz="1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2514.00</a:t>
                      </a:r>
                      <a:endParaRPr lang="ru-RU" sz="1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2514.00</a:t>
                      </a:r>
                      <a:endParaRPr lang="ru-RU" sz="1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2514.00</a:t>
                      </a:r>
                      <a:endParaRPr lang="ru-RU" sz="1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2.514000e+03</a:t>
                      </a:r>
                      <a:endParaRPr lang="ru-RU" sz="1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mean</a:t>
                      </a:r>
                      <a:endParaRPr lang="ru-RU" sz="1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1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 </a:t>
                      </a:r>
                      <a:endParaRPr lang="ru-RU" sz="1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36.05</a:t>
                      </a:r>
                      <a:endParaRPr lang="ru-RU" sz="1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36.66</a:t>
                      </a:r>
                      <a:endParaRPr lang="ru-RU" sz="1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35.37</a:t>
                      </a:r>
                      <a:endParaRPr lang="ru-RU" sz="1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36.05</a:t>
                      </a:r>
                      <a:endParaRPr lang="ru-RU" sz="1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4.588549e+08</a:t>
                      </a:r>
                      <a:endParaRPr lang="ru-RU" sz="1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std</a:t>
                      </a:r>
                      <a:endParaRPr lang="ru-RU" sz="1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1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 </a:t>
                      </a:r>
                      <a:endParaRPr lang="ru-RU" sz="1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51.20</a:t>
                      </a:r>
                      <a:endParaRPr lang="ru-RU" sz="1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52.00</a:t>
                      </a:r>
                      <a:endParaRPr lang="ru-RU" sz="1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50.32</a:t>
                      </a:r>
                      <a:endParaRPr lang="ru-RU" sz="1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51.24</a:t>
                      </a:r>
                      <a:endParaRPr lang="ru-RU" sz="1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2.574472e+08</a:t>
                      </a:r>
                      <a:endParaRPr lang="ru-RU" sz="1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min</a:t>
                      </a:r>
                      <a:endParaRPr lang="ru-RU" sz="1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1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 </a:t>
                      </a:r>
                      <a:endParaRPr lang="ru-RU" sz="1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0.62</a:t>
                      </a:r>
                      <a:endParaRPr lang="ru-RU" sz="1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0.62</a:t>
                      </a:r>
                      <a:endParaRPr lang="ru-RU" sz="1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0.60</a:t>
                      </a:r>
                      <a:endParaRPr lang="ru-RU" sz="1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0.60</a:t>
                      </a:r>
                      <a:endParaRPr lang="ru-RU" sz="1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6.552850e+07</a:t>
                      </a:r>
                      <a:endParaRPr lang="ru-RU" sz="1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25%</a:t>
                      </a:r>
                      <a:endParaRPr lang="ru-RU" sz="1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1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 </a:t>
                      </a:r>
                      <a:endParaRPr lang="ru-RU" sz="1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4.47</a:t>
                      </a:r>
                      <a:endParaRPr lang="ru-RU" sz="1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4.51</a:t>
                      </a:r>
                      <a:endParaRPr lang="ru-RU" sz="1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4.39</a:t>
                      </a:r>
                      <a:endParaRPr lang="ru-RU" sz="1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4.47</a:t>
                      </a:r>
                      <a:endParaRPr lang="ru-RU" sz="1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2.925870e+08</a:t>
                      </a:r>
                      <a:endParaRPr lang="ru-RU" sz="1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50%</a:t>
                      </a:r>
                      <a:endParaRPr lang="ru-RU" sz="1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1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 </a:t>
                      </a:r>
                      <a:endParaRPr lang="ru-RU" sz="1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13.11</a:t>
                      </a:r>
                      <a:endParaRPr lang="ru-RU" sz="1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13.34</a:t>
                      </a:r>
                      <a:endParaRPr lang="ru-RU" sz="1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12.91</a:t>
                      </a:r>
                      <a:endParaRPr lang="ru-RU" sz="1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13.10</a:t>
                      </a:r>
                      <a:endParaRPr lang="ru-RU" sz="1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4.102030e+08</a:t>
                      </a:r>
                      <a:endParaRPr lang="ru-RU" sz="1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75%</a:t>
                      </a:r>
                      <a:endParaRPr lang="ru-RU" sz="1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1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 </a:t>
                      </a:r>
                      <a:endParaRPr lang="ru-RU" sz="1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41.71</a:t>
                      </a:r>
                      <a:endParaRPr lang="ru-RU" sz="1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42.32</a:t>
                      </a:r>
                      <a:endParaRPr lang="ru-RU" sz="1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40.78</a:t>
                      </a:r>
                      <a:endParaRPr lang="ru-RU" sz="1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41.55</a:t>
                      </a:r>
                      <a:endParaRPr lang="ru-RU" sz="1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5.596668e+08</a:t>
                      </a:r>
                      <a:endParaRPr lang="ru-RU" sz="1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max</a:t>
                      </a:r>
                      <a:endParaRPr lang="ru-RU" sz="1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1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 </a:t>
                      </a:r>
                      <a:endParaRPr lang="ru-RU" sz="1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207.03</a:t>
                      </a:r>
                      <a:endParaRPr lang="ru-RU" sz="1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212.18</a:t>
                      </a:r>
                      <a:endParaRPr lang="ru-RU" sz="1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205.55</a:t>
                      </a:r>
                      <a:endParaRPr lang="ru-RU" sz="1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208.07</a:t>
                      </a:r>
                      <a:endParaRPr lang="ru-RU" sz="1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3.692928e+09</a:t>
                      </a:r>
                      <a:endParaRPr lang="ru-RU" sz="1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8B46D64-7023-B410-1BAC-A4DF7678CC0D}"/>
              </a:ext>
            </a:extLst>
          </p:cNvPr>
          <p:cNvSpPr/>
          <p:nvPr/>
        </p:nvSpPr>
        <p:spPr>
          <a:xfrm>
            <a:off x="23726" y="6333012"/>
            <a:ext cx="8663074" cy="46166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Курсовой проект «Поиск и первичный анализ наборов данных» </a:t>
            </a:r>
          </a:p>
        </p:txBody>
      </p:sp>
    </p:spTree>
    <p:extLst>
      <p:ext uri="{BB962C8B-B14F-4D97-AF65-F5344CB8AC3E}">
        <p14:creationId xmlns:p14="http://schemas.microsoft.com/office/powerpoint/2010/main" val="348435770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временных рядов: распределения измерений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latin typeface="Times New Roman" panose="02020603050405020304" pitchFamily="18" charset="0"/>
              </a:rPr>
              <a:pPr/>
              <a:t>29</a:t>
            </a:fld>
            <a:r>
              <a:rPr lang="ru-RU" altLang="ru-RU" sz="2800" dirty="0">
                <a:latin typeface="Times New Roman" panose="02020603050405020304" pitchFamily="18" charset="0"/>
              </a:rPr>
              <a:t>/</a:t>
            </a:r>
            <a:r>
              <a:rPr lang="en-US" altLang="ru-RU" sz="2800" dirty="0">
                <a:latin typeface="Times New Roman" panose="02020603050405020304" pitchFamily="18" charset="0"/>
              </a:rPr>
              <a:t>21</a:t>
            </a:r>
            <a:endParaRPr lang="ru-RU" altLang="ru-RU" sz="2800" dirty="0">
              <a:latin typeface="Times New Roman" panose="02020603050405020304" pitchFamily="18" charset="0"/>
            </a:endParaRP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CDA81701-9007-83E4-D018-48AC4CD8D71C}"/>
              </a:ext>
            </a:extLst>
          </p:cNvPr>
          <p:cNvSpPr/>
          <p:nvPr/>
        </p:nvSpPr>
        <p:spPr>
          <a:xfrm>
            <a:off x="23726" y="6333012"/>
            <a:ext cx="8663074" cy="46166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Курсовой проект «Поиск и первичный анализ наборов данных» 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F765681-1AA1-8EE0-40FB-FD53EE35988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263" y="974181"/>
            <a:ext cx="10727473" cy="5206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83126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временных рядов: пропуски и выбросы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latin typeface="Times New Roman" panose="02020603050405020304" pitchFamily="18" charset="0"/>
              </a:rPr>
              <a:pPr/>
              <a:t>30</a:t>
            </a:fld>
            <a:r>
              <a:rPr lang="ru-RU" altLang="ru-RU" sz="2800" dirty="0">
                <a:latin typeface="Times New Roman" panose="02020603050405020304" pitchFamily="18" charset="0"/>
              </a:rPr>
              <a:t>/21</a:t>
            </a:r>
          </a:p>
        </p:txBody>
      </p:sp>
      <p:graphicFrame>
        <p:nvGraphicFramePr>
          <p:cNvPr id="12" name="Таблица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298926"/>
              </p:ext>
            </p:extLst>
          </p:nvPr>
        </p:nvGraphicFramePr>
        <p:xfrm>
          <a:off x="106534" y="3505404"/>
          <a:ext cx="4248729" cy="24785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33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27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027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84802"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Измерение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Кол-во</a:t>
                      </a:r>
                      <a:r>
                        <a:rPr lang="ru-RU" sz="1600" baseline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6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выбросов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Доля</a:t>
                      </a:r>
                      <a:r>
                        <a:rPr lang="ru-RU" sz="1600" baseline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6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выбросов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81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  <a:tabLst>
                          <a:tab pos="404495" algn="l"/>
                          <a:tab pos="552450" algn="l"/>
                        </a:tabLst>
                      </a:pPr>
                      <a:r>
                        <a:rPr lang="ru-RU" sz="16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Open</a:t>
                      </a:r>
                    </a:p>
                  </a:txBody>
                  <a:tcPr marL="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  <a:tabLst>
                          <a:tab pos="552450" algn="l"/>
                        </a:tabLst>
                      </a:pPr>
                      <a:r>
                        <a:rPr lang="ru-RU" sz="16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17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F7"/>
                    </a:solidFill>
                  </a:tcPr>
                </a:tc>
                <a:tc>
                  <a:txBody>
                    <a:bodyPr/>
                    <a:lstStyle/>
                    <a:p>
                      <a:pPr marR="168275" algn="ctr">
                        <a:lnSpc>
                          <a:spcPct val="115000"/>
                        </a:lnSpc>
                        <a:buNone/>
                        <a:tabLst>
                          <a:tab pos="552450" algn="l"/>
                        </a:tabLst>
                      </a:pPr>
                      <a:r>
                        <a:rPr lang="ru-RU" sz="16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0.7</a:t>
                      </a:r>
                    </a:p>
                  </a:txBody>
                  <a:tcPr marL="152400" marR="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81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  <a:tabLst>
                          <a:tab pos="404495" algn="l"/>
                          <a:tab pos="552450" algn="l"/>
                        </a:tabLst>
                      </a:pPr>
                      <a:r>
                        <a:rPr lang="ru-RU" sz="16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High</a:t>
                      </a:r>
                    </a:p>
                  </a:txBody>
                  <a:tcPr marL="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  <a:tabLst>
                          <a:tab pos="552450" algn="l"/>
                        </a:tabLst>
                      </a:pPr>
                      <a:r>
                        <a:rPr lang="ru-RU" sz="16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F7"/>
                    </a:solidFill>
                  </a:tcPr>
                </a:tc>
                <a:tc>
                  <a:txBody>
                    <a:bodyPr/>
                    <a:lstStyle/>
                    <a:p>
                      <a:pPr marR="168275" algn="ctr">
                        <a:lnSpc>
                          <a:spcPct val="115000"/>
                        </a:lnSpc>
                        <a:buNone/>
                        <a:tabLst>
                          <a:tab pos="552450" algn="l"/>
                        </a:tabLst>
                      </a:pPr>
                      <a:r>
                        <a:rPr lang="ru-RU" sz="16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0.6</a:t>
                      </a:r>
                    </a:p>
                  </a:txBody>
                  <a:tcPr marL="152400" marR="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81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  <a:tabLst>
                          <a:tab pos="404495" algn="l"/>
                          <a:tab pos="552450" algn="l"/>
                        </a:tabLst>
                      </a:pPr>
                      <a:r>
                        <a:rPr lang="ru-RU" sz="16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Low</a:t>
                      </a:r>
                    </a:p>
                  </a:txBody>
                  <a:tcPr marL="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  <a:tabLst>
                          <a:tab pos="552450" algn="l"/>
                        </a:tabLst>
                      </a:pPr>
                      <a:r>
                        <a:rPr lang="ru-RU" sz="16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19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F7"/>
                    </a:solidFill>
                  </a:tcPr>
                </a:tc>
                <a:tc>
                  <a:txBody>
                    <a:bodyPr/>
                    <a:lstStyle/>
                    <a:p>
                      <a:pPr marR="168275" algn="ctr">
                        <a:lnSpc>
                          <a:spcPct val="115000"/>
                        </a:lnSpc>
                        <a:buNone/>
                        <a:tabLst>
                          <a:tab pos="552450" algn="l"/>
                        </a:tabLst>
                      </a:pPr>
                      <a:r>
                        <a:rPr lang="ru-RU" sz="16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0.8</a:t>
                      </a:r>
                    </a:p>
                  </a:txBody>
                  <a:tcPr marL="152400" marR="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481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  <a:tabLst>
                          <a:tab pos="404495" algn="l"/>
                          <a:tab pos="552450" algn="l"/>
                        </a:tabLst>
                      </a:pPr>
                      <a:r>
                        <a:rPr lang="ru-RU" sz="16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Close</a:t>
                      </a:r>
                    </a:p>
                  </a:txBody>
                  <a:tcPr marL="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  <a:tabLst>
                          <a:tab pos="552450" algn="l"/>
                        </a:tabLst>
                      </a:pPr>
                      <a:r>
                        <a:rPr lang="ru-RU" sz="16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F7"/>
                    </a:solidFill>
                  </a:tcPr>
                </a:tc>
                <a:tc>
                  <a:txBody>
                    <a:bodyPr/>
                    <a:lstStyle/>
                    <a:p>
                      <a:pPr marR="168275" algn="ctr">
                        <a:lnSpc>
                          <a:spcPct val="115000"/>
                        </a:lnSpc>
                        <a:buNone/>
                        <a:tabLst>
                          <a:tab pos="552450" algn="l"/>
                        </a:tabLst>
                      </a:pPr>
                      <a:r>
                        <a:rPr lang="ru-RU" sz="16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0.6</a:t>
                      </a:r>
                    </a:p>
                  </a:txBody>
                  <a:tcPr marL="152400" marR="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1" y="986522"/>
            <a:ext cx="4248729" cy="23544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800"/>
              </a:spcBef>
              <a:buFont typeface="Arial" panose="020B0604020202020204" pitchFamily="34" charset="0"/>
              <a:buChar char="•"/>
            </a:pP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Пропуски в данных </a:t>
            </a:r>
            <a:r>
              <a:rPr lang="ru-RU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отсутствуют.</a:t>
            </a:r>
          </a:p>
          <a:p>
            <a:pPr marL="285750" indent="-285750">
              <a:spcBef>
                <a:spcPts val="1800"/>
              </a:spcBef>
              <a:buFont typeface="Arial" panose="020B0604020202020204" pitchFamily="34" charset="0"/>
              <a:buChar char="•"/>
            </a:pP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Выбросы, найденные методом межквартильного размаха, </a:t>
            </a:r>
            <a:r>
              <a:rPr lang="ru-RU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присутствуют</a:t>
            </a: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во всех </a:t>
            </a: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измерениях.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E5F118C-4BE9-89E8-1172-26E1E0305EAF}"/>
              </a:ext>
            </a:extLst>
          </p:cNvPr>
          <p:cNvSpPr/>
          <p:nvPr/>
        </p:nvSpPr>
        <p:spPr>
          <a:xfrm>
            <a:off x="23726" y="6333012"/>
            <a:ext cx="8663074" cy="46166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Курсовой проект «Поиск и первичный анализ наборов данных» 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EFE4CBD-BACB-FBB6-9237-03DE5EF1FD8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613" y="1246491"/>
            <a:ext cx="7576386" cy="45156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812442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временных рядов: корреляция, диапазоны значений 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latin typeface="Times New Roman" panose="02020603050405020304" pitchFamily="18" charset="0"/>
              </a:rPr>
              <a:pPr/>
              <a:t>31</a:t>
            </a:fld>
            <a:r>
              <a:rPr lang="ru-RU" altLang="ru-RU" sz="2800" dirty="0">
                <a:latin typeface="Times New Roman" panose="02020603050405020304" pitchFamily="18" charset="0"/>
              </a:rPr>
              <a:t>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7046" y="1093305"/>
            <a:ext cx="602566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Масштабы измерений многомерного  ряда 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значительно различаются.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995555"/>
            <a:ext cx="5873262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Ценовые признаки имеют </a:t>
            </a:r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сильную положительную корреляцию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между собой (≈1,00).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Volume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имеет </a:t>
            </a:r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умеренную отрицательную корреляцию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с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Close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(-0,364).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Прямоугольник 13"/>
              <p:cNvSpPr/>
              <p:nvPr/>
            </p:nvSpPr>
            <p:spPr>
              <a:xfrm>
                <a:off x="6772189" y="1993666"/>
                <a:ext cx="4415376" cy="43088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200" i="0" dirty="0" smtClean="0">
                          <a:latin typeface="Cambria Math" panose="02040503050406030204" pitchFamily="18" charset="0"/>
                        </a:rPr>
                        <m:t>O</m:t>
                      </m:r>
                      <m:r>
                        <m:rPr>
                          <m:sty m:val="p"/>
                        </m:rPr>
                        <a:rPr lang="en-US" sz="2200" b="0" i="0" dirty="0" smtClean="0">
                          <a:latin typeface="Cambria Math" panose="02040503050406030204" pitchFamily="18" charset="0"/>
                        </a:rPr>
                        <m:t>pen</m:t>
                      </m:r>
                      <m:r>
                        <a:rPr lang="en-US" sz="2200" b="0" i="0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2200" b="0" i="0" dirty="0" smtClean="0">
                          <a:latin typeface="Cambria Math" panose="02040503050406030204" pitchFamily="18" charset="0"/>
                        </a:rPr>
                        <m:t>High</m:t>
                      </m:r>
                      <m:r>
                        <a:rPr lang="en-US" sz="2200" b="0" i="0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2200" b="0" i="0" dirty="0" smtClean="0">
                          <a:latin typeface="Cambria Math" panose="02040503050406030204" pitchFamily="18" charset="0"/>
                        </a:rPr>
                        <m:t>Low</m:t>
                      </m:r>
                      <m:r>
                        <a:rPr lang="en-US" sz="2200" b="0" i="0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2200" b="0" i="0" dirty="0" smtClean="0">
                          <a:latin typeface="Cambria Math" panose="02040503050406030204" pitchFamily="18" charset="0"/>
                        </a:rPr>
                        <m:t>Close</m:t>
                      </m:r>
                      <m:r>
                        <a:rPr lang="ru-RU" sz="2200" i="0" dirty="0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["/>
                          <m:endChr m:val="]"/>
                          <m:ctrlPr>
                            <a:rPr lang="ru-RU" sz="2200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200" b="0" i="0" dirty="0" smtClean="0">
                              <a:latin typeface="Cambria Math" panose="02040503050406030204" pitchFamily="18" charset="0"/>
                            </a:rPr>
                            <m:t>0.8</m:t>
                          </m:r>
                          <m:r>
                            <a:rPr lang="ru-RU" sz="2200" i="0" dirty="0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2200" b="0" i="0" dirty="0" smtClean="0">
                              <a:latin typeface="Cambria Math" panose="02040503050406030204" pitchFamily="18" charset="0"/>
                            </a:rPr>
                            <m:t>212</m:t>
                          </m:r>
                        </m:e>
                      </m:d>
                    </m:oMath>
                  </m:oMathPara>
                </a14:m>
                <a:endParaRPr lang="ru-RU" sz="2200" dirty="0"/>
              </a:p>
            </p:txBody>
          </p:sp>
        </mc:Choice>
        <mc:Fallback>
          <p:sp>
            <p:nvSpPr>
              <p:cNvPr id="14" name="Прямоугольник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2189" y="1993666"/>
                <a:ext cx="4415376" cy="430887"/>
              </a:xfrm>
              <a:prstGeom prst="rect">
                <a:avLst/>
              </a:prstGeom>
              <a:blipFill>
                <a:blip r:embed="rId2"/>
                <a:stretch>
                  <a:fillRect b="-1549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Прямоугольник 14"/>
              <p:cNvSpPr/>
              <p:nvPr/>
            </p:nvSpPr>
            <p:spPr>
              <a:xfrm>
                <a:off x="6974424" y="2491615"/>
                <a:ext cx="4010906" cy="43088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200" b="0" i="0" dirty="0" smtClean="0">
                          <a:latin typeface="Cambria Math" panose="02040503050406030204" pitchFamily="18" charset="0"/>
                        </a:rPr>
                        <m:t>Volume</m:t>
                      </m:r>
                      <m:r>
                        <a:rPr lang="ru-RU" sz="2200" i="1" dirty="0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["/>
                          <m:endChr m:val="]"/>
                          <m:ctrlPr>
                            <a:rPr lang="ru-RU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65 </m:t>
                          </m:r>
                          <m:r>
                            <a:rPr lang="ru-RU" sz="2200" b="0" i="1" dirty="0" smtClean="0">
                              <a:latin typeface="Cambria Math" panose="02040503050406030204" pitchFamily="18" charset="0"/>
                            </a:rPr>
                            <m:t>млн.</m:t>
                          </m:r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ru-RU" sz="2200" b="0" i="1" dirty="0" smtClean="0">
                              <a:latin typeface="Cambria Math" panose="02040503050406030204" pitchFamily="18" charset="0"/>
                            </a:rPr>
                            <m:t>3.7 млрд.</m:t>
                          </m:r>
                        </m:e>
                      </m:d>
                    </m:oMath>
                  </m:oMathPara>
                </a14:m>
                <a:endParaRPr lang="ru-RU" sz="2200" dirty="0"/>
              </a:p>
            </p:txBody>
          </p:sp>
        </mc:Choice>
        <mc:Fallback>
          <p:sp>
            <p:nvSpPr>
              <p:cNvPr id="15" name="Прямоугольник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4424" y="2491615"/>
                <a:ext cx="4010906" cy="430887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EADAB355-E636-DC7F-106D-520DD07DE4F4}"/>
              </a:ext>
            </a:extLst>
          </p:cNvPr>
          <p:cNvSpPr/>
          <p:nvPr/>
        </p:nvSpPr>
        <p:spPr>
          <a:xfrm>
            <a:off x="23726" y="6333012"/>
            <a:ext cx="8663074" cy="46166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Курсовой проект «Поиск и первичный анализ наборов данных» 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8AC3BC0-682F-64B4-7B51-D426E578A80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601"/>
          <a:stretch>
            <a:fillRect/>
          </a:stretch>
        </p:blipFill>
        <p:spPr>
          <a:xfrm>
            <a:off x="110535" y="2580731"/>
            <a:ext cx="5067010" cy="3548422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1A278DC2-988D-6559-DB54-5498884E89D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2255" y="2927514"/>
            <a:ext cx="6489090" cy="3244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611726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временных рядов: декомпозиция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latin typeface="Times New Roman" panose="02020603050405020304" pitchFamily="18" charset="0"/>
              </a:rPr>
              <a:pPr/>
              <a:t>32</a:t>
            </a:fld>
            <a:r>
              <a:rPr lang="ru-RU" altLang="ru-RU" sz="2800" dirty="0">
                <a:latin typeface="Times New Roman" panose="02020603050405020304" pitchFamily="18" charset="0"/>
              </a:rPr>
              <a:t>/21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DD368C63-4560-D614-0331-D5B00DBD574C}"/>
              </a:ext>
            </a:extLst>
          </p:cNvPr>
          <p:cNvSpPr/>
          <p:nvPr/>
        </p:nvSpPr>
        <p:spPr>
          <a:xfrm>
            <a:off x="23726" y="6333012"/>
            <a:ext cx="8663074" cy="46166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Курсовой проект «Поиск и первичный анализ наборов данных» 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14371BF2-E3F6-D136-1EBF-F6060979654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3035" y="988998"/>
            <a:ext cx="10545929" cy="5118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134551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временных рядов: интерпретация значения SNR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latin typeface="Times New Roman" panose="02020603050405020304" pitchFamily="18" charset="0"/>
              </a:rPr>
              <a:pPr/>
              <a:t>33</a:t>
            </a:fld>
            <a:r>
              <a:rPr lang="ru-RU" altLang="ru-RU" sz="2800" dirty="0">
                <a:latin typeface="Times New Roman" panose="02020603050405020304" pitchFamily="18" charset="0"/>
              </a:rPr>
              <a:t>/21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9C1FCE30-5646-7654-D93F-7AD128CFD435}"/>
              </a:ext>
            </a:extLst>
          </p:cNvPr>
          <p:cNvSpPr/>
          <p:nvPr/>
        </p:nvSpPr>
        <p:spPr>
          <a:xfrm>
            <a:off x="23726" y="6333012"/>
            <a:ext cx="8663074" cy="46166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Курсовой проект «Поиск и первичный анализ наборов данных» </a:t>
            </a: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2F5B6B0F-48E3-D3AE-27D1-7B0E141FA4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7658983"/>
              </p:ext>
            </p:extLst>
          </p:nvPr>
        </p:nvGraphicFramePr>
        <p:xfrm>
          <a:off x="958412" y="3138655"/>
          <a:ext cx="10275175" cy="21637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3594">
                  <a:extLst>
                    <a:ext uri="{9D8B030D-6E8A-4147-A177-3AD203B41FA5}">
                      <a16:colId xmlns:a16="http://schemas.microsoft.com/office/drawing/2014/main" val="3380238203"/>
                    </a:ext>
                  </a:extLst>
                </a:gridCol>
                <a:gridCol w="3715767">
                  <a:extLst>
                    <a:ext uri="{9D8B030D-6E8A-4147-A177-3AD203B41FA5}">
                      <a16:colId xmlns:a16="http://schemas.microsoft.com/office/drawing/2014/main" val="1455591697"/>
                    </a:ext>
                  </a:extLst>
                </a:gridCol>
                <a:gridCol w="3955814">
                  <a:extLst>
                    <a:ext uri="{9D8B030D-6E8A-4147-A177-3AD203B41FA5}">
                      <a16:colId xmlns:a16="http://schemas.microsoft.com/office/drawing/2014/main" val="565658576"/>
                    </a:ext>
                  </a:extLst>
                </a:gridCol>
              </a:tblGrid>
              <a:tr h="599274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2000" b="1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SNR</a:t>
                      </a:r>
                      <a:endParaRPr lang="ru-RU" sz="20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2000" b="1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Качественная оценка</a:t>
                      </a:r>
                      <a:endParaRPr lang="ru-RU" sz="20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2000" b="1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Что это означает</a:t>
                      </a:r>
                      <a:endParaRPr lang="ru-RU" sz="20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909659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20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15.6 дБ</a:t>
                      </a:r>
                    </a:p>
                  </a:txBody>
                  <a:tcPr marL="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20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Удовлетворительный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20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Сигнал и шум сравнимы по мощности. Данные пригодны для анализа, но требуется фильтрация для повышения точности моделей.</a:t>
                      </a:r>
                    </a:p>
                  </a:txBody>
                  <a:tcPr marL="152400" marR="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370106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5C1EB6F-728E-949E-37A1-5DDB2E74EBCC}"/>
              </a:ext>
            </a:extLst>
          </p:cNvPr>
          <p:cNvSpPr txBox="1"/>
          <p:nvPr/>
        </p:nvSpPr>
        <p:spPr>
          <a:xfrm>
            <a:off x="533362" y="1252489"/>
            <a:ext cx="1140113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800" kern="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Ш</a:t>
            </a:r>
            <a:r>
              <a:rPr lang="ru-RU" sz="2800" kern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ум и сигнал сравнимы по мощности. Данные пригодны для анализа, но для повышения точности прогнозных моделей рекомендуется применять методы фильтрации.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556463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610E4-2C0C-F95A-C60C-31E77638A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371895-E072-0362-0C19-A1F270B1B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изображений: баланс классов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3B80912-FE29-C943-D158-606CB3293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latin typeface="Times New Roman" panose="02020603050405020304" pitchFamily="18" charset="0"/>
              </a:rPr>
              <a:pPr/>
              <a:t>34</a:t>
            </a:fld>
            <a:r>
              <a:rPr lang="ru-RU" altLang="ru-RU" sz="2800" dirty="0">
                <a:latin typeface="Times New Roman" panose="02020603050405020304" pitchFamily="18" charset="0"/>
              </a:rPr>
              <a:t>/</a:t>
            </a:r>
            <a:r>
              <a:rPr lang="en-US" altLang="ru-RU" sz="2800" dirty="0">
                <a:latin typeface="Times New Roman" panose="02020603050405020304" pitchFamily="18" charset="0"/>
              </a:rPr>
              <a:t>21</a:t>
            </a:r>
            <a:endParaRPr lang="ru-RU" altLang="ru-RU" sz="2800" dirty="0">
              <a:latin typeface="Times New Roman" panose="02020603050405020304" pitchFamily="18" charset="0"/>
            </a:endParaRP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2792D27-2C89-C907-956B-0E055E8A62A1}"/>
              </a:ext>
            </a:extLst>
          </p:cNvPr>
          <p:cNvSpPr/>
          <p:nvPr/>
        </p:nvSpPr>
        <p:spPr>
          <a:xfrm>
            <a:off x="23726" y="6333012"/>
            <a:ext cx="8663074" cy="46166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Курсовой проект «Поиск и первичный анализ наборов данных» 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1035FFC-6961-9D7B-947A-A339B6DD9B2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51" r="1377"/>
          <a:stretch>
            <a:fillRect/>
          </a:stretch>
        </p:blipFill>
        <p:spPr>
          <a:xfrm>
            <a:off x="4355263" y="1149593"/>
            <a:ext cx="7662040" cy="500003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D3AB4AB-B7EA-887A-AC58-CE99DB618BFB}"/>
              </a:ext>
            </a:extLst>
          </p:cNvPr>
          <p:cNvSpPr txBox="1"/>
          <p:nvPr/>
        </p:nvSpPr>
        <p:spPr>
          <a:xfrm>
            <a:off x="174697" y="2165833"/>
            <a:ext cx="4180566" cy="25263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Классы </a:t>
            </a:r>
            <a:r>
              <a:rPr lang="ru-RU" sz="24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идеально сбалансированы </a:t>
            </a:r>
            <a:r>
              <a:rPr lang="ru-RU" sz="240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(50/50)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sz="2400" i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Объём выборки </a:t>
            </a:r>
            <a:r>
              <a:rPr lang="ru-RU" sz="24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минимально достаточный</a:t>
            </a:r>
            <a:r>
              <a:rPr lang="ru-RU" sz="24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для обучения (200 на класс).</a:t>
            </a:r>
          </a:p>
        </p:txBody>
      </p:sp>
    </p:spTree>
    <p:extLst>
      <p:ext uri="{BB962C8B-B14F-4D97-AF65-F5344CB8AC3E}">
        <p14:creationId xmlns:p14="http://schemas.microsoft.com/office/powerpoint/2010/main" val="135970301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346282-6C3F-2C59-5ED8-F266EDD3FC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F615336-A4FF-61C8-F7BD-EB1D65EA3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изображений: статистика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9533E88-EFAC-9005-399E-C6A581EA46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latin typeface="Times New Roman" panose="02020603050405020304" pitchFamily="18" charset="0"/>
              </a:rPr>
              <a:pPr/>
              <a:t>35</a:t>
            </a:fld>
            <a:r>
              <a:rPr lang="ru-RU" altLang="ru-RU" sz="2800" dirty="0">
                <a:latin typeface="Times New Roman" panose="02020603050405020304" pitchFamily="18" charset="0"/>
              </a:rPr>
              <a:t>/</a:t>
            </a:r>
            <a:r>
              <a:rPr lang="en-US" altLang="ru-RU" sz="2800" dirty="0">
                <a:latin typeface="Times New Roman" panose="02020603050405020304" pitchFamily="18" charset="0"/>
              </a:rPr>
              <a:t>21</a:t>
            </a:r>
            <a:endParaRPr lang="ru-RU" altLang="ru-RU" sz="2800" dirty="0">
              <a:latin typeface="Times New Roman" panose="02020603050405020304" pitchFamily="18" charset="0"/>
            </a:endParaRPr>
          </a:p>
        </p:txBody>
      </p:sp>
      <p:graphicFrame>
        <p:nvGraphicFramePr>
          <p:cNvPr id="6" name="Таблица 5">
            <a:extLst>
              <a:ext uri="{FF2B5EF4-FFF2-40B4-BE49-F238E27FC236}">
                <a16:creationId xmlns:a16="http://schemas.microsoft.com/office/drawing/2014/main" id="{791AAA8C-8235-CCBE-2081-398F201C5A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1406384"/>
              </p:ext>
            </p:extLst>
          </p:nvPr>
        </p:nvGraphicFramePr>
        <p:xfrm>
          <a:off x="1604141" y="4406801"/>
          <a:ext cx="8983717" cy="17490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9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700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93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24329">
                  <a:extLst>
                    <a:ext uri="{9D8B030D-6E8A-4147-A177-3AD203B41FA5}">
                      <a16:colId xmlns:a16="http://schemas.microsoft.com/office/drawing/2014/main" val="567425625"/>
                    </a:ext>
                  </a:extLst>
                </a:gridCol>
              </a:tblGrid>
              <a:tr h="37360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 b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Показатель</a:t>
                      </a:r>
                      <a:endParaRPr lang="ru-RU" sz="18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 b="1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Ширина, </a:t>
                      </a:r>
                      <a:r>
                        <a:rPr lang="ru-RU" sz="1800" b="1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px</a:t>
                      </a:r>
                      <a:endParaRPr lang="ru-RU" sz="18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 b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Высота, px</a:t>
                      </a:r>
                      <a:endParaRPr lang="ru-RU" sz="18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 b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Соотношение сторон</a:t>
                      </a:r>
                      <a:endParaRPr lang="ru-RU" sz="18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669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Минимум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95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75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0,45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9903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Максимум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500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500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2,06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9856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Среднее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405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364,2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1,15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E432F3B4-2754-3ADB-8A1E-B3D2B348F358}"/>
              </a:ext>
            </a:extLst>
          </p:cNvPr>
          <p:cNvSpPr/>
          <p:nvPr/>
        </p:nvSpPr>
        <p:spPr>
          <a:xfrm>
            <a:off x="23726" y="6333012"/>
            <a:ext cx="8663074" cy="46166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Курсовой проект «Поиск и первичный анализ наборов данных» 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4E358B0-6E00-887F-8AD2-FE5576243B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120" y="1023400"/>
            <a:ext cx="10801459" cy="3264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143838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E2FCFE-BB35-CE06-0C85-A63B8491F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1BB43FC-6A80-236C-620A-799C2BBBE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текстовых данных: пример данных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6E9A7D4-5431-8658-BD64-062D92AC9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latin typeface="Times New Roman" panose="02020603050405020304" pitchFamily="18" charset="0"/>
              </a:rPr>
              <a:pPr/>
              <a:t>36</a:t>
            </a:fld>
            <a:r>
              <a:rPr lang="ru-RU" altLang="ru-RU" sz="2800" dirty="0">
                <a:latin typeface="Times New Roman" panose="02020603050405020304" pitchFamily="18" charset="0"/>
              </a:rPr>
              <a:t>/</a:t>
            </a:r>
            <a:r>
              <a:rPr lang="en-US" altLang="ru-RU" sz="2800" dirty="0">
                <a:latin typeface="Times New Roman" panose="02020603050405020304" pitchFamily="18" charset="0"/>
              </a:rPr>
              <a:t>21</a:t>
            </a:r>
            <a:endParaRPr lang="ru-RU" altLang="ru-RU" sz="2800" dirty="0">
              <a:latin typeface="Times New Roman" panose="02020603050405020304" pitchFamily="18" charset="0"/>
            </a:endParaRP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C2541CF4-B651-9440-EC3E-8DED12C818F8}"/>
              </a:ext>
            </a:extLst>
          </p:cNvPr>
          <p:cNvSpPr/>
          <p:nvPr/>
        </p:nvSpPr>
        <p:spPr>
          <a:xfrm>
            <a:off x="23726" y="6333012"/>
            <a:ext cx="8663074" cy="46166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Курсовой проект «Поиск и первичный анализ наборов данных» </a:t>
            </a:r>
          </a:p>
        </p:txBody>
      </p:sp>
      <p:graphicFrame>
        <p:nvGraphicFramePr>
          <p:cNvPr id="6" name="Таблица 5">
            <a:extLst>
              <a:ext uri="{FF2B5EF4-FFF2-40B4-BE49-F238E27FC236}">
                <a16:creationId xmlns:a16="http://schemas.microsoft.com/office/drawing/2014/main" id="{F78C690B-03CA-C6EC-6B3C-305F0A0D56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7114393"/>
              </p:ext>
            </p:extLst>
          </p:nvPr>
        </p:nvGraphicFramePr>
        <p:xfrm>
          <a:off x="1563742" y="1631178"/>
          <a:ext cx="9064516" cy="35956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1316">
                  <a:extLst>
                    <a:ext uri="{9D8B030D-6E8A-4147-A177-3AD203B41FA5}">
                      <a16:colId xmlns:a16="http://schemas.microsoft.com/office/drawing/2014/main" val="3578461854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84224469"/>
                    </a:ext>
                  </a:extLst>
                </a:gridCol>
              </a:tblGrid>
              <a:tr h="599274">
                <a:tc>
                  <a:txBody>
                    <a:bodyPr/>
                    <a:lstStyle/>
                    <a:p>
                      <a:pPr marL="457200" algn="ctr">
                        <a:lnSpc>
                          <a:spcPct val="150000"/>
                        </a:lnSpc>
                        <a:buNone/>
                      </a:pPr>
                      <a:r>
                        <a:rPr lang="en-US" sz="1800" b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review</a:t>
                      </a:r>
                      <a:endParaRPr lang="ru-RU" sz="18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457200" algn="ctr">
                        <a:lnSpc>
                          <a:spcPct val="150000"/>
                        </a:lnSpc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sentiment</a:t>
                      </a:r>
                      <a:endParaRPr lang="ru-RU" sz="18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4234410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marL="457200"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качество плохое пошив ужасный (горловина напер...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457200" algn="ctr">
                        <a:lnSpc>
                          <a:spcPct val="150000"/>
                        </a:lnSpc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negative</a:t>
                      </a:r>
                      <a:endParaRPr lang="ru-RU" sz="18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8266672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marL="457200"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Товар отдали другому человеку, я не получила п...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457200" algn="ctr">
                        <a:lnSpc>
                          <a:spcPct val="150000"/>
                        </a:lnSpc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negative</a:t>
                      </a:r>
                      <a:endParaRPr lang="ru-RU" sz="18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10703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marL="457200"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Ужасная синтетика! Тонкая, ничего общего с пре...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457200" algn="ctr">
                        <a:lnSpc>
                          <a:spcPct val="150000"/>
                        </a:lnSpc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negative</a:t>
                      </a:r>
                      <a:endParaRPr lang="ru-RU" sz="18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7545097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marL="457200"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товар не пришел, продавец продлил защиту без м...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457200" algn="ctr">
                        <a:lnSpc>
                          <a:spcPct val="150000"/>
                        </a:lnSpc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negative</a:t>
                      </a:r>
                      <a:endParaRPr lang="ru-RU" sz="18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3091458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marL="457200"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Кофточка голая синтетика, носить не возможно.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457200" algn="ctr">
                        <a:lnSpc>
                          <a:spcPct val="150000"/>
                        </a:lnSpc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negative</a:t>
                      </a:r>
                      <a:endParaRPr lang="ru-RU" sz="18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96539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662452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6E2762-C1E1-9824-5B5F-82F3E6313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F11B0E1-5A10-6A06-E019-4A9DF24D6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текстовых данных: пропуски и баланс классов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9CCBB57-A8B8-6A74-746E-3587390E2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latin typeface="Times New Roman" panose="02020603050405020304" pitchFamily="18" charset="0"/>
              </a:rPr>
              <a:pPr/>
              <a:t>37</a:t>
            </a:fld>
            <a:r>
              <a:rPr lang="ru-RU" altLang="ru-RU" sz="2800" dirty="0">
                <a:latin typeface="Times New Roman" panose="02020603050405020304" pitchFamily="18" charset="0"/>
              </a:rPr>
              <a:t>/</a:t>
            </a:r>
            <a:r>
              <a:rPr lang="en-US" altLang="ru-RU" sz="2800" dirty="0">
                <a:latin typeface="Times New Roman" panose="02020603050405020304" pitchFamily="18" charset="0"/>
              </a:rPr>
              <a:t>21</a:t>
            </a:r>
            <a:endParaRPr lang="ru-RU" altLang="ru-RU" sz="2800" dirty="0">
              <a:latin typeface="Times New Roman" panose="02020603050405020304" pitchFamily="18" charset="0"/>
            </a:endParaRP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F5717BAA-D469-3011-80F8-AF7895268865}"/>
              </a:ext>
            </a:extLst>
          </p:cNvPr>
          <p:cNvSpPr/>
          <p:nvPr/>
        </p:nvSpPr>
        <p:spPr>
          <a:xfrm>
            <a:off x="23726" y="6333012"/>
            <a:ext cx="8663074" cy="46166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Курсовой проект «Поиск и первичный анализ наборов данных»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2B9426-4879-7491-F403-EDFEE36F9989}"/>
              </a:ext>
            </a:extLst>
          </p:cNvPr>
          <p:cNvSpPr txBox="1"/>
          <p:nvPr/>
        </p:nvSpPr>
        <p:spPr>
          <a:xfrm>
            <a:off x="174697" y="1758046"/>
            <a:ext cx="4180566" cy="40703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Классы </a:t>
            </a:r>
            <a:r>
              <a:rPr lang="ru-RU" sz="24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идеально сбалансированы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sz="2400" i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Пропуски </a:t>
            </a:r>
            <a:r>
              <a:rPr lang="ru-RU" sz="24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отсутствуют</a:t>
            </a:r>
            <a:r>
              <a:rPr lang="ru-RU" sz="24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indent="-34290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прототипирования объём данных 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достаточен.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промышленной модели использовать 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полную версию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(90 000 отзывов).</a:t>
            </a:r>
          </a:p>
          <a:p>
            <a:pPr marL="457200" indent="-45720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ru-RU" sz="2400" b="0" i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C50C261-A964-9F2F-EA20-2B9B37E8825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671" b="7197"/>
          <a:stretch>
            <a:fillRect/>
          </a:stretch>
        </p:blipFill>
        <p:spPr bwMode="auto">
          <a:xfrm>
            <a:off x="4091612" y="1234243"/>
            <a:ext cx="7996307" cy="4745472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61771809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5C2B54-A404-044D-1298-3254A4924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1DBE748-DBB2-E662-3296-A517A5907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текстовых данных: очистка, </a:t>
            </a:r>
            <a:r>
              <a:rPr lang="ru-RU" sz="3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лемматизация</a:t>
            </a:r>
            <a:r>
              <a:rPr lang="ru-RU" sz="3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удаление стоп-слов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D5E0FFD-60BC-B406-0B77-97F9FA10E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latin typeface="Times New Roman" panose="02020603050405020304" pitchFamily="18" charset="0"/>
              </a:rPr>
              <a:pPr/>
              <a:t>38</a:t>
            </a:fld>
            <a:r>
              <a:rPr lang="ru-RU" altLang="ru-RU" sz="2800" dirty="0">
                <a:latin typeface="Times New Roman" panose="02020603050405020304" pitchFamily="18" charset="0"/>
              </a:rPr>
              <a:t>/</a:t>
            </a:r>
            <a:r>
              <a:rPr lang="en-US" altLang="ru-RU" sz="2800" dirty="0">
                <a:latin typeface="Times New Roman" panose="02020603050405020304" pitchFamily="18" charset="0"/>
              </a:rPr>
              <a:t>21</a:t>
            </a:r>
            <a:endParaRPr lang="ru-RU" altLang="ru-RU" sz="2800" dirty="0">
              <a:latin typeface="Times New Roman" panose="02020603050405020304" pitchFamily="18" charset="0"/>
            </a:endParaRP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6AD0FE1E-159A-ABEA-D7E5-FD810AF7FCF1}"/>
              </a:ext>
            </a:extLst>
          </p:cNvPr>
          <p:cNvSpPr/>
          <p:nvPr/>
        </p:nvSpPr>
        <p:spPr>
          <a:xfrm>
            <a:off x="23726" y="6333012"/>
            <a:ext cx="8663074" cy="46166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Курсовой проект «Поиск и первичный анализ наборов данных» </a:t>
            </a: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C921DD36-584F-3AE1-822A-9230A5EB97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1656791"/>
              </p:ext>
            </p:extLst>
          </p:nvPr>
        </p:nvGraphicFramePr>
        <p:xfrm>
          <a:off x="3783724" y="1189046"/>
          <a:ext cx="8304195" cy="44799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7429">
                  <a:extLst>
                    <a:ext uri="{9D8B030D-6E8A-4147-A177-3AD203B41FA5}">
                      <a16:colId xmlns:a16="http://schemas.microsoft.com/office/drawing/2014/main" val="1833608049"/>
                    </a:ext>
                  </a:extLst>
                </a:gridCol>
                <a:gridCol w="3398701">
                  <a:extLst>
                    <a:ext uri="{9D8B030D-6E8A-4147-A177-3AD203B41FA5}">
                      <a16:colId xmlns:a16="http://schemas.microsoft.com/office/drawing/2014/main" val="2783322529"/>
                    </a:ext>
                  </a:extLst>
                </a:gridCol>
                <a:gridCol w="2768065">
                  <a:extLst>
                    <a:ext uri="{9D8B030D-6E8A-4147-A177-3AD203B41FA5}">
                      <a16:colId xmlns:a16="http://schemas.microsoft.com/office/drawing/2014/main" val="4248173760"/>
                    </a:ext>
                  </a:extLst>
                </a:gridCol>
              </a:tblGrid>
              <a:tr h="630672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1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Этап обработки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1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Действие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1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Пример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0264125"/>
                  </a:ext>
                </a:extLst>
              </a:tr>
              <a:tr h="962309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Исходный текст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—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«Кофточка голая синтетика, носить не возможно.»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3420409"/>
                  </a:ext>
                </a:extLst>
              </a:tr>
              <a:tr h="962309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Очистка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нижний регистр, удаление пунктуации, цифр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«кофточка голая синтетика носить не возможно»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51622211"/>
                  </a:ext>
                </a:extLst>
              </a:tr>
              <a:tr h="962309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Лемматизация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приведение к начальной форме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«кофточка голый синтетика носить не возможно»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0242081"/>
                  </a:ext>
                </a:extLst>
              </a:tr>
              <a:tr h="962309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Удаление стоп-слов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удаление предлогов, союзов, частиц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«кофточка голый синтетика носить возможно»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3194559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DCB5BCA4-92DA-EF09-2D9B-36FF5B580D38}"/>
              </a:ext>
            </a:extLst>
          </p:cNvPr>
          <p:cNvSpPr txBox="1"/>
          <p:nvPr/>
        </p:nvSpPr>
        <p:spPr>
          <a:xfrm>
            <a:off x="224659" y="2165833"/>
            <a:ext cx="3212224" cy="25263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Тексты требуют </a:t>
            </a:r>
            <a:r>
              <a:rPr lang="ru-RU" sz="24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многоступенчатой очистки.</a:t>
            </a:r>
            <a:endParaRPr lang="ru-RU" sz="2400" b="0" i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2400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Лемматизация</a:t>
            </a:r>
            <a:r>
              <a:rPr lang="ru-RU" sz="24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ru-RU" sz="24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обязательна</a:t>
            </a:r>
            <a:r>
              <a:rPr lang="ru-RU" sz="24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для русского языка.</a:t>
            </a:r>
          </a:p>
        </p:txBody>
      </p:sp>
    </p:spTree>
    <p:extLst>
      <p:ext uri="{BB962C8B-B14F-4D97-AF65-F5344CB8AC3E}">
        <p14:creationId xmlns:p14="http://schemas.microsoft.com/office/powerpoint/2010/main" val="350512186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AE6B22-B414-8006-B928-8C6CAF586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51FBFB3-0BF2-07D5-A367-FBBA0DA195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текстовых данных: очистка, </a:t>
            </a:r>
            <a:r>
              <a:rPr lang="ru-RU" sz="3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лемматизация</a:t>
            </a:r>
            <a:r>
              <a:rPr lang="ru-RU" sz="3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удаление стоп-слов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DB1FB89-E821-A18C-DA6A-1770C0439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latin typeface="Times New Roman" panose="02020603050405020304" pitchFamily="18" charset="0"/>
              </a:rPr>
              <a:pPr/>
              <a:t>39</a:t>
            </a:fld>
            <a:r>
              <a:rPr lang="ru-RU" altLang="ru-RU" sz="2800" dirty="0">
                <a:latin typeface="Times New Roman" panose="02020603050405020304" pitchFamily="18" charset="0"/>
              </a:rPr>
              <a:t>/</a:t>
            </a:r>
            <a:r>
              <a:rPr lang="en-US" altLang="ru-RU" sz="2800" dirty="0">
                <a:latin typeface="Times New Roman" panose="02020603050405020304" pitchFamily="18" charset="0"/>
              </a:rPr>
              <a:t>21</a:t>
            </a:r>
            <a:endParaRPr lang="ru-RU" altLang="ru-RU" sz="2800" dirty="0">
              <a:latin typeface="Times New Roman" panose="02020603050405020304" pitchFamily="18" charset="0"/>
            </a:endParaRP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441DC8C-FCA9-52C0-6F20-7C037847DDD5}"/>
              </a:ext>
            </a:extLst>
          </p:cNvPr>
          <p:cNvSpPr/>
          <p:nvPr/>
        </p:nvSpPr>
        <p:spPr>
          <a:xfrm>
            <a:off x="23726" y="6333012"/>
            <a:ext cx="8663074" cy="46166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Курсовой проект «Поиск и первичный анализ наборов данных» </a:t>
            </a:r>
          </a:p>
        </p:txBody>
      </p:sp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id="{847B7334-9C0E-A07C-EE34-F04C9BF617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0318260"/>
              </p:ext>
            </p:extLst>
          </p:nvPr>
        </p:nvGraphicFramePr>
        <p:xfrm>
          <a:off x="7167864" y="2103685"/>
          <a:ext cx="4056092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8046">
                  <a:extLst>
                    <a:ext uri="{9D8B030D-6E8A-4147-A177-3AD203B41FA5}">
                      <a16:colId xmlns:a16="http://schemas.microsoft.com/office/drawing/2014/main" val="1088200749"/>
                    </a:ext>
                  </a:extLst>
                </a:gridCol>
                <a:gridCol w="2028046">
                  <a:extLst>
                    <a:ext uri="{9D8B030D-6E8A-4147-A177-3AD203B41FA5}">
                      <a16:colId xmlns:a16="http://schemas.microsoft.com/office/drawing/2014/main" val="2502189851"/>
                    </a:ext>
                  </a:extLst>
                </a:gridCol>
              </a:tblGrid>
              <a:tr h="5992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Слово</a:t>
                      </a:r>
                      <a:endParaRPr lang="ru-RU" sz="22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22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 </a:t>
                      </a:r>
                      <a:endParaRPr lang="ru-RU" sz="22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Частота</a:t>
                      </a:r>
                      <a:endParaRPr lang="ru-RU" sz="22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6687697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размер</a:t>
                      </a:r>
                      <a:endParaRPr lang="ru-RU" sz="22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2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 </a:t>
                      </a:r>
                      <a:endParaRPr lang="ru-RU" sz="22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300</a:t>
                      </a:r>
                      <a:endParaRPr lang="ru-RU" sz="22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16548627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продавец</a:t>
                      </a:r>
                      <a:endParaRPr lang="ru-RU" sz="22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2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 </a:t>
                      </a:r>
                      <a:endParaRPr lang="ru-RU" sz="22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266</a:t>
                      </a:r>
                      <a:endParaRPr lang="ru-RU" sz="22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2004075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прийти</a:t>
                      </a:r>
                      <a:endParaRPr lang="ru-RU" sz="22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2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 </a:t>
                      </a:r>
                      <a:endParaRPr lang="ru-RU" sz="22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225</a:t>
                      </a:r>
                      <a:endParaRPr lang="ru-RU" sz="22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8493645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качество</a:t>
                      </a:r>
                      <a:endParaRPr lang="ru-RU" sz="22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2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 </a:t>
                      </a:r>
                      <a:endParaRPr lang="ru-RU" sz="22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196</a:t>
                      </a:r>
                      <a:endParaRPr lang="ru-RU" sz="22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8742772"/>
                  </a:ext>
                </a:extLst>
              </a:tr>
              <a:tr h="36281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товар</a:t>
                      </a:r>
                      <a:endParaRPr lang="ru-RU" sz="22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2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 </a:t>
                      </a:r>
                      <a:endParaRPr lang="ru-RU" sz="22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179</a:t>
                      </a:r>
                      <a:endParaRPr lang="ru-RU" sz="22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0952174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F5BD50A0-80E8-5CEF-D366-0186CC4E52AC}"/>
              </a:ext>
            </a:extLst>
          </p:cNvPr>
          <p:cNvSpPr txBox="1"/>
          <p:nvPr/>
        </p:nvSpPr>
        <p:spPr>
          <a:xfrm>
            <a:off x="6684578" y="896035"/>
            <a:ext cx="4650905" cy="1133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indent="-342900" algn="ctr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Топ-5 самых частых слов </a:t>
            </a:r>
          </a:p>
          <a:p>
            <a:pPr marL="457200" algn="ctr">
              <a:lnSpc>
                <a:spcPct val="150000"/>
              </a:lnSpc>
              <a:buNone/>
            </a:pPr>
            <a:r>
              <a:rPr lang="ru-RU" sz="24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после удаления стоп-слов</a:t>
            </a:r>
            <a:r>
              <a:rPr lang="ru-RU" sz="24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  <a:endParaRPr lang="ru-RU" sz="2400" b="1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5AD0F5C-00C6-5EC0-97BA-1D480AD96170}"/>
              </a:ext>
            </a:extLst>
          </p:cNvPr>
          <p:cNvSpPr txBox="1"/>
          <p:nvPr/>
        </p:nvSpPr>
        <p:spPr>
          <a:xfrm>
            <a:off x="425668" y="896035"/>
            <a:ext cx="4650905" cy="1133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indent="-342900" algn="ctr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Топ-5 самых частых слов </a:t>
            </a:r>
          </a:p>
          <a:p>
            <a:pPr marL="457200" algn="ctr">
              <a:lnSpc>
                <a:spcPct val="150000"/>
              </a:lnSpc>
              <a:buNone/>
            </a:pPr>
            <a:r>
              <a:rPr lang="ru-RU" sz="24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до удаления стоп-слов</a:t>
            </a:r>
            <a:r>
              <a:rPr lang="ru-RU" sz="24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  <a:endParaRPr lang="ru-RU" sz="2400" b="1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graphicFrame>
        <p:nvGraphicFramePr>
          <p:cNvPr id="16" name="Таблица 15">
            <a:extLst>
              <a:ext uri="{FF2B5EF4-FFF2-40B4-BE49-F238E27FC236}">
                <a16:creationId xmlns:a16="http://schemas.microsoft.com/office/drawing/2014/main" id="{FD15AADA-ED96-5A1B-5561-F13D56534A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7477798"/>
              </p:ext>
            </p:extLst>
          </p:nvPr>
        </p:nvGraphicFramePr>
        <p:xfrm>
          <a:off x="833433" y="2103685"/>
          <a:ext cx="4056092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8046">
                  <a:extLst>
                    <a:ext uri="{9D8B030D-6E8A-4147-A177-3AD203B41FA5}">
                      <a16:colId xmlns:a16="http://schemas.microsoft.com/office/drawing/2014/main" val="2317275457"/>
                    </a:ext>
                  </a:extLst>
                </a:gridCol>
                <a:gridCol w="2028046">
                  <a:extLst>
                    <a:ext uri="{9D8B030D-6E8A-4147-A177-3AD203B41FA5}">
                      <a16:colId xmlns:a16="http://schemas.microsoft.com/office/drawing/2014/main" val="3880059071"/>
                    </a:ext>
                  </a:extLst>
                </a:gridCol>
              </a:tblGrid>
              <a:tr h="5992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Слово</a:t>
                      </a:r>
                      <a:endParaRPr lang="ru-RU" sz="22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22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 </a:t>
                      </a:r>
                      <a:endParaRPr lang="ru-RU" sz="22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Частота</a:t>
                      </a:r>
                      <a:endParaRPr lang="ru-RU" sz="22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5463105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не</a:t>
                      </a:r>
                      <a:endParaRPr lang="ru-RU" sz="22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2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 </a:t>
                      </a:r>
                      <a:endParaRPr lang="ru-RU" sz="22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950</a:t>
                      </a:r>
                      <a:endParaRPr lang="ru-RU" sz="22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8988320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на</a:t>
                      </a:r>
                      <a:endParaRPr lang="ru-RU" sz="22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2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 </a:t>
                      </a:r>
                      <a:endParaRPr lang="ru-RU" sz="22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565</a:t>
                      </a:r>
                      <a:endParaRPr lang="ru-RU" sz="22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1113692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и</a:t>
                      </a:r>
                      <a:endParaRPr lang="ru-RU" sz="22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2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 </a:t>
                      </a:r>
                      <a:endParaRPr lang="ru-RU" sz="22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497</a:t>
                      </a:r>
                      <a:endParaRPr lang="ru-RU" sz="22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2334695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в</a:t>
                      </a:r>
                      <a:endParaRPr lang="ru-RU" sz="22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2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 </a:t>
                      </a:r>
                      <a:endParaRPr lang="ru-RU" sz="22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394</a:t>
                      </a:r>
                      <a:endParaRPr lang="ru-RU" sz="22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4416855"/>
                  </a:ext>
                </a:extLst>
              </a:tr>
              <a:tr h="36281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очень</a:t>
                      </a:r>
                      <a:endParaRPr lang="ru-RU" sz="22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2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 </a:t>
                      </a:r>
                      <a:endParaRPr lang="ru-RU" sz="22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</a:rPr>
                        <a:t>336</a:t>
                      </a:r>
                      <a:endParaRPr lang="ru-RU" sz="22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905519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2225870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3C187A-5690-8AD8-AF66-4B6D33CC2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87CA592-AF5E-BF0F-C98B-83789AA32D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92837"/>
            <a:ext cx="12192000" cy="588110"/>
          </a:xfrm>
        </p:spPr>
        <p:txBody>
          <a:bodyPr/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текстовых данных: TF-IDF и информационный поиск</a:t>
            </a:r>
            <a:b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68335D4-3C2F-1AFB-0225-B414EAB43B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latin typeface="Times New Roman" panose="02020603050405020304" pitchFamily="18" charset="0"/>
              </a:rPr>
              <a:pPr/>
              <a:t>40</a:t>
            </a:fld>
            <a:r>
              <a:rPr lang="ru-RU" altLang="ru-RU" sz="2800" dirty="0">
                <a:latin typeface="Times New Roman" panose="02020603050405020304" pitchFamily="18" charset="0"/>
              </a:rPr>
              <a:t>/</a:t>
            </a:r>
            <a:r>
              <a:rPr lang="en-US" altLang="ru-RU" sz="2800" dirty="0">
                <a:latin typeface="Times New Roman" panose="02020603050405020304" pitchFamily="18" charset="0"/>
              </a:rPr>
              <a:t>21</a:t>
            </a:r>
            <a:endParaRPr lang="ru-RU" altLang="ru-RU" sz="2800" dirty="0">
              <a:latin typeface="Times New Roman" panose="02020603050405020304" pitchFamily="18" charset="0"/>
            </a:endParaRP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62F103A9-FDBB-F79A-D716-99DDC3E9F091}"/>
              </a:ext>
            </a:extLst>
          </p:cNvPr>
          <p:cNvSpPr/>
          <p:nvPr/>
        </p:nvSpPr>
        <p:spPr>
          <a:xfrm>
            <a:off x="23726" y="6333012"/>
            <a:ext cx="8663074" cy="46166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Курсовой проект «Поиск и первичный анализ наборов данных» </a:t>
            </a:r>
          </a:p>
        </p:txBody>
      </p:sp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id="{0787116B-4AB9-E4D8-0E86-5CE63A4A75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2454111"/>
              </p:ext>
            </p:extLst>
          </p:nvPr>
        </p:nvGraphicFramePr>
        <p:xfrm>
          <a:off x="7483174" y="2528887"/>
          <a:ext cx="4056092" cy="34281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8046">
                  <a:extLst>
                    <a:ext uri="{9D8B030D-6E8A-4147-A177-3AD203B41FA5}">
                      <a16:colId xmlns:a16="http://schemas.microsoft.com/office/drawing/2014/main" val="1088200749"/>
                    </a:ext>
                  </a:extLst>
                </a:gridCol>
                <a:gridCol w="2028046">
                  <a:extLst>
                    <a:ext uri="{9D8B030D-6E8A-4147-A177-3AD203B41FA5}">
                      <a16:colId xmlns:a16="http://schemas.microsoft.com/office/drawing/2014/main" val="2502189851"/>
                    </a:ext>
                  </a:extLst>
                </a:gridCol>
              </a:tblGrid>
              <a:tr h="599274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1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Слово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1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TF-IDF вес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6687697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рекомендовать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0,5087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16548627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спасибо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0,4882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2004075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продавец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0,3404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8493645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огромный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0,3307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8742772"/>
                  </a:ext>
                </a:extLst>
              </a:tr>
              <a:tr h="362813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отличный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0,2734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0952174"/>
                  </a:ext>
                </a:extLst>
              </a:tr>
            </a:tbl>
          </a:graphicData>
        </a:graphic>
      </p:graphicFrame>
      <p:graphicFrame>
        <p:nvGraphicFramePr>
          <p:cNvPr id="16" name="Таблица 15">
            <a:extLst>
              <a:ext uri="{FF2B5EF4-FFF2-40B4-BE49-F238E27FC236}">
                <a16:creationId xmlns:a16="http://schemas.microsoft.com/office/drawing/2014/main" id="{1DDB0FE0-2E9F-673F-61D9-228D43FABB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0324000"/>
              </p:ext>
            </p:extLst>
          </p:nvPr>
        </p:nvGraphicFramePr>
        <p:xfrm>
          <a:off x="328937" y="3023357"/>
          <a:ext cx="6056097" cy="2933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7594">
                  <a:extLst>
                    <a:ext uri="{9D8B030D-6E8A-4147-A177-3AD203B41FA5}">
                      <a16:colId xmlns:a16="http://schemas.microsoft.com/office/drawing/2014/main" val="2317275457"/>
                    </a:ext>
                  </a:extLst>
                </a:gridCol>
                <a:gridCol w="2284681">
                  <a:extLst>
                    <a:ext uri="{9D8B030D-6E8A-4147-A177-3AD203B41FA5}">
                      <a16:colId xmlns:a16="http://schemas.microsoft.com/office/drawing/2014/main" val="3880059071"/>
                    </a:ext>
                  </a:extLst>
                </a:gridCol>
                <a:gridCol w="1583822">
                  <a:extLst>
                    <a:ext uri="{9D8B030D-6E8A-4147-A177-3AD203B41FA5}">
                      <a16:colId xmlns:a16="http://schemas.microsoft.com/office/drawing/2014/main" val="353183720"/>
                    </a:ext>
                  </a:extLst>
                </a:gridCol>
              </a:tblGrid>
              <a:tr h="599274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1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Поисковый запрос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1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Найденный класс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1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Косинусное сходство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5463105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«хорошее качество товара»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</a:t>
                      </a:r>
                      <a:r>
                        <a:rPr lang="ru-RU" sz="20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ositive</a:t>
                      </a: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ru-RU" sz="20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neutral</a:t>
                      </a:r>
                      <a:endParaRPr lang="ru-RU" sz="20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0,81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8988320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«плохая доставка долго ждать»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negative</a:t>
                      </a:r>
                      <a:endParaRPr lang="ru-RU" sz="20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0,60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1113692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«не подошел размер вернуть деньги»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negative</a:t>
                      </a:r>
                      <a:endParaRPr lang="ru-RU" sz="20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0,62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233469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EEBE396-B8F2-F2BF-ECA0-82E0E33A2782}"/>
              </a:ext>
            </a:extLst>
          </p:cNvPr>
          <p:cNvSpPr txBox="1"/>
          <p:nvPr/>
        </p:nvSpPr>
        <p:spPr>
          <a:xfrm>
            <a:off x="0" y="1256902"/>
            <a:ext cx="2963918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22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TF-IDF позволяет выделить </a:t>
            </a:r>
            <a:r>
              <a:rPr lang="ru-RU" sz="22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значимые слова</a:t>
            </a:r>
            <a:r>
              <a:rPr lang="ru-RU" sz="22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в каждом документе.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17C568-5880-6250-A5A7-825533968AF0}"/>
              </a:ext>
            </a:extLst>
          </p:cNvPr>
          <p:cNvSpPr txBox="1"/>
          <p:nvPr/>
        </p:nvSpPr>
        <p:spPr>
          <a:xfrm>
            <a:off x="2963918" y="1259575"/>
            <a:ext cx="3421117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22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Косинусное сходство эффективно для </a:t>
            </a:r>
            <a:r>
              <a:rPr lang="ru-RU" sz="22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поиска семантически близких текстов.</a:t>
            </a:r>
            <a:endParaRPr lang="ru-RU" sz="2200" b="0" i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4019F5-09E1-6E9E-507A-4226EF475E63}"/>
              </a:ext>
            </a:extLst>
          </p:cNvPr>
          <p:cNvSpPr txBox="1"/>
          <p:nvPr/>
        </p:nvSpPr>
        <p:spPr>
          <a:xfrm>
            <a:off x="7351604" y="1321935"/>
            <a:ext cx="405609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ru-RU" sz="24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Пример TF-IDF вектора для позитивного отзыва:</a:t>
            </a:r>
            <a:endParaRPr lang="ru-RU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1973387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10046</TotalTime>
  <Words>3401</Words>
  <Application>Microsoft Office PowerPoint</Application>
  <PresentationFormat>Широкоэкранный</PresentationFormat>
  <Paragraphs>710</Paragraphs>
  <Slides>40</Slides>
  <Notes>11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40</vt:i4>
      </vt:variant>
    </vt:vector>
  </HeadingPairs>
  <TitlesOfParts>
    <vt:vector size="48" baseType="lpstr">
      <vt:lpstr>等线</vt:lpstr>
      <vt:lpstr>Arial</vt:lpstr>
      <vt:lpstr>Calibri</vt:lpstr>
      <vt:lpstr>Calibri Light</vt:lpstr>
      <vt:lpstr>Cambria Math</vt:lpstr>
      <vt:lpstr>Times New Roman</vt:lpstr>
      <vt:lpstr>Wingdings</vt:lpstr>
      <vt:lpstr>Тема Office</vt:lpstr>
      <vt:lpstr>Поиск и первичный анализ наборов данных  по различным областям применения</vt:lpstr>
      <vt:lpstr>Актуальность: необходимость первичного анализа</vt:lpstr>
      <vt:lpstr>Табличные данные: задача и описание данных</vt:lpstr>
      <vt:lpstr>Табличные данные: атрибуты</vt:lpstr>
      <vt:lpstr>Табличные данные: пример</vt:lpstr>
      <vt:lpstr>Анализ табличных данных</vt:lpstr>
      <vt:lpstr>Анализ табличных данных</vt:lpstr>
      <vt:lpstr>Временные ряды: задача и описание данных</vt:lpstr>
      <vt:lpstr>Временные ряды: визуализация</vt:lpstr>
      <vt:lpstr>Анализ временных рядов</vt:lpstr>
      <vt:lpstr>Анализ временных рядов</vt:lpstr>
      <vt:lpstr>Анализ временных рядов</vt:lpstr>
      <vt:lpstr>Изображения: задача и описание данных</vt:lpstr>
      <vt:lpstr>Изображения: визуализация</vt:lpstr>
      <vt:lpstr>Анализ изображений</vt:lpstr>
      <vt:lpstr>Анализ временных рядов</vt:lpstr>
      <vt:lpstr>Текстовые данные: задача и описание данных</vt:lpstr>
      <vt:lpstr>Текстовые данные: визуализация</vt:lpstr>
      <vt:lpstr>Анализ текстовых данных</vt:lpstr>
      <vt:lpstr>Анализ текстовых данных</vt:lpstr>
      <vt:lpstr>Основные результаты</vt:lpstr>
      <vt:lpstr>Анализ табличных данных: пропуски, выбросы и дубликаты </vt:lpstr>
      <vt:lpstr>Анализ табличных данных: корреляция, диапазоны значений </vt:lpstr>
      <vt:lpstr>Анализ табличных данных: распределения числовых атрибутов </vt:lpstr>
      <vt:lpstr>Анализ табличных данных: выживаемость в зависимости от разных признаков</vt:lpstr>
      <vt:lpstr>Анализ табличных данных: выживаемость в зависимости от разных признаков</vt:lpstr>
      <vt:lpstr>Анализ табличных данных: кодирование</vt:lpstr>
      <vt:lpstr>Анализ временных рядов: статистика</vt:lpstr>
      <vt:lpstr>Анализ временных рядов: распределения измерений</vt:lpstr>
      <vt:lpstr>Анализ временных рядов: пропуски и выбросы</vt:lpstr>
      <vt:lpstr>Анализ временных рядов: корреляция, диапазоны значений </vt:lpstr>
      <vt:lpstr>Анализ временных рядов: декомпозиция</vt:lpstr>
      <vt:lpstr>Анализ временных рядов: интерпретация значения SNR</vt:lpstr>
      <vt:lpstr>Анализ изображений: баланс классов</vt:lpstr>
      <vt:lpstr>Анализ изображений: статистика</vt:lpstr>
      <vt:lpstr>Анализ текстовых данных: пример данных</vt:lpstr>
      <vt:lpstr>Анализ текстовых данных: пропуски и баланс классов</vt:lpstr>
      <vt:lpstr>Анализ текстовых данных: очистка, лемматизация и удаление стоп-слов</vt:lpstr>
      <vt:lpstr>Анализ текстовых данных: очистка, лемматизация и удаление стоп-слов</vt:lpstr>
      <vt:lpstr>Анализ текстовых данных: TF-IDF и информационный поиск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Assistant</dc:creator>
  <cp:lastModifiedBy>ksyshadubinina24@gmail.com</cp:lastModifiedBy>
  <cp:revision>714</cp:revision>
  <dcterms:created xsi:type="dcterms:W3CDTF">2020-05-09T18:58:00Z</dcterms:created>
  <dcterms:modified xsi:type="dcterms:W3CDTF">2026-06-03T09:21:41Z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C0E50868B26E49E4B9BCA8205F4B272E_13</vt:lpwstr>
  </property>
  <property fmtid="{D5CDD505-2E9C-101B-9397-08002B2CF9AE}" pid="3" name="KSOProductBuildVer">
    <vt:lpwstr>1049-12.2.0.17119</vt:lpwstr>
  </property>
</Properties>
</file>